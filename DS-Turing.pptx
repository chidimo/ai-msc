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39E_F6C85DE9.xml" ContentType="application/vnd.ms-powerpoint.comment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comments/modernComment_64F_5A6EEE3C.xml" ContentType="application/vnd.ms-powerpoint.comments+xml"/>
  <Override PartName="/ppt/notesSlides/notesSlide4.xml" ContentType="application/vnd.openxmlformats-officedocument.presentationml.notesSlide+xml"/>
  <Override PartName="/ppt/comments/modernComment_64D_6ABEC848.xml" ContentType="application/vnd.ms-powerpoint.comments+xml"/>
  <Override PartName="/ppt/notesSlides/notesSlide5.xml" ContentType="application/vnd.openxmlformats-officedocument.presentationml.notesSlide+xml"/>
  <Override PartName="/ppt/comments/modernComment_361_6CBDB5.xml" ContentType="application/vnd.ms-powerpoint.comment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6.xml" ContentType="application/vnd.openxmlformats-officedocument.presentationml.notesSlide+xml"/>
  <Override PartName="/ppt/comments/modernComment_652_F51DE55D.xml" ContentType="application/vnd.ms-powerpoint.comments+xml"/>
  <Override PartName="/ppt/notesSlides/notesSlide7.xml" ContentType="application/vnd.openxmlformats-officedocument.presentationml.notesSlide+xml"/>
  <Override PartName="/ppt/comments/modernComment_397_BAA08781.xml" ContentType="application/vnd.ms-powerpoint.comment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39B_1BA2E99F.xml" ContentType="application/vnd.ms-powerpoint.comments+xml"/>
  <Override PartName="/ppt/notesSlides/notesSlide10.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394_FCA363B8.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8" r:id="rId4"/>
    <p:sldMasterId id="2147484003" r:id="rId5"/>
  </p:sldMasterIdLst>
  <p:notesMasterIdLst>
    <p:notesMasterId r:id="rId40"/>
  </p:notesMasterIdLst>
  <p:handoutMasterIdLst>
    <p:handoutMasterId r:id="rId41"/>
  </p:handoutMasterIdLst>
  <p:sldIdLst>
    <p:sldId id="859" r:id="rId6"/>
    <p:sldId id="926" r:id="rId7"/>
    <p:sldId id="1619" r:id="rId8"/>
    <p:sldId id="1615" r:id="rId9"/>
    <p:sldId id="1613" r:id="rId10"/>
    <p:sldId id="865" r:id="rId11"/>
    <p:sldId id="1620" r:id="rId12"/>
    <p:sldId id="1618" r:id="rId13"/>
    <p:sldId id="919" r:id="rId14"/>
    <p:sldId id="1621" r:id="rId15"/>
    <p:sldId id="912" r:id="rId16"/>
    <p:sldId id="923" r:id="rId17"/>
    <p:sldId id="913" r:id="rId18"/>
    <p:sldId id="1622" r:id="rId19"/>
    <p:sldId id="914" r:id="rId20"/>
    <p:sldId id="1623" r:id="rId21"/>
    <p:sldId id="886" r:id="rId22"/>
    <p:sldId id="870" r:id="rId23"/>
    <p:sldId id="876" r:id="rId24"/>
    <p:sldId id="927" r:id="rId25"/>
    <p:sldId id="891" r:id="rId26"/>
    <p:sldId id="894" r:id="rId27"/>
    <p:sldId id="918" r:id="rId28"/>
    <p:sldId id="898" r:id="rId29"/>
    <p:sldId id="925" r:id="rId30"/>
    <p:sldId id="902" r:id="rId31"/>
    <p:sldId id="909" r:id="rId32"/>
    <p:sldId id="910" r:id="rId33"/>
    <p:sldId id="1617" r:id="rId34"/>
    <p:sldId id="916" r:id="rId35"/>
    <p:sldId id="869" r:id="rId36"/>
    <p:sldId id="1616" r:id="rId37"/>
    <p:sldId id="871" r:id="rId38"/>
    <p:sldId id="1624" r:id="rId39"/>
  </p:sldIdLst>
  <p:sldSz cx="38015863" cy="21383625"/>
  <p:notesSz cx="6805613" cy="9944100"/>
  <p:custDataLst>
    <p:tags r:id="rId42"/>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165287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330575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49586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6611506"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826438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9917261"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11570136"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1322301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1691" userDrawn="1">
          <p15:clr>
            <a:srgbClr val="A4A3A4"/>
          </p15:clr>
        </p15:guide>
        <p15:guide id="2" orient="horz" pos="1139" userDrawn="1">
          <p15:clr>
            <a:srgbClr val="A4A3A4"/>
          </p15:clr>
        </p15:guide>
        <p15:guide id="3" orient="horz" pos="3152" userDrawn="1">
          <p15:clr>
            <a:srgbClr val="A4A3A4"/>
          </p15:clr>
        </p15:guide>
        <p15:guide id="4" orient="horz" pos="2926" userDrawn="1">
          <p15:clr>
            <a:srgbClr val="A4A3A4"/>
          </p15:clr>
        </p15:guide>
        <p15:guide id="5" pos="16297" userDrawn="1">
          <p15:clr>
            <a:srgbClr val="A4A3A4"/>
          </p15:clr>
        </p15:guide>
        <p15:guide id="6" pos="1129" userDrawn="1">
          <p15:clr>
            <a:srgbClr val="A4A3A4"/>
          </p15:clr>
        </p15:guide>
        <p15:guide id="7" pos="2282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538A09-08DF-C81E-8A30-8BA765782CE2}" name="Timipado Imomotebegha" initials="TI" userId="fdc56a63cc566bb5" providerId="Windows Live"/>
  <p188:author id="{BF3C9839-4549-DD29-BE47-673FACE2B9D6}" name="Rachel Martin" initials="R(" userId="S::R.Martin@salford.ac.uk::b3d647df-86b8-46a7-9e5e-b6766c4b25fd" providerId="AD"/>
  <p188:author id="{23ECA750-C5FC-FFFF-418A-69E730E4BA76}" name="Mishka Nemes" initials="MN" userId="S::mnemes@turing.ac.uk::8931050b-50e1-48e6-abab-e42d1b723501" providerId="AD"/>
  <p188:author id="{3C44B053-E2BF-63DC-7FFB-ABB6119FDC6C}" name="Ruth Drysdale" initials="RD" userId="S::rdrysdale@turing.ac.uk::4bed5bf3-10ef-4d5a-81bd-e918d82610d7" providerId="AD"/>
  <p188:author id="{C265A39C-B21C-4A17-F5CB-D96944C8672B}" name="Emma Li" initials="EL" userId="S::eli@turing.ac.uk::e7b5329b-1c80-4f21-950f-08303e23add0" providerId="AD"/>
  <p188:author id="{88C7FBB1-68D9-6F8D-16E2-A210DD37721A}" name="Ayesha Magill" initials="AM" userId="S::amagill@turing.ac.uk::ffe088ad-547e-4809-bd8e-2c9338d539ee" providerId="AD"/>
  <p188:author id="{000663B4-D150-743C-E8A8-2BFDAB0E3C22}" name="Rachael Laidlaw" initials="RL" userId="S::rlaidlaw@turing.ac.uk::8747603f-93c8-4b45-b25a-ced56a98cc6d" providerId="AD"/>
  <p188:author id="{F644A9D7-40CC-3177-EE75-A3760349BD31}" name="Juliette Sexton" initials="JS" userId="S::jsexton@turing.ac.uk::c180857e-90e2-4968-b2f8-0909dc65cc6e" providerId="AD"/>
  <p188:author id="{F48C2BDC-157F-6134-8F76-4EA9016D12B8}" name="Amy Gallimore" initials="AG" userId="S::agallimore@turing.ac.uk::b0733af5-ee78-4a7e-b98d-7d33436ef57f" providerId="AD"/>
  <p188:author id="{384452EB-A8A9-1A88-04D4-A54CF9603B5D}" name="Sarah Nietopski" initials="SN" userId="S::snietopski@turing.ac.uk::a7926784-5749-4b47-8a3d-3df31ae3f28f" providerId="AD"/>
  <p188:author id="{176E52FD-F22E-CD5C-FD2C-51FD29903696}" name="Timipado Imomotebegha" initials="TI" userId="S::timomotebegha@turing.ac.uk::c7e3e6e4-9fe7-4d41-bfaf-caf2237a07b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34EA5"/>
    <a:srgbClr val="398EC3"/>
    <a:srgbClr val="6086A5"/>
    <a:srgbClr val="6F8BC2"/>
    <a:srgbClr val="5CC2C2"/>
    <a:srgbClr val="C2628E"/>
    <a:srgbClr val="CC00CC"/>
    <a:srgbClr val="FF00FF"/>
    <a:srgbClr val="83C7C9"/>
    <a:srgbClr val="76AB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DC1A54-2C01-4C52-A3ED-8012E7E6043F}" v="3" dt="2026-02-20T13:04:50.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81176" autoAdjust="0"/>
  </p:normalViewPr>
  <p:slideViewPr>
    <p:cSldViewPr snapToGrid="0">
      <p:cViewPr varScale="1">
        <p:scale>
          <a:sx n="16" d="100"/>
          <a:sy n="16" d="100"/>
        </p:scale>
        <p:origin x="536" y="64"/>
      </p:cViewPr>
      <p:guideLst>
        <p:guide orient="horz" pos="11691"/>
        <p:guide orient="horz" pos="1139"/>
        <p:guide orient="horz" pos="3152"/>
        <p:guide orient="horz" pos="2926"/>
        <p:guide pos="16297"/>
        <p:guide pos="1129"/>
        <p:guide pos="22827"/>
      </p:guideLst>
    </p:cSldViewPr>
  </p:slideViewPr>
  <p:notesTextViewPr>
    <p:cViewPr>
      <p:scale>
        <a:sx n="150" d="100"/>
        <a:sy n="150" d="100"/>
      </p:scale>
      <p:origin x="0" y="-335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gs" Target="tags/tag1.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handoutMaster" Target="handoutMasters/handoutMaster1.xml"/></Relationships>
</file>

<file path=ppt/comments/modernComment_39B_1BA2E99F.xml><?xml version="1.0" encoding="utf-8"?>
<p188:cmLst xmlns:a="http://schemas.openxmlformats.org/drawingml/2006/main" xmlns:r="http://schemas.openxmlformats.org/officeDocument/2006/relationships" xmlns:p188="http://schemas.microsoft.com/office/powerpoint/2018/8/main">
  <p188:cm id="{A618F5CF-0AE8-4AB9-A80E-E27D16DE2859}" authorId="{C265A39C-B21C-4A17-F5CB-D96944C8672B}" status="resolved" created="2026-01-22T19:17:30.710" complete="100000">
    <pc:sldMkLst xmlns:pc="http://schemas.microsoft.com/office/powerpoint/2013/main/command">
      <pc:docMk/>
      <pc:sldMk cId="463661471" sldId="923"/>
    </pc:sldMkLst>
    <p188:replyLst>
      <p188:reply id="{FED045DC-72AF-4349-98C9-7BA4A7FA9F6B}" authorId="{000663B4-D150-743C-E8A8-2BFDAB0E3C22}" created="2026-01-23T14:41:38.135">
        <p188:txBody>
          <a:bodyPr/>
          <a:lstStyle/>
          <a:p>
            <a:r>
              <a:rPr lang="en-GB"/>
              <a:t>Yep I like the idea of using the emoji example to lead into the rest of the diversity section - feels like a nice link to have a "Did you know?" immediately after asking for audience input.</a:t>
            </a:r>
          </a:p>
        </p188:txBody>
      </p188:reply>
      <p188:reply id="{4F3E151D-82E4-479C-87BA-743185EEC6DB}" authorId="{3C44B053-E2BF-63DC-7FFB-ABB6119FDC6C}" created="2026-01-26T16:29:19.487">
        <p188:txBody>
          <a:bodyPr/>
          <a:lstStyle/>
          <a:p>
            <a:r>
              <a:rPr lang="en-GB"/>
              <a:t>Emma can you please edit as you suggest </a:t>
            </a:r>
          </a:p>
        </p188:txBody>
      </p188:reply>
    </p188:replyLst>
    <p188:txBody>
      <a:bodyPr/>
      <a:lstStyle/>
      <a:p>
        <a:r>
          <a:rPr lang="en-GB"/>
          <a:t>I think this diversity section could be restructured for coherence. 
I would put the emoji slide 10 first since its a more broad societal question: How could diversity (and better representation) in data science and AI roles impact how we see ourselves and others?
Slide 9 and slide 11 I would put together since these are about diversity in the workforce. I'd move the question 'What potential impact(s) would there be to society if we had diverse and representative workforces in data science and AI roles? ' with these slides 
The question on slide 11 re: companies products fits better with the facial recog algorithms since that is an actual product/application. I'd suggest this go last because the facial algs mentions multiple dimensions of diversity and is a specific use case with the 'gender shades' project</a:t>
        </a:r>
      </a:p>
    </p188:txBody>
  </p188:cm>
</p188:cmLst>
</file>

<file path=ppt/comments/modernComment_39E_F6C85DE9.xml><?xml version="1.0" encoding="utf-8"?>
<p188:cmLst xmlns:a="http://schemas.openxmlformats.org/drawingml/2006/main" xmlns:r="http://schemas.openxmlformats.org/officeDocument/2006/relationships" xmlns:p188="http://schemas.microsoft.com/office/powerpoint/2018/8/main">
  <p188:cm id="{102A5BEC-B0B4-4C92-8B5C-95091A0D7654}" authorId="{C265A39C-B21C-4A17-F5CB-D96944C8672B}" status="resolved" created="2026-01-22T18:55:14.625" complete="100000">
    <pc:sldMkLst xmlns:pc="http://schemas.microsoft.com/office/powerpoint/2013/main/command">
      <pc:docMk/>
      <pc:sldMk cId="4140326377" sldId="926"/>
    </pc:sldMkLst>
    <p188:txBody>
      <a:bodyPr/>
      <a:lstStyle/>
      <a:p>
        <a:r>
          <a:rPr lang="en-GB"/>
          <a:t>Should CNI be a separate objective since its got it's own section later on?</a:t>
        </a:r>
      </a:p>
    </p188:txBody>
    <p188:extLst>
      <p:ext xmlns:p="http://schemas.openxmlformats.org/presentationml/2006/main" uri="{57CB4572-C831-44C2-8A1C-0ADB6CCDFE69}">
        <p223:reactions xmlns:p223="http://schemas.microsoft.com/office/powerpoint/2022/03/main">
          <p223:rxn type="👍">
            <p223:instance time="2026-01-23T14:39:01.125" authorId="{000663B4-D150-743C-E8A8-2BFDAB0E3C22}"/>
          </p223:rxn>
        </p223:reactions>
      </p:ext>
    </p188:extLst>
  </p188:cm>
</p188:cmLst>
</file>

<file path=ppt/comments/modernComment_64D_6ABEC848.xml><?xml version="1.0" encoding="utf-8"?>
<p188:cmLst xmlns:a="http://schemas.openxmlformats.org/drawingml/2006/main" xmlns:r="http://schemas.openxmlformats.org/officeDocument/2006/relationships" xmlns:p188="http://schemas.microsoft.com/office/powerpoint/2018/8/main">
  <p188:cm id="{0BBB28BA-EF45-4507-8807-9A057F7E5A40}" authorId="{000663B4-D150-743C-E8A8-2BFDAB0E3C22}" status="resolved" created="2026-01-23T13:45:48.933" complete="100000">
    <pc:sldMkLst xmlns:pc="http://schemas.microsoft.com/office/powerpoint/2013/main/command">
      <pc:docMk/>
      <pc:sldMk cId="1790888008" sldId="1613"/>
    </pc:sldMkLst>
    <p188:replyLst>
      <p188:reply id="{2D7B82F1-91E0-458F-AD87-74E8855C5EC7}" authorId="{000663B4-D150-743C-E8A8-2BFDAB0E3C22}" created="2026-01-23T13:46:27.573">
        <p188:txBody>
          <a:bodyPr/>
          <a:lstStyle/>
          <a:p>
            <a:r>
              <a:rPr lang="en-GB"/>
              <a:t>(My additions are in purple)</a:t>
            </a:r>
          </a:p>
        </p188:txBody>
      </p188:reply>
    </p188:replyLst>
    <p188:txBody>
      <a:bodyPr/>
      <a:lstStyle/>
      <a:p>
        <a:r>
          <a:rPr lang="en-GB"/>
          <a:t>I've added explanations for each step in the lifecycle to the Notes section so that our presentations can be somewhat streamlined</a:t>
        </a:r>
      </a:p>
    </p188:txBody>
  </p188:cm>
</p188:cmLst>
</file>

<file path=ppt/comments/modernComment_64F_5A6EEE3C.xml><?xml version="1.0" encoding="utf-8"?>
<p188:cmLst xmlns:a="http://schemas.openxmlformats.org/drawingml/2006/main" xmlns:r="http://schemas.openxmlformats.org/officeDocument/2006/relationships" xmlns:p188="http://schemas.microsoft.com/office/powerpoint/2018/8/main">
  <p188:cm id="{FF76BFDD-A5BF-467F-B9F8-534B9EC74BAA}" authorId="{000663B4-D150-743C-E8A8-2BFDAB0E3C22}" status="resolved" created="2026-01-23T13:49:27.695" complete="100000">
    <pc:sldMkLst xmlns:pc="http://schemas.microsoft.com/office/powerpoint/2013/main/command">
      <pc:docMk/>
      <pc:sldMk cId="1517219388" sldId="1615"/>
    </pc:sldMkLst>
    <p188:txBody>
      <a:bodyPr/>
      <a:lstStyle/>
      <a:p>
        <a:r>
          <a:rPr lang="en-GB"/>
          <a:t>Could first ask the audience what they know about data science/AI to gauge the level we should pitch the rest of the presentation at</a:t>
        </a:r>
      </a:p>
    </p188:txBody>
    <p188:extLst>
      <p:ext xmlns:p="http://schemas.openxmlformats.org/presentationml/2006/main" uri="{57CB4572-C831-44C2-8A1C-0ADB6CCDFE69}">
        <p223:reactions xmlns:p223="http://schemas.microsoft.com/office/powerpoint/2022/03/main">
          <p223:rxn type="👍">
            <p223:instance time="2026-01-26T16:16:01.350" authorId="{3C44B053-E2BF-63DC-7FFB-ABB6119FDC6C}"/>
          </p223:rxn>
        </p223:reactions>
      </p:ext>
    </p188:extLst>
  </p188:cm>
</p188:cmLst>
</file>

<file path=ppt/comments/modernComment_361_6CBDB5.xml><?xml version="1.0" encoding="utf-8"?>
<p188:cmLst xmlns:a="http://schemas.openxmlformats.org/drawingml/2006/main" xmlns:r="http://schemas.openxmlformats.org/officeDocument/2006/relationships" xmlns:p188="http://schemas.microsoft.com/office/powerpoint/2018/8/main">
  <p188:cm id="{DD0358E0-9060-4708-AA9C-AA541A0C49D9}" authorId="{C265A39C-B21C-4A17-F5CB-D96944C8672B}" status="resolved" created="2026-01-22T18:51:51.841" complete="100000">
    <pc:sldMkLst xmlns:pc="http://schemas.microsoft.com/office/powerpoint/2013/main/command">
      <pc:docMk/>
      <pc:sldMk cId="7126453" sldId="865"/>
    </pc:sldMkLst>
    <p188:replyLst>
      <p188:reply id="{F8ABDA7B-7D30-4E9C-BE21-4188C1DBC6B3}" authorId="{000663B4-D150-743C-E8A8-2BFDAB0E3C22}" created="2026-01-23T13:52:30.625">
        <p188:txBody>
          <a:bodyPr/>
          <a:lstStyle/>
          <a:p>
            <a:r>
              <a:rPr lang="en-GB"/>
              <a:t>Agree yep, maybe after the video we can say the line you suggested to transition into the lifecycle slide</a:t>
            </a:r>
          </a:p>
        </p188:txBody>
      </p188:reply>
    </p188:replyLst>
    <p188:txBody>
      <a:bodyPr/>
      <a:lstStyle/>
      <a:p>
        <a:r>
          <a:rPr lang="en-GB"/>
          <a:t>I think the script might need something to make these first three slides flow together better? Perhaps saying 'we begin with an overview of data science, what a typical pipeline looks like for problem solving, and then the actual components of Data Science</a:t>
        </a:r>
      </a:p>
    </p188:txBody>
  </p188:cm>
  <p188:cm id="{B7C6B6F8-0531-4E57-AF09-F882B2BE8C0C}" authorId="{C265A39C-B21C-4A17-F5CB-D96944C8672B}" status="resolved" created="2026-01-22T18:52:22.263" complete="100000">
    <pc:sldMkLst xmlns:pc="http://schemas.microsoft.com/office/powerpoint/2013/main/command">
      <pc:docMk/>
      <pc:sldMk cId="7126453" sldId="865"/>
    </pc:sldMkLst>
    <p188:txBody>
      <a:bodyPr/>
      <a:lstStyle/>
      <a:p>
        <a:r>
          <a:rPr lang="en-GB"/>
          <a:t>Would matching coloured boxes around each set of questions to link with the figure help with visuals ?</a:t>
        </a:r>
      </a:p>
    </p188:txBody>
    <p188:extLst>
      <p:ext xmlns:p="http://schemas.openxmlformats.org/presentationml/2006/main" uri="{57CB4572-C831-44C2-8A1C-0ADB6CCDFE69}">
        <p223:reactions xmlns:p223="http://schemas.microsoft.com/office/powerpoint/2022/03/main">
          <p223:rxn type="👍">
            <p223:instance time="2026-01-23T14:37:24.026" authorId="{000663B4-D150-743C-E8A8-2BFDAB0E3C22}"/>
          </p223:rxn>
        </p223:reactions>
      </p:ext>
    </p188:extLst>
  </p188:cm>
  <p188:cm id="{417C1B5A-121B-40E7-B8CB-AF86DFAB3999}" authorId="{000663B4-D150-743C-E8A8-2BFDAB0E3C22}" created="2026-01-23T12:51:41.015">
    <pc:sldMkLst xmlns:pc="http://schemas.microsoft.com/office/powerpoint/2013/main/command">
      <pc:docMk/>
      <pc:sldMk cId="7126453" sldId="865"/>
    </pc:sldMkLst>
    <p188:txBody>
      <a:bodyPr/>
      <a:lstStyle/>
      <a:p>
        <a:r>
          <a:rPr lang="en-GB"/>
          <a:t>I've lined up/spaced out the text consistently here</a:t>
        </a:r>
      </a:p>
    </p188:txBody>
  </p188:cm>
  <p188:cm id="{58894973-F3BC-434D-9AED-C6F496360B10}" authorId="{000663B4-D150-743C-E8A8-2BFDAB0E3C22}" status="resolved" created="2026-01-23T14:00:55.134" complete="100000">
    <pc:sldMkLst xmlns:pc="http://schemas.microsoft.com/office/powerpoint/2013/main/command">
      <pc:docMk/>
      <pc:sldMk cId="7126453" sldId="865"/>
    </pc:sldMkLst>
    <p188:replyLst>
      <p188:reply id="{515199B2-CB63-4DA9-996E-42F453487668}" authorId="{000663B4-D150-743C-E8A8-2BFDAB0E3C22}" created="2026-01-23T14:37:53.948">
        <p188:txBody>
          <a:bodyPr/>
          <a:lstStyle/>
          <a:p>
            <a:r>
              <a:rPr lang="en-GB"/>
              <a:t>I've added explanations (again in purple) for each step in the lifecycle to the Notes section so that our presentations can be somewhat streamlined</a:t>
            </a:r>
          </a:p>
        </p188:txBody>
      </p188:reply>
    </p188:replyLst>
    <p188:txBody>
      <a:bodyPr/>
      <a:lstStyle/>
      <a:p>
        <a:r>
          <a:rPr lang="en-GB"/>
          <a:t>Are we asking the questions or are they rhetorical? I think it could be nice to engage the students (about (i) programming languages, (ii) types of bias, (iii) the differences/similarities between traditional data science and statistics and ML and examples of approaches they already know of) to get their thoughts and then clarify/explain any gaps.</a:t>
        </a:r>
      </a:p>
    </p188:txBody>
    <p188:extLst>
      <p:ext xmlns:p="http://schemas.openxmlformats.org/presentationml/2006/main" uri="{57CB4572-C831-44C2-8A1C-0ADB6CCDFE69}">
        <p223:reactions xmlns:p223="http://schemas.microsoft.com/office/powerpoint/2022/03/main">
          <p223:rxn type="👍">
            <p223:instance time="2026-01-27T11:39:26.734" authorId="{C265A39C-B21C-4A17-F5CB-D96944C8672B}"/>
          </p223:rxn>
        </p223:reactions>
      </p:ext>
    </p188:extLst>
  </p188:cm>
</p188:cmLst>
</file>

<file path=ppt/comments/modernComment_394_FCA363B8.xml><?xml version="1.0" encoding="utf-8"?>
<p188:cmLst xmlns:a="http://schemas.openxmlformats.org/drawingml/2006/main" xmlns:r="http://schemas.openxmlformats.org/officeDocument/2006/relationships" xmlns:p188="http://schemas.microsoft.com/office/powerpoint/2018/8/main">
  <p188:cm id="{B9D27926-F0A1-4A99-9B87-68B5479DB801}" authorId="{C265A39C-B21C-4A17-F5CB-D96944C8672B}" status="resolved" created="2026-01-22T19:19:08.233" complete="100000">
    <ac:deMkLst xmlns:ac="http://schemas.microsoft.com/office/drawing/2013/main/command">
      <pc:docMk xmlns:pc="http://schemas.microsoft.com/office/powerpoint/2013/main/command"/>
      <pc:sldMk xmlns:pc="http://schemas.microsoft.com/office/powerpoint/2013/main/command" cId="4238566328" sldId="916"/>
      <ac:graphicFrameMk id="4" creationId="{5D2F6B92-26DB-005D-92DD-37FC5851A8A0}"/>
    </ac:deMkLst>
    <p188:replyLst>
      <p188:reply id="{6C5C41EC-4DB6-4131-9C76-4712BDD2C958}" authorId="{000663B4-D150-743C-E8A8-2BFDAB0E3C22}" created="2026-01-23T14:35:26.619">
        <p188:txBody>
          <a:bodyPr/>
          <a:lstStyle/>
          <a:p>
            <a:r>
              <a:rPr lang="en-GB"/>
              <a:t>Agree, another option could be "Sense of Belonging" or similar</a:t>
            </a:r>
          </a:p>
        </p188:txBody>
        <p188:extLst>
          <p:ext xmlns:p="http://schemas.openxmlformats.org/presentationml/2006/main" uri="{57CB4572-C831-44C2-8A1C-0ADB6CCDFE69}">
            <p223:reactions xmlns:p223="http://schemas.microsoft.com/office/powerpoint/2022/03/main">
              <p223:rxn type="👍">
                <p223:instance time="2026-01-27T11:57:38.603" authorId="{C265A39C-B21C-4A17-F5CB-D96944C8672B}"/>
              </p223:rxn>
            </p223:reactions>
          </p:ext>
        </p188:extLst>
      </p188:reply>
      <p188:reply id="{504D4F1F-5740-4E41-9EE7-8D3A99933BCB}" authorId="{3C44B053-E2BF-63DC-7FFB-ABB6119FDC6C}" created="2026-01-26T16:30:57.305">
        <p188:txBody>
          <a:bodyPr/>
          <a:lstStyle/>
          <a:p>
            <a:r>
              <a:rPr lang="en-GB"/>
              <a:t>Emma can you please make the edits you suggest?</a:t>
            </a:r>
          </a:p>
        </p188:txBody>
      </p188:reply>
    </p188:replyLst>
    <p188:txBody>
      <a:bodyPr/>
      <a:lstStyle/>
      <a:p>
        <a:r>
          <a:rPr lang="en-GB"/>
          <a:t>Change to the first box? The other two are answers to the question and this first one is the odd one out. Perhaps something like 'I can belong here' as it's stronger and fits with the script ?</a:t>
        </a:r>
      </a:p>
    </p188:txBody>
  </p188:cm>
  <p188:cm id="{B61FB38C-6F0E-400A-8F3A-0B4B0DF84B0D}" authorId="{C265A39C-B21C-4A17-F5CB-D96944C8672B}" created="2026-01-28T18:27:36.031">
    <pc:sldMkLst xmlns:pc="http://schemas.microsoft.com/office/powerpoint/2013/main/command">
      <pc:docMk/>
      <pc:sldMk cId="4238566328" sldId="916"/>
    </pc:sldMkLst>
    <p188:txBody>
      <a:bodyPr/>
      <a:lstStyle/>
      <a:p>
        <a:r>
          <a:rPr lang="en-GB"/>
          <a:t>This slide feels a little bit disconnected between the end the 'talking about roles and routes' section and the researcher spotlight, so I tried to add some linking text in the notes. Please do change/add if improvements can be made!</a:t>
        </a:r>
      </a:p>
    </p188:txBody>
  </p188:cm>
</p188:cmLst>
</file>

<file path=ppt/comments/modernComment_397_BAA08781.xml><?xml version="1.0" encoding="utf-8"?>
<p188:cmLst xmlns:a="http://schemas.openxmlformats.org/drawingml/2006/main" xmlns:r="http://schemas.openxmlformats.org/officeDocument/2006/relationships" xmlns:p188="http://schemas.microsoft.com/office/powerpoint/2018/8/main">
  <p188:cm id="{14EF2FDA-554A-4DBA-8E96-C7E07C1CD02C}" authorId="{C265A39C-B21C-4A17-F5CB-D96944C8672B}" status="resolved" created="2026-01-22T19:03:05.900" complete="100000">
    <pc:sldMkLst xmlns:pc="http://schemas.microsoft.com/office/powerpoint/2013/main/command">
      <pc:docMk/>
      <pc:sldMk cId="3131082625" sldId="919"/>
    </pc:sldMkLst>
    <p188:replyLst>
      <p188:reply id="{BF4CAFBA-B485-43D9-A43D-EA35AF043BC7}" authorId="{000663B4-D150-743C-E8A8-2BFDAB0E3C22}" created="2026-01-23T14:30:08.536">
        <p188:txBody>
          <a:bodyPr/>
          <a:lstStyle/>
          <a:p>
            <a:r>
              <a:rPr lang="en-GB"/>
              <a:t>I agree although I guess we won't read directly off the script during the talk so I'll probably just use this as a content guide and make it sound natural/at the right level of formality for the audience in the moment</a:t>
            </a:r>
          </a:p>
        </p188:txBody>
      </p188:reply>
      <p188:reply id="{DCFFBF58-720C-486E-B751-222C2D4197E9}" authorId="{3C44B053-E2BF-63DC-7FFB-ABB6119FDC6C}" created="2026-01-26T16:27:54.221">
        <p188:txBody>
          <a:bodyPr/>
          <a:lstStyle/>
          <a:p>
            <a:r>
              <a:rPr lang="en-GB"/>
              <a:t>Emma please edit as you suggest </a:t>
            </a:r>
          </a:p>
        </p188:txBody>
      </p188:reply>
    </p188:replyLst>
    <p188:txBody>
      <a:bodyPr/>
      <a:lstStyle/>
      <a:p>
        <a:r>
          <a:rPr lang="en-GB"/>
          <a:t>I think the writing/tense (e.g. 'so too must our responses', 'we will') might need changing. It feels like a written exhortation, not like a presentation to  an audience of 20-somethings. Plus, the audience isn't (yet) part of this 'we' so would sound odd to them?</a:t>
        </a:r>
      </a:p>
    </p188:txBody>
  </p188:cm>
</p188:cmLst>
</file>

<file path=ppt/comments/modernComment_652_F51DE55D.xml><?xml version="1.0" encoding="utf-8"?>
<p188:cmLst xmlns:a="http://schemas.openxmlformats.org/drawingml/2006/main" xmlns:r="http://schemas.openxmlformats.org/officeDocument/2006/relationships" xmlns:p188="http://schemas.microsoft.com/office/powerpoint/2018/8/main">
  <p188:cm id="{3FEA76FD-3193-4476-B276-8AB740A659DE}" authorId="{C265A39C-B21C-4A17-F5CB-D96944C8672B}" status="resolved" created="2026-01-22T18:54:25.218" complete="100000">
    <pc:sldMkLst xmlns:pc="http://schemas.microsoft.com/office/powerpoint/2013/main/command">
      <pc:docMk/>
      <pc:sldMk cId="4112377181" sldId="1618"/>
    </pc:sldMkLst>
    <p188:replyLst>
      <p188:reply id="{B51459E6-CE0A-4105-9DAB-D93D66446EE8}" authorId="{3C44B053-E2BF-63DC-7FFB-ABB6119FDC6C}" created="2026-01-26T16:26:52.486">
        <p188:txBody>
          <a:bodyPr/>
          <a:lstStyle/>
          <a:p>
            <a:r>
              <a:rPr lang="en-GB"/>
              <a:t>Good idea - could you please add some?</a:t>
            </a:r>
          </a:p>
        </p188:txBody>
      </p188:reply>
    </p188:replyLst>
    <p188:txBody>
      <a:bodyPr/>
      <a:lstStyle/>
      <a:p>
        <a:r>
          <a:rPr lang="en-GB"/>
          <a:t>Would also suggest some linking material from the previous slide here!</a:t>
        </a:r>
      </a:p>
    </p188:txBody>
  </p188:cm>
</p188:cmLst>
</file>

<file path=ppt/diagrams/_rels/data2.xml.rels><?xml version="1.0" encoding="UTF-8" standalone="yes"?>
<Relationships xmlns="http://schemas.openxmlformats.org/package/2006/relationships"><Relationship Id="rId3" Type="http://schemas.openxmlformats.org/officeDocument/2006/relationships/hyperlink" Target="https://www.mi5.gov.uk/careers/opportunities/internships" TargetMode="External"/><Relationship Id="rId2" Type="http://schemas.openxmlformats.org/officeDocument/2006/relationships/hyperlink" Target="https://www.mi5.gov.uk/careers/opportunities/technology-graduate-development-programme-tgdp" TargetMode="External"/><Relationship Id="rId1" Type="http://schemas.openxmlformats.org/officeDocument/2006/relationships/hyperlink" Target="https://www.mi5.gov.uk/careers/opportunities/intelligence-and-data-analyst-development-programme-idadp" TargetMode="External"/></Relationships>
</file>

<file path=ppt/diagrams/_rels/data5.xml.rels><?xml version="1.0" encoding="UTF-8" standalone="yes"?>
<Relationships xmlns="http://schemas.openxmlformats.org/package/2006/relationships"><Relationship Id="rId8" Type="http://schemas.openxmlformats.org/officeDocument/2006/relationships/hyperlink" Target="https://www.civil-service-careers.gov.uk/fast-stream/fs-summer-internship-programme/" TargetMode="External"/><Relationship Id="rId3" Type="http://schemas.openxmlformats.org/officeDocument/2006/relationships/hyperlink" Target="https://www.hdruk.ac.uk/study-and-train/train/health-data-science-black-internship-programme/" TargetMode="External"/><Relationship Id="rId7" Type="http://schemas.openxmlformats.org/officeDocument/2006/relationships/hyperlink" Target="https://www.civil-service-careers.gov.uk/civil-service-care-leavers-internship-scheme/" TargetMode="External"/><Relationship Id="rId2" Type="http://schemas.openxmlformats.org/officeDocument/2006/relationships/hyperlink" Target="https://www.graduates.nhs.uk/scheme/health-informatics/" TargetMode="External"/><Relationship Id="rId1" Type="http://schemas.openxmlformats.org/officeDocument/2006/relationships/hyperlink" Target="https://www.civil-service-careers.gov.uk/fast-stream/" TargetMode="External"/><Relationship Id="rId6" Type="http://schemas.openxmlformats.org/officeDocument/2006/relationships/hyperlink" Target="https://www.turing.ac.uk/opportunities-turing" TargetMode="External"/><Relationship Id="rId5" Type="http://schemas.openxmlformats.org/officeDocument/2006/relationships/hyperlink" Target="https://www.jobs.nhs.uk/candidate" TargetMode="External"/><Relationship Id="rId4" Type="http://schemas.openxmlformats.org/officeDocument/2006/relationships/hyperlink" Target="https://www.civil-service-careers.gov.uk/" TargetMode="External"/></Relationships>
</file>

<file path=ppt/diagrams/_rels/drawing2.xml.rels><?xml version="1.0" encoding="UTF-8" standalone="yes"?>
<Relationships xmlns="http://schemas.openxmlformats.org/package/2006/relationships"><Relationship Id="rId3" Type="http://schemas.openxmlformats.org/officeDocument/2006/relationships/hyperlink" Target="https://www.mi5.gov.uk/careers/opportunities/internships" TargetMode="External"/><Relationship Id="rId2" Type="http://schemas.openxmlformats.org/officeDocument/2006/relationships/hyperlink" Target="https://www.mi5.gov.uk/careers/opportunities/technology-graduate-development-programme-tgdp" TargetMode="External"/><Relationship Id="rId1" Type="http://schemas.openxmlformats.org/officeDocument/2006/relationships/hyperlink" Target="https://www.mi5.gov.uk/careers/opportunities/intelligence-and-data-analyst-development-programme-idadp" TargetMode="External"/></Relationships>
</file>

<file path=ppt/diagrams/_rels/drawing5.xml.rels><?xml version="1.0" encoding="UTF-8" standalone="yes"?>
<Relationships xmlns="http://schemas.openxmlformats.org/package/2006/relationships"><Relationship Id="rId8" Type="http://schemas.openxmlformats.org/officeDocument/2006/relationships/hyperlink" Target="https://www.jobs.nhs.uk/candidate" TargetMode="External"/><Relationship Id="rId3" Type="http://schemas.openxmlformats.org/officeDocument/2006/relationships/hyperlink" Target="https://www.hdruk.ac.uk/study-and-train/train/health-data-science-black-internship-programme/" TargetMode="External"/><Relationship Id="rId7" Type="http://schemas.openxmlformats.org/officeDocument/2006/relationships/hyperlink" Target="https://www.civil-service-careers.gov.uk/" TargetMode="External"/><Relationship Id="rId2" Type="http://schemas.openxmlformats.org/officeDocument/2006/relationships/hyperlink" Target="https://www.graduates.nhs.uk/scheme/health-informatics/" TargetMode="External"/><Relationship Id="rId1" Type="http://schemas.openxmlformats.org/officeDocument/2006/relationships/hyperlink" Target="https://www.civil-service-careers.gov.uk/fast-stream/" TargetMode="External"/><Relationship Id="rId6" Type="http://schemas.openxmlformats.org/officeDocument/2006/relationships/hyperlink" Target="https://www.turing.ac.uk/opportunities-turing" TargetMode="External"/><Relationship Id="rId5" Type="http://schemas.openxmlformats.org/officeDocument/2006/relationships/hyperlink" Target="https://www.civil-service-careers.gov.uk/fast-stream/fs-summer-internship-programme/" TargetMode="External"/><Relationship Id="rId4" Type="http://schemas.openxmlformats.org/officeDocument/2006/relationships/hyperlink" Target="https://www.civil-service-careers.gov.uk/civil-service-care-leavers-internship-scheme/"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975CFC-0816-4612-9827-7FD3AB89D59F}"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GB"/>
        </a:p>
      </dgm:t>
    </dgm:pt>
    <dgm:pt modelId="{B7726133-896E-4846-A3AC-9BC506EEBA9C}">
      <dgm:prSet custT="1"/>
      <dgm:spPr/>
      <dgm:t>
        <a:bodyPr/>
        <a:lstStyle/>
        <a:p>
          <a:r>
            <a:rPr lang="en-GB" sz="8000">
              <a:latin typeface="Arial"/>
              <a:cs typeface="Arial"/>
            </a:rPr>
            <a:t>Job satisfaction, security, work life balance and flexible working</a:t>
          </a:r>
          <a:endParaRPr lang="en-GB" sz="8000"/>
        </a:p>
      </dgm:t>
    </dgm:pt>
    <dgm:pt modelId="{883076C9-CF14-4CE0-A8DD-6043DA0AD3F0}" type="parTrans" cxnId="{0108D773-A2A3-4369-99A2-75CCC62D08E5}">
      <dgm:prSet/>
      <dgm:spPr/>
      <dgm:t>
        <a:bodyPr/>
        <a:lstStyle/>
        <a:p>
          <a:endParaRPr lang="en-GB"/>
        </a:p>
      </dgm:t>
    </dgm:pt>
    <dgm:pt modelId="{F96FE861-E5F7-4673-ADE7-6B9BF2772F75}" type="sibTrans" cxnId="{0108D773-A2A3-4369-99A2-75CCC62D08E5}">
      <dgm:prSet/>
      <dgm:spPr/>
      <dgm:t>
        <a:bodyPr/>
        <a:lstStyle/>
        <a:p>
          <a:endParaRPr lang="en-GB"/>
        </a:p>
      </dgm:t>
    </dgm:pt>
    <dgm:pt modelId="{18F34774-DDF2-4605-A508-AD52A1716448}">
      <dgm:prSet custT="1"/>
      <dgm:spPr/>
      <dgm:t>
        <a:bodyPr/>
        <a:lstStyle/>
        <a:p>
          <a:r>
            <a:rPr lang="en-GB" sz="8000">
              <a:latin typeface="Arial"/>
              <a:cs typeface="Arial"/>
            </a:rPr>
            <a:t>Inspiring colleagues</a:t>
          </a:r>
        </a:p>
      </dgm:t>
    </dgm:pt>
    <dgm:pt modelId="{A0757FDF-1CA4-45FC-8622-7CB5B8C81EC5}" type="parTrans" cxnId="{1C9AF980-B8DB-46FF-838A-01A9681186CA}">
      <dgm:prSet/>
      <dgm:spPr/>
      <dgm:t>
        <a:bodyPr/>
        <a:lstStyle/>
        <a:p>
          <a:endParaRPr lang="en-GB"/>
        </a:p>
      </dgm:t>
    </dgm:pt>
    <dgm:pt modelId="{876DE126-3982-4FB1-B0E8-3016EEBD3AB9}" type="sibTrans" cxnId="{1C9AF980-B8DB-46FF-838A-01A9681186CA}">
      <dgm:prSet/>
      <dgm:spPr/>
      <dgm:t>
        <a:bodyPr/>
        <a:lstStyle/>
        <a:p>
          <a:endParaRPr lang="en-GB"/>
        </a:p>
      </dgm:t>
    </dgm:pt>
    <dgm:pt modelId="{E572AF66-BCD1-400E-9AE2-E773527FB5B2}">
      <dgm:prSet phldrT="[Text]" custT="1"/>
      <dgm:spPr/>
      <dgm:t>
        <a:bodyPr/>
        <a:lstStyle/>
        <a:p>
          <a:pPr>
            <a:buFont typeface="Calibri"/>
            <a:buChar char="-"/>
          </a:pPr>
          <a:r>
            <a:rPr lang="en-GB" sz="8000">
              <a:latin typeface="Arial"/>
              <a:cs typeface="Arial"/>
            </a:rPr>
            <a:t>Exclusive projects to keep the UK safe</a:t>
          </a:r>
          <a:endParaRPr lang="en-GB" sz="8000"/>
        </a:p>
      </dgm:t>
    </dgm:pt>
    <dgm:pt modelId="{D72B5D20-463C-4886-91C9-8D1F2D60B3F1}" type="parTrans" cxnId="{FE3DEE51-7B2F-4E1B-920E-4D5DF6F55230}">
      <dgm:prSet/>
      <dgm:spPr/>
      <dgm:t>
        <a:bodyPr/>
        <a:lstStyle/>
        <a:p>
          <a:endParaRPr lang="en-GB"/>
        </a:p>
      </dgm:t>
    </dgm:pt>
    <dgm:pt modelId="{89C48AF9-02AF-408A-9F86-90CB8671E824}" type="sibTrans" cxnId="{FE3DEE51-7B2F-4E1B-920E-4D5DF6F55230}">
      <dgm:prSet/>
      <dgm:spPr/>
      <dgm:t>
        <a:bodyPr/>
        <a:lstStyle/>
        <a:p>
          <a:endParaRPr lang="en-GB"/>
        </a:p>
      </dgm:t>
    </dgm:pt>
    <dgm:pt modelId="{5C9B1D4B-EDC7-448F-978A-D67D69E92243}">
      <dgm:prSet custT="1"/>
      <dgm:spPr/>
      <dgm:t>
        <a:bodyPr/>
        <a:lstStyle/>
        <a:p>
          <a:r>
            <a:rPr lang="en-GB" sz="8000">
              <a:latin typeface="Arial"/>
              <a:cs typeface="Arial"/>
            </a:rPr>
            <a:t>Dedicated to building diversity</a:t>
          </a:r>
        </a:p>
      </dgm:t>
    </dgm:pt>
    <dgm:pt modelId="{5A8BC2BE-235E-4E24-93D1-16B679BBD48F}" type="parTrans" cxnId="{3DF8788A-8EAD-4C25-9318-9529168FF73A}">
      <dgm:prSet/>
      <dgm:spPr/>
      <dgm:t>
        <a:bodyPr/>
        <a:lstStyle/>
        <a:p>
          <a:endParaRPr lang="en-GB"/>
        </a:p>
      </dgm:t>
    </dgm:pt>
    <dgm:pt modelId="{5CBDE332-9669-4914-892B-5E2F4E68942A}" type="sibTrans" cxnId="{3DF8788A-8EAD-4C25-9318-9529168FF73A}">
      <dgm:prSet/>
      <dgm:spPr/>
      <dgm:t>
        <a:bodyPr/>
        <a:lstStyle/>
        <a:p>
          <a:endParaRPr lang="en-GB"/>
        </a:p>
      </dgm:t>
    </dgm:pt>
    <dgm:pt modelId="{FD31595D-8527-8E42-946B-67B51BC4A955}">
      <dgm:prSet custT="1"/>
      <dgm:spPr/>
      <dgm:t>
        <a:bodyPr/>
        <a:lstStyle/>
        <a:p>
          <a:r>
            <a:rPr lang="en-GB" sz="8000">
              <a:latin typeface="Arial"/>
              <a:cs typeface="Arial"/>
            </a:rPr>
            <a:t>Interesting and challenging research problems</a:t>
          </a:r>
        </a:p>
      </dgm:t>
    </dgm:pt>
    <dgm:pt modelId="{6DF0E297-A5A5-8448-9F00-4683508BD4A1}" type="parTrans" cxnId="{AA525EB4-AAE1-5042-82D2-E83E1DDDBD6B}">
      <dgm:prSet/>
      <dgm:spPr/>
    </dgm:pt>
    <dgm:pt modelId="{987D0224-2F8E-D84D-98CE-3CDF065AAD84}" type="sibTrans" cxnId="{AA525EB4-AAE1-5042-82D2-E83E1DDDBD6B}">
      <dgm:prSet/>
      <dgm:spPr/>
    </dgm:pt>
    <dgm:pt modelId="{1C61D697-EB9A-F24D-B18A-03317D10F99F}">
      <dgm:prSet custT="1"/>
      <dgm:spPr/>
      <dgm:t>
        <a:bodyPr/>
        <a:lstStyle/>
        <a:p>
          <a:r>
            <a:rPr lang="en-GB" sz="8000">
              <a:latin typeface="Arial"/>
              <a:cs typeface="Arial"/>
            </a:rPr>
            <a:t>Job security in a critical sector</a:t>
          </a:r>
        </a:p>
      </dgm:t>
    </dgm:pt>
    <dgm:pt modelId="{9FAFC467-A73C-3A4A-9568-7175AB31C3BA}" type="parTrans" cxnId="{79EBC6A9-19E6-1642-82D8-1582942969B7}">
      <dgm:prSet/>
      <dgm:spPr/>
    </dgm:pt>
    <dgm:pt modelId="{D4CD11C6-3B7F-5944-A6E5-569E639C1015}" type="sibTrans" cxnId="{79EBC6A9-19E6-1642-82D8-1582942969B7}">
      <dgm:prSet/>
      <dgm:spPr/>
    </dgm:pt>
    <dgm:pt modelId="{80FF4854-61E4-4095-B399-9D7F37910BA9}" type="pres">
      <dgm:prSet presAssocID="{E6975CFC-0816-4612-9827-7FD3AB89D59F}" presName="diagram" presStyleCnt="0">
        <dgm:presLayoutVars>
          <dgm:dir/>
          <dgm:resizeHandles val="exact"/>
        </dgm:presLayoutVars>
      </dgm:prSet>
      <dgm:spPr/>
    </dgm:pt>
    <dgm:pt modelId="{628D0ED7-3C2B-48CD-B37E-0993EAD2A14A}" type="pres">
      <dgm:prSet presAssocID="{E572AF66-BCD1-400E-9AE2-E773527FB5B2}" presName="node" presStyleLbl="node1" presStyleIdx="0" presStyleCnt="6">
        <dgm:presLayoutVars>
          <dgm:bulletEnabled val="1"/>
        </dgm:presLayoutVars>
      </dgm:prSet>
      <dgm:spPr/>
    </dgm:pt>
    <dgm:pt modelId="{EC62C46C-4856-401C-9688-947E316216D0}" type="pres">
      <dgm:prSet presAssocID="{89C48AF9-02AF-408A-9F86-90CB8671E824}" presName="sibTrans" presStyleCnt="0"/>
      <dgm:spPr/>
    </dgm:pt>
    <dgm:pt modelId="{4D21C50B-FD28-9A4D-B0AE-1EBA44299C8D}" type="pres">
      <dgm:prSet presAssocID="{FD31595D-8527-8E42-946B-67B51BC4A955}" presName="node" presStyleLbl="node1" presStyleIdx="1" presStyleCnt="6">
        <dgm:presLayoutVars>
          <dgm:bulletEnabled val="1"/>
        </dgm:presLayoutVars>
      </dgm:prSet>
      <dgm:spPr/>
    </dgm:pt>
    <dgm:pt modelId="{51C6261A-247F-FD4E-A3A4-9F8E6AA478D0}" type="pres">
      <dgm:prSet presAssocID="{987D0224-2F8E-D84D-98CE-3CDF065AAD84}" presName="sibTrans" presStyleCnt="0"/>
      <dgm:spPr/>
    </dgm:pt>
    <dgm:pt modelId="{F2D765EA-7A20-4C6B-8EB3-1ABFC036F2D8}" type="pres">
      <dgm:prSet presAssocID="{B7726133-896E-4846-A3AC-9BC506EEBA9C}" presName="node" presStyleLbl="node1" presStyleIdx="2" presStyleCnt="6">
        <dgm:presLayoutVars>
          <dgm:bulletEnabled val="1"/>
        </dgm:presLayoutVars>
      </dgm:prSet>
      <dgm:spPr/>
    </dgm:pt>
    <dgm:pt modelId="{B747A738-4A67-4FC5-9475-5E1ED6193CF0}" type="pres">
      <dgm:prSet presAssocID="{F96FE861-E5F7-4673-ADE7-6B9BF2772F75}" presName="sibTrans" presStyleCnt="0"/>
      <dgm:spPr/>
    </dgm:pt>
    <dgm:pt modelId="{19BE70CE-F141-42C2-9759-17603DB611A5}" type="pres">
      <dgm:prSet presAssocID="{18F34774-DDF2-4605-A508-AD52A1716448}" presName="node" presStyleLbl="node1" presStyleIdx="3" presStyleCnt="6">
        <dgm:presLayoutVars>
          <dgm:bulletEnabled val="1"/>
        </dgm:presLayoutVars>
      </dgm:prSet>
      <dgm:spPr/>
    </dgm:pt>
    <dgm:pt modelId="{2B43574F-8550-411F-84EC-A4A2212A4B34}" type="pres">
      <dgm:prSet presAssocID="{876DE126-3982-4FB1-B0E8-3016EEBD3AB9}" presName="sibTrans" presStyleCnt="0"/>
      <dgm:spPr/>
    </dgm:pt>
    <dgm:pt modelId="{D480B723-49FF-44FC-9726-7CC619B1DE3B}" type="pres">
      <dgm:prSet presAssocID="{5C9B1D4B-EDC7-448F-978A-D67D69E92243}" presName="node" presStyleLbl="node1" presStyleIdx="4" presStyleCnt="6">
        <dgm:presLayoutVars>
          <dgm:bulletEnabled val="1"/>
        </dgm:presLayoutVars>
      </dgm:prSet>
      <dgm:spPr/>
    </dgm:pt>
    <dgm:pt modelId="{20E2F1C0-3AE6-D443-89B3-6E190F56E7D0}" type="pres">
      <dgm:prSet presAssocID="{5CBDE332-9669-4914-892B-5E2F4E68942A}" presName="sibTrans" presStyleCnt="0"/>
      <dgm:spPr/>
    </dgm:pt>
    <dgm:pt modelId="{E2DB7739-0AA4-4F46-B844-9945B605BE85}" type="pres">
      <dgm:prSet presAssocID="{1C61D697-EB9A-F24D-B18A-03317D10F99F}" presName="node" presStyleLbl="node1" presStyleIdx="5" presStyleCnt="6">
        <dgm:presLayoutVars>
          <dgm:bulletEnabled val="1"/>
        </dgm:presLayoutVars>
      </dgm:prSet>
      <dgm:spPr/>
    </dgm:pt>
  </dgm:ptLst>
  <dgm:cxnLst>
    <dgm:cxn modelId="{7ACE8546-702F-B842-812F-BBE7FF101B7C}" type="presOf" srcId="{FD31595D-8527-8E42-946B-67B51BC4A955}" destId="{4D21C50B-FD28-9A4D-B0AE-1EBA44299C8D}" srcOrd="0" destOrd="0" presId="urn:microsoft.com/office/officeart/2005/8/layout/default"/>
    <dgm:cxn modelId="{FE3DEE51-7B2F-4E1B-920E-4D5DF6F55230}" srcId="{E6975CFC-0816-4612-9827-7FD3AB89D59F}" destId="{E572AF66-BCD1-400E-9AE2-E773527FB5B2}" srcOrd="0" destOrd="0" parTransId="{D72B5D20-463C-4886-91C9-8D1F2D60B3F1}" sibTransId="{89C48AF9-02AF-408A-9F86-90CB8671E824}"/>
    <dgm:cxn modelId="{0108D773-A2A3-4369-99A2-75CCC62D08E5}" srcId="{E6975CFC-0816-4612-9827-7FD3AB89D59F}" destId="{B7726133-896E-4846-A3AC-9BC506EEBA9C}" srcOrd="2" destOrd="0" parTransId="{883076C9-CF14-4CE0-A8DD-6043DA0AD3F0}" sibTransId="{F96FE861-E5F7-4673-ADE7-6B9BF2772F75}"/>
    <dgm:cxn modelId="{1C9AF980-B8DB-46FF-838A-01A9681186CA}" srcId="{E6975CFC-0816-4612-9827-7FD3AB89D59F}" destId="{18F34774-DDF2-4605-A508-AD52A1716448}" srcOrd="3" destOrd="0" parTransId="{A0757FDF-1CA4-45FC-8622-7CB5B8C81EC5}" sibTransId="{876DE126-3982-4FB1-B0E8-3016EEBD3AB9}"/>
    <dgm:cxn modelId="{3DF8788A-8EAD-4C25-9318-9529168FF73A}" srcId="{E6975CFC-0816-4612-9827-7FD3AB89D59F}" destId="{5C9B1D4B-EDC7-448F-978A-D67D69E92243}" srcOrd="4" destOrd="0" parTransId="{5A8BC2BE-235E-4E24-93D1-16B679BBD48F}" sibTransId="{5CBDE332-9669-4914-892B-5E2F4E68942A}"/>
    <dgm:cxn modelId="{E7B2D194-AF52-4E75-895E-7E84FF12D2D1}" type="presOf" srcId="{E572AF66-BCD1-400E-9AE2-E773527FB5B2}" destId="{628D0ED7-3C2B-48CD-B37E-0993EAD2A14A}" srcOrd="0" destOrd="0" presId="urn:microsoft.com/office/officeart/2005/8/layout/default"/>
    <dgm:cxn modelId="{6DF13F9A-17E9-40D9-B24A-4A8C77EE66BB}" type="presOf" srcId="{5C9B1D4B-EDC7-448F-978A-D67D69E92243}" destId="{D480B723-49FF-44FC-9726-7CC619B1DE3B}" srcOrd="0" destOrd="0" presId="urn:microsoft.com/office/officeart/2005/8/layout/default"/>
    <dgm:cxn modelId="{B5005E9A-A799-49F5-8181-4A463A47D787}" type="presOf" srcId="{B7726133-896E-4846-A3AC-9BC506EEBA9C}" destId="{F2D765EA-7A20-4C6B-8EB3-1ABFC036F2D8}" srcOrd="0" destOrd="0" presId="urn:microsoft.com/office/officeart/2005/8/layout/default"/>
    <dgm:cxn modelId="{79EBC6A9-19E6-1642-82D8-1582942969B7}" srcId="{E6975CFC-0816-4612-9827-7FD3AB89D59F}" destId="{1C61D697-EB9A-F24D-B18A-03317D10F99F}" srcOrd="5" destOrd="0" parTransId="{9FAFC467-A73C-3A4A-9568-7175AB31C3BA}" sibTransId="{D4CD11C6-3B7F-5944-A6E5-569E639C1015}"/>
    <dgm:cxn modelId="{CB51F6B0-ED0B-472C-9F97-75745AEDFFAB}" type="presOf" srcId="{18F34774-DDF2-4605-A508-AD52A1716448}" destId="{19BE70CE-F141-42C2-9759-17603DB611A5}" srcOrd="0" destOrd="0" presId="urn:microsoft.com/office/officeart/2005/8/layout/default"/>
    <dgm:cxn modelId="{AA525EB4-AAE1-5042-82D2-E83E1DDDBD6B}" srcId="{E6975CFC-0816-4612-9827-7FD3AB89D59F}" destId="{FD31595D-8527-8E42-946B-67B51BC4A955}" srcOrd="1" destOrd="0" parTransId="{6DF0E297-A5A5-8448-9F00-4683508BD4A1}" sibTransId="{987D0224-2F8E-D84D-98CE-3CDF065AAD84}"/>
    <dgm:cxn modelId="{D6849FC8-7ABB-49BA-B796-B4056B3C2F52}" type="presOf" srcId="{E6975CFC-0816-4612-9827-7FD3AB89D59F}" destId="{80FF4854-61E4-4095-B399-9D7F37910BA9}" srcOrd="0" destOrd="0" presId="urn:microsoft.com/office/officeart/2005/8/layout/default"/>
    <dgm:cxn modelId="{12DDBDF0-16DD-9944-AC7A-9F4CA7943900}" type="presOf" srcId="{1C61D697-EB9A-F24D-B18A-03317D10F99F}" destId="{E2DB7739-0AA4-4F46-B844-9945B605BE85}" srcOrd="0" destOrd="0" presId="urn:microsoft.com/office/officeart/2005/8/layout/default"/>
    <dgm:cxn modelId="{49239038-8549-4B34-BD66-F11269284E9C}" type="presParOf" srcId="{80FF4854-61E4-4095-B399-9D7F37910BA9}" destId="{628D0ED7-3C2B-48CD-B37E-0993EAD2A14A}" srcOrd="0" destOrd="0" presId="urn:microsoft.com/office/officeart/2005/8/layout/default"/>
    <dgm:cxn modelId="{5716AFB3-B58A-4AF9-85C7-2BC11918E05C}" type="presParOf" srcId="{80FF4854-61E4-4095-B399-9D7F37910BA9}" destId="{EC62C46C-4856-401C-9688-947E316216D0}" srcOrd="1" destOrd="0" presId="urn:microsoft.com/office/officeart/2005/8/layout/default"/>
    <dgm:cxn modelId="{C9B4A375-B5CF-674F-8436-F4EC5A0EB379}" type="presParOf" srcId="{80FF4854-61E4-4095-B399-9D7F37910BA9}" destId="{4D21C50B-FD28-9A4D-B0AE-1EBA44299C8D}" srcOrd="2" destOrd="0" presId="urn:microsoft.com/office/officeart/2005/8/layout/default"/>
    <dgm:cxn modelId="{0C5D9440-6E2F-234C-ACDA-740E2716191C}" type="presParOf" srcId="{80FF4854-61E4-4095-B399-9D7F37910BA9}" destId="{51C6261A-247F-FD4E-A3A4-9F8E6AA478D0}" srcOrd="3" destOrd="0" presId="urn:microsoft.com/office/officeart/2005/8/layout/default"/>
    <dgm:cxn modelId="{716CC6CC-3F27-427C-9D87-D5B0E9A8632A}" type="presParOf" srcId="{80FF4854-61E4-4095-B399-9D7F37910BA9}" destId="{F2D765EA-7A20-4C6B-8EB3-1ABFC036F2D8}" srcOrd="4" destOrd="0" presId="urn:microsoft.com/office/officeart/2005/8/layout/default"/>
    <dgm:cxn modelId="{69AC020F-A552-4EF5-AAA0-1CEC2EA3FCCD}" type="presParOf" srcId="{80FF4854-61E4-4095-B399-9D7F37910BA9}" destId="{B747A738-4A67-4FC5-9475-5E1ED6193CF0}" srcOrd="5" destOrd="0" presId="urn:microsoft.com/office/officeart/2005/8/layout/default"/>
    <dgm:cxn modelId="{D489631B-5339-46F8-9FAA-7E104CA13978}" type="presParOf" srcId="{80FF4854-61E4-4095-B399-9D7F37910BA9}" destId="{19BE70CE-F141-42C2-9759-17603DB611A5}" srcOrd="6" destOrd="0" presId="urn:microsoft.com/office/officeart/2005/8/layout/default"/>
    <dgm:cxn modelId="{6CF71008-1937-49A5-90A1-B73C0F15A118}" type="presParOf" srcId="{80FF4854-61E4-4095-B399-9D7F37910BA9}" destId="{2B43574F-8550-411F-84EC-A4A2212A4B34}" srcOrd="7" destOrd="0" presId="urn:microsoft.com/office/officeart/2005/8/layout/default"/>
    <dgm:cxn modelId="{DD32FEF7-DB01-4F77-AA5B-DDC96B7CEDBA}" type="presParOf" srcId="{80FF4854-61E4-4095-B399-9D7F37910BA9}" destId="{D480B723-49FF-44FC-9726-7CC619B1DE3B}" srcOrd="8" destOrd="0" presId="urn:microsoft.com/office/officeart/2005/8/layout/default"/>
    <dgm:cxn modelId="{D31EA235-C335-FE47-98FB-0D34EB97341F}" type="presParOf" srcId="{80FF4854-61E4-4095-B399-9D7F37910BA9}" destId="{20E2F1C0-3AE6-D443-89B3-6E190F56E7D0}" srcOrd="9" destOrd="0" presId="urn:microsoft.com/office/officeart/2005/8/layout/default"/>
    <dgm:cxn modelId="{23945118-F8A8-7546-AD31-60B719E76CDC}" type="presParOf" srcId="{80FF4854-61E4-4095-B399-9D7F37910BA9}" destId="{E2DB7739-0AA4-4F46-B844-9945B605BE85}"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61D953-01E8-4B9C-8971-EA5333B4237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912F2167-FB04-4F89-B249-E4D60CD09F38}">
      <dgm:prSet phldrT="[Text]" custT="1"/>
      <dgm:spPr/>
      <dgm:t>
        <a:bodyPr/>
        <a:lstStyle/>
        <a:p>
          <a:r>
            <a:rPr lang="en-GB" sz="5400">
              <a:latin typeface="Arial" panose="020B0604020202020204" pitchFamily="34" charset="0"/>
              <a:cs typeface="Arial" panose="020B0604020202020204" pitchFamily="34" charset="0"/>
            </a:rPr>
            <a:t>Graduate Programmes</a:t>
          </a:r>
        </a:p>
      </dgm:t>
    </dgm:pt>
    <dgm:pt modelId="{E33161EA-216E-4835-B87E-F6688A3E9ABD}" type="parTrans" cxnId="{292EEA77-DF97-41EA-B4CB-5E5E158C700C}">
      <dgm:prSet/>
      <dgm:spPr/>
      <dgm:t>
        <a:bodyPr/>
        <a:lstStyle/>
        <a:p>
          <a:endParaRPr lang="en-GB"/>
        </a:p>
      </dgm:t>
    </dgm:pt>
    <dgm:pt modelId="{680351E5-7C86-4E70-9F10-260D434BF30E}" type="sibTrans" cxnId="{292EEA77-DF97-41EA-B4CB-5E5E158C700C}">
      <dgm:prSet/>
      <dgm:spPr/>
      <dgm:t>
        <a:bodyPr/>
        <a:lstStyle/>
        <a:p>
          <a:endParaRPr lang="en-GB"/>
        </a:p>
      </dgm:t>
    </dgm:pt>
    <dgm:pt modelId="{22E2EBF6-84A3-4E9F-A011-BD2C84BA5275}">
      <dgm:prSet phldrT="[Text]" custT="1"/>
      <dgm:spPr/>
      <dgm:t>
        <a:bodyPr/>
        <a:lstStyle/>
        <a:p>
          <a:pPr marL="598488" indent="-563563">
            <a:buFont typeface="System Font Regular"/>
            <a:buChar char="-"/>
            <a:tabLst/>
          </a:pPr>
          <a:r>
            <a:rPr lang="en-GB" sz="6000">
              <a:latin typeface="Arial" panose="020B0604020202020204" pitchFamily="34" charset="0"/>
              <a:cs typeface="Arial" panose="020B0604020202020204" pitchFamily="34" charset="0"/>
              <a:hlinkClick xmlns:r="http://schemas.openxmlformats.org/officeDocument/2006/relationships" r:id="rId1"/>
            </a:rPr>
            <a:t>Intelligence and Data Analyst Development Programme </a:t>
          </a:r>
          <a:endParaRPr lang="en-GB" sz="6000">
            <a:latin typeface="Arial" panose="020B0604020202020204" pitchFamily="34" charset="0"/>
            <a:cs typeface="Arial" panose="020B0604020202020204" pitchFamily="34" charset="0"/>
          </a:endParaRPr>
        </a:p>
      </dgm:t>
    </dgm:pt>
    <dgm:pt modelId="{02725508-EFF9-4C50-922B-19F098F1636B}" type="parTrans" cxnId="{8D924FD3-53B1-4C5D-86AA-1AA38F5A0A96}">
      <dgm:prSet/>
      <dgm:spPr/>
      <dgm:t>
        <a:bodyPr/>
        <a:lstStyle/>
        <a:p>
          <a:endParaRPr lang="en-GB"/>
        </a:p>
      </dgm:t>
    </dgm:pt>
    <dgm:pt modelId="{7DC4D55E-92D0-41FC-88CB-ACA23CC9DBE9}" type="sibTrans" cxnId="{8D924FD3-53B1-4C5D-86AA-1AA38F5A0A96}">
      <dgm:prSet/>
      <dgm:spPr/>
      <dgm:t>
        <a:bodyPr/>
        <a:lstStyle/>
        <a:p>
          <a:endParaRPr lang="en-GB"/>
        </a:p>
      </dgm:t>
    </dgm:pt>
    <dgm:pt modelId="{1BB0536B-E498-4B73-B05C-3C357BA39C88}">
      <dgm:prSet phldrT="[Text]" custT="1"/>
      <dgm:spPr/>
      <dgm:t>
        <a:bodyPr/>
        <a:lstStyle/>
        <a:p>
          <a:pPr marL="598488" indent="-563563">
            <a:buFont typeface="System Font Regular"/>
            <a:buChar char="-"/>
            <a:tabLst/>
          </a:pPr>
          <a:r>
            <a:rPr lang="en-GB" sz="6000">
              <a:latin typeface="Arial" panose="020B0604020202020204" pitchFamily="34" charset="0"/>
              <a:cs typeface="Arial" panose="020B0604020202020204" pitchFamily="34" charset="0"/>
              <a:hlinkClick xmlns:r="http://schemas.openxmlformats.org/officeDocument/2006/relationships" r:id="rId2"/>
            </a:rPr>
            <a:t>Technology Graduate Development Programme</a:t>
          </a:r>
          <a:endParaRPr lang="en-GB" sz="6000">
            <a:latin typeface="Arial" panose="020B0604020202020204" pitchFamily="34" charset="0"/>
            <a:cs typeface="Arial" panose="020B0604020202020204" pitchFamily="34" charset="0"/>
          </a:endParaRPr>
        </a:p>
      </dgm:t>
    </dgm:pt>
    <dgm:pt modelId="{C9A1ECE8-6A41-4B71-B5A6-25124DDD2210}" type="parTrans" cxnId="{7F66C25C-5AAE-436D-861B-3F4DCFFF7110}">
      <dgm:prSet/>
      <dgm:spPr/>
      <dgm:t>
        <a:bodyPr/>
        <a:lstStyle/>
        <a:p>
          <a:endParaRPr lang="en-GB"/>
        </a:p>
      </dgm:t>
    </dgm:pt>
    <dgm:pt modelId="{9D2782A7-370F-4767-BC37-20E1DC8996B4}" type="sibTrans" cxnId="{7F66C25C-5AAE-436D-861B-3F4DCFFF7110}">
      <dgm:prSet/>
      <dgm:spPr/>
      <dgm:t>
        <a:bodyPr/>
        <a:lstStyle/>
        <a:p>
          <a:endParaRPr lang="en-GB"/>
        </a:p>
      </dgm:t>
    </dgm:pt>
    <dgm:pt modelId="{95B7F7C8-1A88-44DC-9E18-36E9E256B5E0}">
      <dgm:prSet phldrT="[Text]" custT="1"/>
      <dgm:spPr/>
      <dgm:t>
        <a:bodyPr/>
        <a:lstStyle/>
        <a:p>
          <a:r>
            <a:rPr lang="en-GB" sz="6000">
              <a:latin typeface="Arial" panose="020B0604020202020204" pitchFamily="34" charset="0"/>
              <a:cs typeface="Arial" panose="020B0604020202020204" pitchFamily="34" charset="0"/>
            </a:rPr>
            <a:t>Internships and placements</a:t>
          </a:r>
        </a:p>
      </dgm:t>
    </dgm:pt>
    <dgm:pt modelId="{4040B5F4-FF31-4D2F-A7CE-9C43B7925CD0}" type="parTrans" cxnId="{7A4AF48B-E8E0-48E1-849A-A3A92C3C33EA}">
      <dgm:prSet/>
      <dgm:spPr/>
      <dgm:t>
        <a:bodyPr/>
        <a:lstStyle/>
        <a:p>
          <a:endParaRPr lang="en-GB"/>
        </a:p>
      </dgm:t>
    </dgm:pt>
    <dgm:pt modelId="{26810CE3-BCB0-4B69-8A8D-1643A123D4FC}" type="sibTrans" cxnId="{7A4AF48B-E8E0-48E1-849A-A3A92C3C33EA}">
      <dgm:prSet/>
      <dgm:spPr/>
      <dgm:t>
        <a:bodyPr/>
        <a:lstStyle/>
        <a:p>
          <a:endParaRPr lang="en-GB"/>
        </a:p>
      </dgm:t>
    </dgm:pt>
    <dgm:pt modelId="{C357EF40-3FCE-4FC2-8FFC-8459935B76CE}">
      <dgm:prSet phldrT="[Text]" custT="1"/>
      <dgm:spPr/>
      <dgm:t>
        <a:bodyPr/>
        <a:lstStyle/>
        <a:p>
          <a:pPr marL="457200" indent="-457200">
            <a:buFont typeface="System Font Regular"/>
            <a:buChar char="-"/>
            <a:tabLst/>
          </a:pPr>
          <a:r>
            <a:rPr lang="en-GB" sz="6000">
              <a:latin typeface="Arial" panose="020B0604020202020204" pitchFamily="34" charset="0"/>
              <a:cs typeface="Arial" panose="020B0604020202020204" pitchFamily="34" charset="0"/>
            </a:rPr>
            <a:t>Tech internship</a:t>
          </a:r>
        </a:p>
      </dgm:t>
    </dgm:pt>
    <dgm:pt modelId="{3E9BDA5E-336B-464F-87CA-52729F9E9ED6}" type="parTrans" cxnId="{1EE51020-B729-4BB1-AAA9-8E12B43A1CBB}">
      <dgm:prSet/>
      <dgm:spPr/>
      <dgm:t>
        <a:bodyPr/>
        <a:lstStyle/>
        <a:p>
          <a:endParaRPr lang="en-GB"/>
        </a:p>
      </dgm:t>
    </dgm:pt>
    <dgm:pt modelId="{E014D118-11BC-4561-B961-33D125EFADB9}" type="sibTrans" cxnId="{1EE51020-B729-4BB1-AAA9-8E12B43A1CBB}">
      <dgm:prSet/>
      <dgm:spPr/>
      <dgm:t>
        <a:bodyPr/>
        <a:lstStyle/>
        <a:p>
          <a:endParaRPr lang="en-GB"/>
        </a:p>
      </dgm:t>
    </dgm:pt>
    <dgm:pt modelId="{C554A2DD-2F2F-4DDB-B603-6AA4C234D0EF}">
      <dgm:prSet phldrT="[Text]" custT="1"/>
      <dgm:spPr/>
      <dgm:t>
        <a:bodyPr/>
        <a:lstStyle/>
        <a:p>
          <a:r>
            <a:rPr lang="en-GB" sz="6000">
              <a:latin typeface="Arial" panose="020B0604020202020204" pitchFamily="34" charset="0"/>
              <a:cs typeface="Arial" panose="020B0604020202020204" pitchFamily="34" charset="0"/>
            </a:rPr>
            <a:t>Graduate roles</a:t>
          </a:r>
        </a:p>
      </dgm:t>
    </dgm:pt>
    <dgm:pt modelId="{D247D485-06D3-4C71-A1C0-E6B85E12CB16}" type="parTrans" cxnId="{1334C5AF-19F4-4125-BCE6-962D318FDFE3}">
      <dgm:prSet/>
      <dgm:spPr/>
      <dgm:t>
        <a:bodyPr/>
        <a:lstStyle/>
        <a:p>
          <a:endParaRPr lang="en-GB"/>
        </a:p>
      </dgm:t>
    </dgm:pt>
    <dgm:pt modelId="{9B8B4681-3220-4E51-B8DE-817BF0BD3A6C}" type="sibTrans" cxnId="{1334C5AF-19F4-4125-BCE6-962D318FDFE3}">
      <dgm:prSet/>
      <dgm:spPr/>
      <dgm:t>
        <a:bodyPr/>
        <a:lstStyle/>
        <a:p>
          <a:endParaRPr lang="en-GB"/>
        </a:p>
      </dgm:t>
    </dgm:pt>
    <dgm:pt modelId="{66D8E06A-E1FE-4E61-85AC-C87CB88D14DC}">
      <dgm:prSet phldrT="[Text]" custT="1"/>
      <dgm:spPr/>
      <dgm:t>
        <a:bodyPr/>
        <a:lstStyle/>
        <a:p>
          <a:pPr marL="598488" lvl="1" indent="-493713" defTabSz="2889250">
            <a:lnSpc>
              <a:spcPct val="90000"/>
            </a:lnSpc>
            <a:spcBef>
              <a:spcPct val="0"/>
            </a:spcBef>
            <a:spcAft>
              <a:spcPct val="15000"/>
            </a:spcAft>
            <a:buFont typeface="System Font Regular"/>
            <a:buChar char="-"/>
            <a:tabLst/>
          </a:pPr>
          <a:r>
            <a:rPr lang="en-GB" sz="6000">
              <a:latin typeface="Arial" panose="020B0604020202020204" pitchFamily="34" charset="0"/>
              <a:cs typeface="Arial" panose="020B0604020202020204" pitchFamily="34" charset="0"/>
            </a:rPr>
            <a:t>Intelligence data analyst</a:t>
          </a:r>
        </a:p>
      </dgm:t>
    </dgm:pt>
    <dgm:pt modelId="{EE9D1C37-CA60-4898-93C2-538F8C0B1545}" type="parTrans" cxnId="{B0C0E8E5-F9C6-4BF2-B0EB-21F5952D32AD}">
      <dgm:prSet/>
      <dgm:spPr/>
      <dgm:t>
        <a:bodyPr/>
        <a:lstStyle/>
        <a:p>
          <a:endParaRPr lang="en-GB"/>
        </a:p>
      </dgm:t>
    </dgm:pt>
    <dgm:pt modelId="{6676A550-8BE7-45F2-9085-9CACB7811DE3}" type="sibTrans" cxnId="{B0C0E8E5-F9C6-4BF2-B0EB-21F5952D32AD}">
      <dgm:prSet/>
      <dgm:spPr/>
      <dgm:t>
        <a:bodyPr/>
        <a:lstStyle/>
        <a:p>
          <a:endParaRPr lang="en-GB"/>
        </a:p>
      </dgm:t>
    </dgm:pt>
    <dgm:pt modelId="{AC084755-CD0D-42D2-9267-3C04F641E131}">
      <dgm:prSet phldrT="[Text]" custT="1"/>
      <dgm:spPr/>
      <dgm:t>
        <a:bodyPr/>
        <a:lstStyle/>
        <a:p>
          <a:pPr marL="457200" indent="-457200">
            <a:buFont typeface="System Font Regular"/>
            <a:buChar char="-"/>
            <a:tabLst/>
          </a:pPr>
          <a:r>
            <a:rPr lang="en-GB" sz="6000">
              <a:latin typeface="Arial" panose="020B0604020202020204" pitchFamily="34" charset="0"/>
              <a:cs typeface="Arial" panose="020B0604020202020204" pitchFamily="34" charset="0"/>
              <a:hlinkClick xmlns:r="http://schemas.openxmlformats.org/officeDocument/2006/relationships" r:id="rId3"/>
            </a:rPr>
            <a:t>Internship programmes</a:t>
          </a:r>
          <a:endParaRPr lang="en-GB" sz="6000">
            <a:latin typeface="Arial" panose="020B0604020202020204" pitchFamily="34" charset="0"/>
            <a:cs typeface="Arial" panose="020B0604020202020204" pitchFamily="34" charset="0"/>
          </a:endParaRPr>
        </a:p>
      </dgm:t>
    </dgm:pt>
    <dgm:pt modelId="{8CE01046-43E3-4CFC-8CD4-BC497DA5BB24}" type="parTrans" cxnId="{0CA2A31B-A093-4552-8D8F-3EAB065EAEED}">
      <dgm:prSet/>
      <dgm:spPr/>
      <dgm:t>
        <a:bodyPr/>
        <a:lstStyle/>
        <a:p>
          <a:endParaRPr lang="en-GB"/>
        </a:p>
      </dgm:t>
    </dgm:pt>
    <dgm:pt modelId="{90143741-2236-4F4F-A8C5-EAB5FF0A5D78}" type="sibTrans" cxnId="{0CA2A31B-A093-4552-8D8F-3EAB065EAEED}">
      <dgm:prSet/>
      <dgm:spPr/>
      <dgm:t>
        <a:bodyPr/>
        <a:lstStyle/>
        <a:p>
          <a:endParaRPr lang="en-GB"/>
        </a:p>
      </dgm:t>
    </dgm:pt>
    <dgm:pt modelId="{9EA8EF48-1D3B-45D4-9E2B-59EFCBAE29BE}">
      <dgm:prSet phldrT="[Text]" custT="1"/>
      <dgm:spPr/>
      <dgm:t>
        <a:bodyPr/>
        <a:lstStyle/>
        <a:p>
          <a:pPr marL="457200" indent="-457200">
            <a:buFont typeface="System Font Regular"/>
            <a:buChar char="-"/>
            <a:tabLst/>
          </a:pPr>
          <a:r>
            <a:rPr lang="en-GB" sz="6000">
              <a:latin typeface="Arial" panose="020B0604020202020204" pitchFamily="34" charset="0"/>
              <a:cs typeface="Arial" panose="020B0604020202020204" pitchFamily="34" charset="0"/>
            </a:rPr>
            <a:t>Summer Programmes</a:t>
          </a:r>
        </a:p>
      </dgm:t>
    </dgm:pt>
    <dgm:pt modelId="{4489D98C-CF66-4AFA-AB12-C0C9AED9BC2D}" type="parTrans" cxnId="{F71DACDB-226F-4AB0-8A34-127E07C32339}">
      <dgm:prSet/>
      <dgm:spPr/>
      <dgm:t>
        <a:bodyPr/>
        <a:lstStyle/>
        <a:p>
          <a:endParaRPr lang="en-GB"/>
        </a:p>
      </dgm:t>
    </dgm:pt>
    <dgm:pt modelId="{F5110886-3658-440D-B5DB-D770F94AB543}" type="sibTrans" cxnId="{F71DACDB-226F-4AB0-8A34-127E07C32339}">
      <dgm:prSet/>
      <dgm:spPr/>
      <dgm:t>
        <a:bodyPr/>
        <a:lstStyle/>
        <a:p>
          <a:endParaRPr lang="en-GB"/>
        </a:p>
      </dgm:t>
    </dgm:pt>
    <dgm:pt modelId="{FC150356-4CED-4DE9-979E-C357ED8641FA}">
      <dgm:prSet phldrT="[Text]" custT="1"/>
      <dgm:spPr/>
      <dgm:t>
        <a:bodyPr/>
        <a:lstStyle/>
        <a:p>
          <a:pPr marL="598488" lvl="1" indent="-493713" defTabSz="2889250">
            <a:lnSpc>
              <a:spcPct val="90000"/>
            </a:lnSpc>
            <a:spcBef>
              <a:spcPct val="0"/>
            </a:spcBef>
            <a:spcAft>
              <a:spcPct val="15000"/>
            </a:spcAft>
            <a:buFont typeface="System Font Regular"/>
            <a:buChar char="-"/>
            <a:tabLst/>
          </a:pPr>
          <a:r>
            <a:rPr lang="en-GB" sz="6000">
              <a:latin typeface="Arial" panose="020B0604020202020204" pitchFamily="34" charset="0"/>
              <a:cs typeface="Arial" panose="020B0604020202020204" pitchFamily="34" charset="0"/>
            </a:rPr>
            <a:t>Cyber operations</a:t>
          </a:r>
        </a:p>
      </dgm:t>
    </dgm:pt>
    <dgm:pt modelId="{6721F006-21BD-4F06-BE55-68CD3877D9F7}" type="parTrans" cxnId="{CCBA33E0-653F-4768-BFC2-8961BCE287F0}">
      <dgm:prSet/>
      <dgm:spPr/>
      <dgm:t>
        <a:bodyPr/>
        <a:lstStyle/>
        <a:p>
          <a:endParaRPr lang="en-GB"/>
        </a:p>
      </dgm:t>
    </dgm:pt>
    <dgm:pt modelId="{9A9B236E-A7F9-46FB-BAE0-1C865BC21D71}" type="sibTrans" cxnId="{CCBA33E0-653F-4768-BFC2-8961BCE287F0}">
      <dgm:prSet/>
      <dgm:spPr/>
      <dgm:t>
        <a:bodyPr/>
        <a:lstStyle/>
        <a:p>
          <a:endParaRPr lang="en-GB"/>
        </a:p>
      </dgm:t>
    </dgm:pt>
    <dgm:pt modelId="{79BB0F55-0A36-4724-9C2D-01FA0A078387}" type="pres">
      <dgm:prSet presAssocID="{B361D953-01E8-4B9C-8971-EA5333B42374}" presName="Name0" presStyleCnt="0">
        <dgm:presLayoutVars>
          <dgm:dir/>
          <dgm:animLvl val="lvl"/>
          <dgm:resizeHandles val="exact"/>
        </dgm:presLayoutVars>
      </dgm:prSet>
      <dgm:spPr/>
    </dgm:pt>
    <dgm:pt modelId="{B9B07475-CE93-4FF0-83CA-9450CA09DBC0}" type="pres">
      <dgm:prSet presAssocID="{912F2167-FB04-4F89-B249-E4D60CD09F38}" presName="composite" presStyleCnt="0"/>
      <dgm:spPr/>
    </dgm:pt>
    <dgm:pt modelId="{64B4D3CE-1C4F-444C-A6E0-C64AE7000CD3}" type="pres">
      <dgm:prSet presAssocID="{912F2167-FB04-4F89-B249-E4D60CD09F38}" presName="parTx" presStyleLbl="alignNode1" presStyleIdx="0" presStyleCnt="3">
        <dgm:presLayoutVars>
          <dgm:chMax val="0"/>
          <dgm:chPref val="0"/>
          <dgm:bulletEnabled val="1"/>
        </dgm:presLayoutVars>
      </dgm:prSet>
      <dgm:spPr/>
    </dgm:pt>
    <dgm:pt modelId="{984F5473-B8CE-4020-8F0A-6884F2966C80}" type="pres">
      <dgm:prSet presAssocID="{912F2167-FB04-4F89-B249-E4D60CD09F38}" presName="desTx" presStyleLbl="alignAccFollowNode1" presStyleIdx="0" presStyleCnt="3">
        <dgm:presLayoutVars>
          <dgm:bulletEnabled val="1"/>
        </dgm:presLayoutVars>
      </dgm:prSet>
      <dgm:spPr/>
    </dgm:pt>
    <dgm:pt modelId="{3AC93C5A-E424-4328-B646-A354DD657D9D}" type="pres">
      <dgm:prSet presAssocID="{680351E5-7C86-4E70-9F10-260D434BF30E}" presName="space" presStyleCnt="0"/>
      <dgm:spPr/>
    </dgm:pt>
    <dgm:pt modelId="{EC36FC08-E9A1-4C97-A619-0D9CE0BA83C5}" type="pres">
      <dgm:prSet presAssocID="{95B7F7C8-1A88-44DC-9E18-36E9E256B5E0}" presName="composite" presStyleCnt="0"/>
      <dgm:spPr/>
    </dgm:pt>
    <dgm:pt modelId="{7588A2EC-6DD9-4A0B-ADAC-053C4D1E7F5F}" type="pres">
      <dgm:prSet presAssocID="{95B7F7C8-1A88-44DC-9E18-36E9E256B5E0}" presName="parTx" presStyleLbl="alignNode1" presStyleIdx="1" presStyleCnt="3" custLinFactNeighborX="-369" custLinFactNeighborY="2516">
        <dgm:presLayoutVars>
          <dgm:chMax val="0"/>
          <dgm:chPref val="0"/>
          <dgm:bulletEnabled val="1"/>
        </dgm:presLayoutVars>
      </dgm:prSet>
      <dgm:spPr/>
    </dgm:pt>
    <dgm:pt modelId="{3EABBE04-AD1B-4B72-8A05-D64476748630}" type="pres">
      <dgm:prSet presAssocID="{95B7F7C8-1A88-44DC-9E18-36E9E256B5E0}" presName="desTx" presStyleLbl="alignAccFollowNode1" presStyleIdx="1" presStyleCnt="3">
        <dgm:presLayoutVars>
          <dgm:bulletEnabled val="1"/>
        </dgm:presLayoutVars>
      </dgm:prSet>
      <dgm:spPr/>
    </dgm:pt>
    <dgm:pt modelId="{8979A4DB-DE29-40D7-B4B3-9E3A9701C283}" type="pres">
      <dgm:prSet presAssocID="{26810CE3-BCB0-4B69-8A8D-1643A123D4FC}" presName="space" presStyleCnt="0"/>
      <dgm:spPr/>
    </dgm:pt>
    <dgm:pt modelId="{4EE65CFC-2FC1-4000-9137-00B256D234BC}" type="pres">
      <dgm:prSet presAssocID="{C554A2DD-2F2F-4DDB-B603-6AA4C234D0EF}" presName="composite" presStyleCnt="0"/>
      <dgm:spPr/>
    </dgm:pt>
    <dgm:pt modelId="{1EE7AE66-3AEF-44B9-8041-1015F1D5503A}" type="pres">
      <dgm:prSet presAssocID="{C554A2DD-2F2F-4DDB-B603-6AA4C234D0EF}" presName="parTx" presStyleLbl="alignNode1" presStyleIdx="2" presStyleCnt="3">
        <dgm:presLayoutVars>
          <dgm:chMax val="0"/>
          <dgm:chPref val="0"/>
          <dgm:bulletEnabled val="1"/>
        </dgm:presLayoutVars>
      </dgm:prSet>
      <dgm:spPr/>
    </dgm:pt>
    <dgm:pt modelId="{83F9939F-0092-43D4-B79C-8A69B1311FB4}" type="pres">
      <dgm:prSet presAssocID="{C554A2DD-2F2F-4DDB-B603-6AA4C234D0EF}" presName="desTx" presStyleLbl="alignAccFollowNode1" presStyleIdx="2" presStyleCnt="3">
        <dgm:presLayoutVars>
          <dgm:bulletEnabled val="1"/>
        </dgm:presLayoutVars>
      </dgm:prSet>
      <dgm:spPr/>
    </dgm:pt>
  </dgm:ptLst>
  <dgm:cxnLst>
    <dgm:cxn modelId="{E5333214-08FE-48BD-B93A-9E739F9F0D57}" type="presOf" srcId="{C357EF40-3FCE-4FC2-8FFC-8459935B76CE}" destId="{3EABBE04-AD1B-4B72-8A05-D64476748630}" srcOrd="0" destOrd="0" presId="urn:microsoft.com/office/officeart/2005/8/layout/hList1"/>
    <dgm:cxn modelId="{0CA2A31B-A093-4552-8D8F-3EAB065EAEED}" srcId="{95B7F7C8-1A88-44DC-9E18-36E9E256B5E0}" destId="{AC084755-CD0D-42D2-9267-3C04F641E131}" srcOrd="2" destOrd="0" parTransId="{8CE01046-43E3-4CFC-8CD4-BC497DA5BB24}" sibTransId="{90143741-2236-4F4F-A8C5-EAB5FF0A5D78}"/>
    <dgm:cxn modelId="{3386871C-0A2A-4949-AA47-A880895268CC}" type="presOf" srcId="{66D8E06A-E1FE-4E61-85AC-C87CB88D14DC}" destId="{83F9939F-0092-43D4-B79C-8A69B1311FB4}" srcOrd="0" destOrd="0" presId="urn:microsoft.com/office/officeart/2005/8/layout/hList1"/>
    <dgm:cxn modelId="{1EE51020-B729-4BB1-AAA9-8E12B43A1CBB}" srcId="{95B7F7C8-1A88-44DC-9E18-36E9E256B5E0}" destId="{C357EF40-3FCE-4FC2-8FFC-8459935B76CE}" srcOrd="0" destOrd="0" parTransId="{3E9BDA5E-336B-464F-87CA-52729F9E9ED6}" sibTransId="{E014D118-11BC-4561-B961-33D125EFADB9}"/>
    <dgm:cxn modelId="{7B53683E-BA83-4B8E-941F-2CBC409F604F}" type="presOf" srcId="{1BB0536B-E498-4B73-B05C-3C357BA39C88}" destId="{984F5473-B8CE-4020-8F0A-6884F2966C80}" srcOrd="0" destOrd="1" presId="urn:microsoft.com/office/officeart/2005/8/layout/hList1"/>
    <dgm:cxn modelId="{7F66C25C-5AAE-436D-861B-3F4DCFFF7110}" srcId="{912F2167-FB04-4F89-B249-E4D60CD09F38}" destId="{1BB0536B-E498-4B73-B05C-3C357BA39C88}" srcOrd="1" destOrd="0" parTransId="{C9A1ECE8-6A41-4B71-B5A6-25124DDD2210}" sibTransId="{9D2782A7-370F-4767-BC37-20E1DC8996B4}"/>
    <dgm:cxn modelId="{C2D3DE5C-5D92-4840-9747-73821AD570F4}" type="presOf" srcId="{B361D953-01E8-4B9C-8971-EA5333B42374}" destId="{79BB0F55-0A36-4724-9C2D-01FA0A078387}" srcOrd="0" destOrd="0" presId="urn:microsoft.com/office/officeart/2005/8/layout/hList1"/>
    <dgm:cxn modelId="{23AC295D-C25E-46AE-8D47-F72C667D8236}" type="presOf" srcId="{912F2167-FB04-4F89-B249-E4D60CD09F38}" destId="{64B4D3CE-1C4F-444C-A6E0-C64AE7000CD3}" srcOrd="0" destOrd="0" presId="urn:microsoft.com/office/officeart/2005/8/layout/hList1"/>
    <dgm:cxn modelId="{292EEA77-DF97-41EA-B4CB-5E5E158C700C}" srcId="{B361D953-01E8-4B9C-8971-EA5333B42374}" destId="{912F2167-FB04-4F89-B249-E4D60CD09F38}" srcOrd="0" destOrd="0" parTransId="{E33161EA-216E-4835-B87E-F6688A3E9ABD}" sibTransId="{680351E5-7C86-4E70-9F10-260D434BF30E}"/>
    <dgm:cxn modelId="{EC1D4679-D9D0-4DEA-B34F-FB428B7735A5}" type="presOf" srcId="{9EA8EF48-1D3B-45D4-9E2B-59EFCBAE29BE}" destId="{3EABBE04-AD1B-4B72-8A05-D64476748630}" srcOrd="0" destOrd="1" presId="urn:microsoft.com/office/officeart/2005/8/layout/hList1"/>
    <dgm:cxn modelId="{6E88E07C-2793-4207-9151-4CA010E69997}" type="presOf" srcId="{FC150356-4CED-4DE9-979E-C357ED8641FA}" destId="{83F9939F-0092-43D4-B79C-8A69B1311FB4}" srcOrd="0" destOrd="1" presId="urn:microsoft.com/office/officeart/2005/8/layout/hList1"/>
    <dgm:cxn modelId="{7A4AF48B-E8E0-48E1-849A-A3A92C3C33EA}" srcId="{B361D953-01E8-4B9C-8971-EA5333B42374}" destId="{95B7F7C8-1A88-44DC-9E18-36E9E256B5E0}" srcOrd="1" destOrd="0" parTransId="{4040B5F4-FF31-4D2F-A7CE-9C43B7925CD0}" sibTransId="{26810CE3-BCB0-4B69-8A8D-1643A123D4FC}"/>
    <dgm:cxn modelId="{67F74291-23EF-4575-B854-D55E66A62BDA}" type="presOf" srcId="{AC084755-CD0D-42D2-9267-3C04F641E131}" destId="{3EABBE04-AD1B-4B72-8A05-D64476748630}" srcOrd="0" destOrd="2" presId="urn:microsoft.com/office/officeart/2005/8/layout/hList1"/>
    <dgm:cxn modelId="{F801E99E-FD38-4490-8C55-ADC107DC3DA2}" type="presOf" srcId="{95B7F7C8-1A88-44DC-9E18-36E9E256B5E0}" destId="{7588A2EC-6DD9-4A0B-ADAC-053C4D1E7F5F}" srcOrd="0" destOrd="0" presId="urn:microsoft.com/office/officeart/2005/8/layout/hList1"/>
    <dgm:cxn modelId="{98B433A3-0267-4FA0-8F5A-BEE614159A47}" type="presOf" srcId="{C554A2DD-2F2F-4DDB-B603-6AA4C234D0EF}" destId="{1EE7AE66-3AEF-44B9-8041-1015F1D5503A}" srcOrd="0" destOrd="0" presId="urn:microsoft.com/office/officeart/2005/8/layout/hList1"/>
    <dgm:cxn modelId="{37626DA6-9FDE-4FF6-BDEA-ECA6ACEF095A}" type="presOf" srcId="{22E2EBF6-84A3-4E9F-A011-BD2C84BA5275}" destId="{984F5473-B8CE-4020-8F0A-6884F2966C80}" srcOrd="0" destOrd="0" presId="urn:microsoft.com/office/officeart/2005/8/layout/hList1"/>
    <dgm:cxn modelId="{1334C5AF-19F4-4125-BCE6-962D318FDFE3}" srcId="{B361D953-01E8-4B9C-8971-EA5333B42374}" destId="{C554A2DD-2F2F-4DDB-B603-6AA4C234D0EF}" srcOrd="2" destOrd="0" parTransId="{D247D485-06D3-4C71-A1C0-E6B85E12CB16}" sibTransId="{9B8B4681-3220-4E51-B8DE-817BF0BD3A6C}"/>
    <dgm:cxn modelId="{8D924FD3-53B1-4C5D-86AA-1AA38F5A0A96}" srcId="{912F2167-FB04-4F89-B249-E4D60CD09F38}" destId="{22E2EBF6-84A3-4E9F-A011-BD2C84BA5275}" srcOrd="0" destOrd="0" parTransId="{02725508-EFF9-4C50-922B-19F098F1636B}" sibTransId="{7DC4D55E-92D0-41FC-88CB-ACA23CC9DBE9}"/>
    <dgm:cxn modelId="{F71DACDB-226F-4AB0-8A34-127E07C32339}" srcId="{95B7F7C8-1A88-44DC-9E18-36E9E256B5E0}" destId="{9EA8EF48-1D3B-45D4-9E2B-59EFCBAE29BE}" srcOrd="1" destOrd="0" parTransId="{4489D98C-CF66-4AFA-AB12-C0C9AED9BC2D}" sibTransId="{F5110886-3658-440D-B5DB-D770F94AB543}"/>
    <dgm:cxn modelId="{CCBA33E0-653F-4768-BFC2-8961BCE287F0}" srcId="{C554A2DD-2F2F-4DDB-B603-6AA4C234D0EF}" destId="{FC150356-4CED-4DE9-979E-C357ED8641FA}" srcOrd="1" destOrd="0" parTransId="{6721F006-21BD-4F06-BE55-68CD3877D9F7}" sibTransId="{9A9B236E-A7F9-46FB-BAE0-1C865BC21D71}"/>
    <dgm:cxn modelId="{B0C0E8E5-F9C6-4BF2-B0EB-21F5952D32AD}" srcId="{C554A2DD-2F2F-4DDB-B603-6AA4C234D0EF}" destId="{66D8E06A-E1FE-4E61-85AC-C87CB88D14DC}" srcOrd="0" destOrd="0" parTransId="{EE9D1C37-CA60-4898-93C2-538F8C0B1545}" sibTransId="{6676A550-8BE7-45F2-9085-9CACB7811DE3}"/>
    <dgm:cxn modelId="{C08F7C25-7A59-4E7C-B88F-78F1E2EDA6F2}" type="presParOf" srcId="{79BB0F55-0A36-4724-9C2D-01FA0A078387}" destId="{B9B07475-CE93-4FF0-83CA-9450CA09DBC0}" srcOrd="0" destOrd="0" presId="urn:microsoft.com/office/officeart/2005/8/layout/hList1"/>
    <dgm:cxn modelId="{8050373D-5D71-4561-ACA1-B22378CC7D47}" type="presParOf" srcId="{B9B07475-CE93-4FF0-83CA-9450CA09DBC0}" destId="{64B4D3CE-1C4F-444C-A6E0-C64AE7000CD3}" srcOrd="0" destOrd="0" presId="urn:microsoft.com/office/officeart/2005/8/layout/hList1"/>
    <dgm:cxn modelId="{C7A8CAB9-0C09-4DE5-9503-D6A279956C19}" type="presParOf" srcId="{B9B07475-CE93-4FF0-83CA-9450CA09DBC0}" destId="{984F5473-B8CE-4020-8F0A-6884F2966C80}" srcOrd="1" destOrd="0" presId="urn:microsoft.com/office/officeart/2005/8/layout/hList1"/>
    <dgm:cxn modelId="{6B4A53CB-977B-4C30-AE88-18619EAC845E}" type="presParOf" srcId="{79BB0F55-0A36-4724-9C2D-01FA0A078387}" destId="{3AC93C5A-E424-4328-B646-A354DD657D9D}" srcOrd="1" destOrd="0" presId="urn:microsoft.com/office/officeart/2005/8/layout/hList1"/>
    <dgm:cxn modelId="{272AE89C-FED7-4818-96B4-94E7575BCA4D}" type="presParOf" srcId="{79BB0F55-0A36-4724-9C2D-01FA0A078387}" destId="{EC36FC08-E9A1-4C97-A619-0D9CE0BA83C5}" srcOrd="2" destOrd="0" presId="urn:microsoft.com/office/officeart/2005/8/layout/hList1"/>
    <dgm:cxn modelId="{CD60F3F3-A020-4556-B287-146E036997E5}" type="presParOf" srcId="{EC36FC08-E9A1-4C97-A619-0D9CE0BA83C5}" destId="{7588A2EC-6DD9-4A0B-ADAC-053C4D1E7F5F}" srcOrd="0" destOrd="0" presId="urn:microsoft.com/office/officeart/2005/8/layout/hList1"/>
    <dgm:cxn modelId="{427949F3-FA0D-4344-BB50-855B9EC87ABA}" type="presParOf" srcId="{EC36FC08-E9A1-4C97-A619-0D9CE0BA83C5}" destId="{3EABBE04-AD1B-4B72-8A05-D64476748630}" srcOrd="1" destOrd="0" presId="urn:microsoft.com/office/officeart/2005/8/layout/hList1"/>
    <dgm:cxn modelId="{5C6A508E-0EE8-4ACD-963C-3E05C9E67EC7}" type="presParOf" srcId="{79BB0F55-0A36-4724-9C2D-01FA0A078387}" destId="{8979A4DB-DE29-40D7-B4B3-9E3A9701C283}" srcOrd="3" destOrd="0" presId="urn:microsoft.com/office/officeart/2005/8/layout/hList1"/>
    <dgm:cxn modelId="{8ABCD303-C067-478F-9088-D882685024E9}" type="presParOf" srcId="{79BB0F55-0A36-4724-9C2D-01FA0A078387}" destId="{4EE65CFC-2FC1-4000-9137-00B256D234BC}" srcOrd="4" destOrd="0" presId="urn:microsoft.com/office/officeart/2005/8/layout/hList1"/>
    <dgm:cxn modelId="{EAA5E7BD-A947-4B4E-A219-AEC325466918}" type="presParOf" srcId="{4EE65CFC-2FC1-4000-9137-00B256D234BC}" destId="{1EE7AE66-3AEF-44B9-8041-1015F1D5503A}" srcOrd="0" destOrd="0" presId="urn:microsoft.com/office/officeart/2005/8/layout/hList1"/>
    <dgm:cxn modelId="{9956D08F-1FBD-4A92-85DA-BE2B1F3E14E0}" type="presParOf" srcId="{4EE65CFC-2FC1-4000-9137-00B256D234BC}" destId="{83F9939F-0092-43D4-B79C-8A69B1311FB4}"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632DBE-1385-4F6F-91CF-DBB467FE5B1C}"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GB"/>
        </a:p>
      </dgm:t>
    </dgm:pt>
    <dgm:pt modelId="{23E538EE-1A6C-423E-90F3-99F81CE0EC15}">
      <dgm:prSet phldrT="[Text]"/>
      <dgm:spPr/>
      <dgm:t>
        <a:bodyPr/>
        <a:lstStyle/>
        <a:p>
          <a:pPr>
            <a:buFont typeface="Calibri"/>
            <a:buChar char="-"/>
          </a:pPr>
          <a:r>
            <a:rPr lang="en-GB">
              <a:latin typeface="Arial"/>
              <a:cs typeface="Arial"/>
            </a:rPr>
            <a:t>Critically important research areas, including Defence and Security</a:t>
          </a:r>
          <a:endParaRPr lang="en-GB"/>
        </a:p>
      </dgm:t>
    </dgm:pt>
    <dgm:pt modelId="{A969DCDC-450A-4067-A40E-C0D8E522AB17}" type="parTrans" cxnId="{C8CEE01A-ED84-4890-B063-BFCA1FE25B7E}">
      <dgm:prSet/>
      <dgm:spPr/>
      <dgm:t>
        <a:bodyPr/>
        <a:lstStyle/>
        <a:p>
          <a:endParaRPr lang="en-GB"/>
        </a:p>
      </dgm:t>
    </dgm:pt>
    <dgm:pt modelId="{C9F039C5-438D-4202-8DD6-BAF29DB696E4}" type="sibTrans" cxnId="{C8CEE01A-ED84-4890-B063-BFCA1FE25B7E}">
      <dgm:prSet/>
      <dgm:spPr/>
      <dgm:t>
        <a:bodyPr/>
        <a:lstStyle/>
        <a:p>
          <a:endParaRPr lang="en-GB"/>
        </a:p>
      </dgm:t>
    </dgm:pt>
    <dgm:pt modelId="{FB32942A-7BE5-4885-90DD-482B5242E346}">
      <dgm:prSet/>
      <dgm:spPr/>
      <dgm:t>
        <a:bodyPr/>
        <a:lstStyle/>
        <a:p>
          <a:pPr rtl="0"/>
          <a:r>
            <a:rPr lang="en-GB">
              <a:latin typeface="Arial"/>
              <a:cs typeface="Arial"/>
            </a:rPr>
            <a:t>Collaborate with Defence and Security organisations </a:t>
          </a:r>
        </a:p>
      </dgm:t>
    </dgm:pt>
    <dgm:pt modelId="{F9DB49C4-63EA-4B7D-9262-2FD60895F0BB}" type="parTrans" cxnId="{97422E45-8C9D-47DE-9D6B-9A4278C30143}">
      <dgm:prSet/>
      <dgm:spPr/>
      <dgm:t>
        <a:bodyPr/>
        <a:lstStyle/>
        <a:p>
          <a:endParaRPr lang="en-GB"/>
        </a:p>
      </dgm:t>
    </dgm:pt>
    <dgm:pt modelId="{10E4EE2B-7254-48D0-B4AD-BAEC23EA835A}" type="sibTrans" cxnId="{97422E45-8C9D-47DE-9D6B-9A4278C30143}">
      <dgm:prSet/>
      <dgm:spPr/>
      <dgm:t>
        <a:bodyPr/>
        <a:lstStyle/>
        <a:p>
          <a:endParaRPr lang="en-GB"/>
        </a:p>
      </dgm:t>
    </dgm:pt>
    <dgm:pt modelId="{70CEB93D-F305-4792-A80F-5267FBD171D1}">
      <dgm:prSet/>
      <dgm:spPr/>
      <dgm:t>
        <a:bodyPr/>
        <a:lstStyle/>
        <a:p>
          <a:r>
            <a:rPr lang="en-GB">
              <a:latin typeface="Arial"/>
              <a:cs typeface="Arial"/>
            </a:rPr>
            <a:t>Independent Research Institute</a:t>
          </a:r>
        </a:p>
      </dgm:t>
    </dgm:pt>
    <dgm:pt modelId="{13DD2E9C-6DF5-4AFD-A64C-8F10E3D2D8B7}" type="parTrans" cxnId="{007F775F-82BD-4033-BDB6-421EFC5E9C24}">
      <dgm:prSet/>
      <dgm:spPr/>
      <dgm:t>
        <a:bodyPr/>
        <a:lstStyle/>
        <a:p>
          <a:endParaRPr lang="en-GB"/>
        </a:p>
      </dgm:t>
    </dgm:pt>
    <dgm:pt modelId="{B29E0678-42B2-4409-B857-2357C57C3156}" type="sibTrans" cxnId="{007F775F-82BD-4033-BDB6-421EFC5E9C24}">
      <dgm:prSet/>
      <dgm:spPr/>
      <dgm:t>
        <a:bodyPr/>
        <a:lstStyle/>
        <a:p>
          <a:endParaRPr lang="en-GB"/>
        </a:p>
      </dgm:t>
    </dgm:pt>
    <dgm:pt modelId="{501430D0-7B0F-447B-8BCA-EAFBC8606324}">
      <dgm:prSet/>
      <dgm:spPr/>
      <dgm:t>
        <a:bodyPr/>
        <a:lstStyle/>
        <a:p>
          <a:pPr rtl="0"/>
          <a:r>
            <a:rPr lang="en-GB">
              <a:latin typeface="Arial"/>
              <a:cs typeface="Arial"/>
            </a:rPr>
            <a:t>Competitive salaries and benefits </a:t>
          </a:r>
        </a:p>
      </dgm:t>
    </dgm:pt>
    <dgm:pt modelId="{744EB408-9F5E-4D8B-BBAD-38C9121F9EA7}" type="parTrans" cxnId="{7563F235-622C-4D47-BE9F-E2893B14CB92}">
      <dgm:prSet/>
      <dgm:spPr/>
      <dgm:t>
        <a:bodyPr/>
        <a:lstStyle/>
        <a:p>
          <a:endParaRPr lang="en-GB"/>
        </a:p>
      </dgm:t>
    </dgm:pt>
    <dgm:pt modelId="{A8FC1ECB-6E20-4965-B46F-FCFC9F9FEFF0}" type="sibTrans" cxnId="{7563F235-622C-4D47-BE9F-E2893B14CB92}">
      <dgm:prSet/>
      <dgm:spPr/>
      <dgm:t>
        <a:bodyPr/>
        <a:lstStyle/>
        <a:p>
          <a:endParaRPr lang="en-GB"/>
        </a:p>
      </dgm:t>
    </dgm:pt>
    <dgm:pt modelId="{38C54EF0-3C25-438C-9B0B-1EE68B9CE426}">
      <dgm:prSet/>
      <dgm:spPr/>
      <dgm:t>
        <a:bodyPr/>
        <a:lstStyle/>
        <a:p>
          <a:r>
            <a:rPr lang="en-GB">
              <a:latin typeface="Arial"/>
              <a:cs typeface="Arial"/>
            </a:rPr>
            <a:t>Strong inclusion support such as flexible working</a:t>
          </a:r>
        </a:p>
      </dgm:t>
    </dgm:pt>
    <dgm:pt modelId="{C60A0398-3664-4A06-B104-7D52D599A7E3}" type="parTrans" cxnId="{F95EEB49-D9A2-4570-9707-2193479D3352}">
      <dgm:prSet/>
      <dgm:spPr/>
      <dgm:t>
        <a:bodyPr/>
        <a:lstStyle/>
        <a:p>
          <a:endParaRPr lang="en-GB"/>
        </a:p>
      </dgm:t>
    </dgm:pt>
    <dgm:pt modelId="{74124698-558F-401A-809B-41C96A480987}" type="sibTrans" cxnId="{F95EEB49-D9A2-4570-9707-2193479D3352}">
      <dgm:prSet/>
      <dgm:spPr/>
      <dgm:t>
        <a:bodyPr/>
        <a:lstStyle/>
        <a:p>
          <a:endParaRPr lang="en-GB"/>
        </a:p>
      </dgm:t>
    </dgm:pt>
    <dgm:pt modelId="{2C235F22-A130-4CAA-BBB3-11F5D50310AB}">
      <dgm:prSet/>
      <dgm:spPr/>
      <dgm:t>
        <a:bodyPr/>
        <a:lstStyle/>
        <a:p>
          <a:r>
            <a:rPr lang="en-GB">
              <a:latin typeface="Arial"/>
              <a:cs typeface="Arial"/>
            </a:rPr>
            <a:t>Collaborate across nations</a:t>
          </a:r>
        </a:p>
      </dgm:t>
    </dgm:pt>
    <dgm:pt modelId="{DB73BABA-01CD-40FE-B309-F208E2C77B64}" type="parTrans" cxnId="{B9A21BE4-8F20-4009-AC69-667C57824D06}">
      <dgm:prSet/>
      <dgm:spPr/>
      <dgm:t>
        <a:bodyPr/>
        <a:lstStyle/>
        <a:p>
          <a:endParaRPr lang="en-GB"/>
        </a:p>
      </dgm:t>
    </dgm:pt>
    <dgm:pt modelId="{FA2F1F89-5536-4081-BEBF-72915B9ACE1E}" type="sibTrans" cxnId="{B9A21BE4-8F20-4009-AC69-667C57824D06}">
      <dgm:prSet/>
      <dgm:spPr/>
      <dgm:t>
        <a:bodyPr/>
        <a:lstStyle/>
        <a:p>
          <a:endParaRPr lang="en-GB"/>
        </a:p>
      </dgm:t>
    </dgm:pt>
    <dgm:pt modelId="{31037B6B-87FA-4E54-AD8A-22FF657CD86D}" type="pres">
      <dgm:prSet presAssocID="{27632DBE-1385-4F6F-91CF-DBB467FE5B1C}" presName="diagram" presStyleCnt="0">
        <dgm:presLayoutVars>
          <dgm:dir/>
          <dgm:resizeHandles val="exact"/>
        </dgm:presLayoutVars>
      </dgm:prSet>
      <dgm:spPr/>
    </dgm:pt>
    <dgm:pt modelId="{A1D42C94-F771-442C-A479-E69C62731FC9}" type="pres">
      <dgm:prSet presAssocID="{23E538EE-1A6C-423E-90F3-99F81CE0EC15}" presName="node" presStyleLbl="node1" presStyleIdx="0" presStyleCnt="6">
        <dgm:presLayoutVars>
          <dgm:bulletEnabled val="1"/>
        </dgm:presLayoutVars>
      </dgm:prSet>
      <dgm:spPr/>
    </dgm:pt>
    <dgm:pt modelId="{D5E14FD5-F924-4231-89D4-C0ACB06E45A0}" type="pres">
      <dgm:prSet presAssocID="{C9F039C5-438D-4202-8DD6-BAF29DB696E4}" presName="sibTrans" presStyleCnt="0"/>
      <dgm:spPr/>
    </dgm:pt>
    <dgm:pt modelId="{2BC47549-F9C7-45C4-8B16-6411FC3B0D96}" type="pres">
      <dgm:prSet presAssocID="{FB32942A-7BE5-4885-90DD-482B5242E346}" presName="node" presStyleLbl="node1" presStyleIdx="1" presStyleCnt="6">
        <dgm:presLayoutVars>
          <dgm:bulletEnabled val="1"/>
        </dgm:presLayoutVars>
      </dgm:prSet>
      <dgm:spPr/>
    </dgm:pt>
    <dgm:pt modelId="{AA128043-E0D3-4EB5-841A-86ACA10C8B21}" type="pres">
      <dgm:prSet presAssocID="{10E4EE2B-7254-48D0-B4AD-BAEC23EA835A}" presName="sibTrans" presStyleCnt="0"/>
      <dgm:spPr/>
    </dgm:pt>
    <dgm:pt modelId="{9492AF71-C07E-4F16-9DC7-3D481DBB7E3F}" type="pres">
      <dgm:prSet presAssocID="{2C235F22-A130-4CAA-BBB3-11F5D50310AB}" presName="node" presStyleLbl="node1" presStyleIdx="2" presStyleCnt="6">
        <dgm:presLayoutVars>
          <dgm:bulletEnabled val="1"/>
        </dgm:presLayoutVars>
      </dgm:prSet>
      <dgm:spPr/>
    </dgm:pt>
    <dgm:pt modelId="{8BD178B9-D194-4443-9DC5-7FFE14521416}" type="pres">
      <dgm:prSet presAssocID="{FA2F1F89-5536-4081-BEBF-72915B9ACE1E}" presName="sibTrans" presStyleCnt="0"/>
      <dgm:spPr/>
    </dgm:pt>
    <dgm:pt modelId="{7C31ED1A-2601-4AC6-835D-3571E31398E7}" type="pres">
      <dgm:prSet presAssocID="{70CEB93D-F305-4792-A80F-5267FBD171D1}" presName="node" presStyleLbl="node1" presStyleIdx="3" presStyleCnt="6">
        <dgm:presLayoutVars>
          <dgm:bulletEnabled val="1"/>
        </dgm:presLayoutVars>
      </dgm:prSet>
      <dgm:spPr/>
    </dgm:pt>
    <dgm:pt modelId="{6A2ABC72-FF96-426E-B374-B32E803484AC}" type="pres">
      <dgm:prSet presAssocID="{B29E0678-42B2-4409-B857-2357C57C3156}" presName="sibTrans" presStyleCnt="0"/>
      <dgm:spPr/>
    </dgm:pt>
    <dgm:pt modelId="{7C0DF401-7553-4AB9-A194-3B4EDABE7FBC}" type="pres">
      <dgm:prSet presAssocID="{501430D0-7B0F-447B-8BCA-EAFBC8606324}" presName="node" presStyleLbl="node1" presStyleIdx="4" presStyleCnt="6">
        <dgm:presLayoutVars>
          <dgm:bulletEnabled val="1"/>
        </dgm:presLayoutVars>
      </dgm:prSet>
      <dgm:spPr/>
    </dgm:pt>
    <dgm:pt modelId="{CA801A76-AB17-47E4-8C5F-C1A8CBFEFEB1}" type="pres">
      <dgm:prSet presAssocID="{A8FC1ECB-6E20-4965-B46F-FCFC9F9FEFF0}" presName="sibTrans" presStyleCnt="0"/>
      <dgm:spPr/>
    </dgm:pt>
    <dgm:pt modelId="{2A9BF5E1-39A0-4783-BEB5-1F5B31A063B7}" type="pres">
      <dgm:prSet presAssocID="{38C54EF0-3C25-438C-9B0B-1EE68B9CE426}" presName="node" presStyleLbl="node1" presStyleIdx="5" presStyleCnt="6">
        <dgm:presLayoutVars>
          <dgm:bulletEnabled val="1"/>
        </dgm:presLayoutVars>
      </dgm:prSet>
      <dgm:spPr/>
    </dgm:pt>
  </dgm:ptLst>
  <dgm:cxnLst>
    <dgm:cxn modelId="{6C28831A-DECD-4F29-BF58-1BE09EE938F5}" type="presOf" srcId="{38C54EF0-3C25-438C-9B0B-1EE68B9CE426}" destId="{2A9BF5E1-39A0-4783-BEB5-1F5B31A063B7}" srcOrd="0" destOrd="0" presId="urn:microsoft.com/office/officeart/2005/8/layout/default"/>
    <dgm:cxn modelId="{C8CEE01A-ED84-4890-B063-BFCA1FE25B7E}" srcId="{27632DBE-1385-4F6F-91CF-DBB467FE5B1C}" destId="{23E538EE-1A6C-423E-90F3-99F81CE0EC15}" srcOrd="0" destOrd="0" parTransId="{A969DCDC-450A-4067-A40E-C0D8E522AB17}" sibTransId="{C9F039C5-438D-4202-8DD6-BAF29DB696E4}"/>
    <dgm:cxn modelId="{7563F235-622C-4D47-BE9F-E2893B14CB92}" srcId="{27632DBE-1385-4F6F-91CF-DBB467FE5B1C}" destId="{501430D0-7B0F-447B-8BCA-EAFBC8606324}" srcOrd="4" destOrd="0" parTransId="{744EB408-9F5E-4D8B-BBAD-38C9121F9EA7}" sibTransId="{A8FC1ECB-6E20-4965-B46F-FCFC9F9FEFF0}"/>
    <dgm:cxn modelId="{EA510E5D-86D4-4643-9240-C70E1AD1838D}" type="presOf" srcId="{70CEB93D-F305-4792-A80F-5267FBD171D1}" destId="{7C31ED1A-2601-4AC6-835D-3571E31398E7}" srcOrd="0" destOrd="0" presId="urn:microsoft.com/office/officeart/2005/8/layout/default"/>
    <dgm:cxn modelId="{007F775F-82BD-4033-BDB6-421EFC5E9C24}" srcId="{27632DBE-1385-4F6F-91CF-DBB467FE5B1C}" destId="{70CEB93D-F305-4792-A80F-5267FBD171D1}" srcOrd="3" destOrd="0" parTransId="{13DD2E9C-6DF5-4AFD-A64C-8F10E3D2D8B7}" sibTransId="{B29E0678-42B2-4409-B857-2357C57C3156}"/>
    <dgm:cxn modelId="{97422E45-8C9D-47DE-9D6B-9A4278C30143}" srcId="{27632DBE-1385-4F6F-91CF-DBB467FE5B1C}" destId="{FB32942A-7BE5-4885-90DD-482B5242E346}" srcOrd="1" destOrd="0" parTransId="{F9DB49C4-63EA-4B7D-9262-2FD60895F0BB}" sibTransId="{10E4EE2B-7254-48D0-B4AD-BAEC23EA835A}"/>
    <dgm:cxn modelId="{F95EEB49-D9A2-4570-9707-2193479D3352}" srcId="{27632DBE-1385-4F6F-91CF-DBB467FE5B1C}" destId="{38C54EF0-3C25-438C-9B0B-1EE68B9CE426}" srcOrd="5" destOrd="0" parTransId="{C60A0398-3664-4A06-B104-7D52D599A7E3}" sibTransId="{74124698-558F-401A-809B-41C96A480987}"/>
    <dgm:cxn modelId="{A7A0F44C-2300-4D7D-B2AE-648278E417FA}" type="presOf" srcId="{27632DBE-1385-4F6F-91CF-DBB467FE5B1C}" destId="{31037B6B-87FA-4E54-AD8A-22FF657CD86D}" srcOrd="0" destOrd="0" presId="urn:microsoft.com/office/officeart/2005/8/layout/default"/>
    <dgm:cxn modelId="{EC2D2583-874C-4173-850B-6A13641153BB}" type="presOf" srcId="{501430D0-7B0F-447B-8BCA-EAFBC8606324}" destId="{7C0DF401-7553-4AB9-A194-3B4EDABE7FBC}" srcOrd="0" destOrd="0" presId="urn:microsoft.com/office/officeart/2005/8/layout/default"/>
    <dgm:cxn modelId="{B6158FA3-E87A-445C-B7B2-92F37CA27A4A}" type="presOf" srcId="{2C235F22-A130-4CAA-BBB3-11F5D50310AB}" destId="{9492AF71-C07E-4F16-9DC7-3D481DBB7E3F}" srcOrd="0" destOrd="0" presId="urn:microsoft.com/office/officeart/2005/8/layout/default"/>
    <dgm:cxn modelId="{49EB93DD-5B53-40D0-9D20-773C272966C8}" type="presOf" srcId="{FB32942A-7BE5-4885-90DD-482B5242E346}" destId="{2BC47549-F9C7-45C4-8B16-6411FC3B0D96}" srcOrd="0" destOrd="0" presId="urn:microsoft.com/office/officeart/2005/8/layout/default"/>
    <dgm:cxn modelId="{B9A21BE4-8F20-4009-AC69-667C57824D06}" srcId="{27632DBE-1385-4F6F-91CF-DBB467FE5B1C}" destId="{2C235F22-A130-4CAA-BBB3-11F5D50310AB}" srcOrd="2" destOrd="0" parTransId="{DB73BABA-01CD-40FE-B309-F208E2C77B64}" sibTransId="{FA2F1F89-5536-4081-BEBF-72915B9ACE1E}"/>
    <dgm:cxn modelId="{AA0E0DFC-E7F1-4803-8207-4DBFDB731EF8}" type="presOf" srcId="{23E538EE-1A6C-423E-90F3-99F81CE0EC15}" destId="{A1D42C94-F771-442C-A479-E69C62731FC9}" srcOrd="0" destOrd="0" presId="urn:microsoft.com/office/officeart/2005/8/layout/default"/>
    <dgm:cxn modelId="{05AE507C-4A14-4A90-B907-E8A042DCC32A}" type="presParOf" srcId="{31037B6B-87FA-4E54-AD8A-22FF657CD86D}" destId="{A1D42C94-F771-442C-A479-E69C62731FC9}" srcOrd="0" destOrd="0" presId="urn:microsoft.com/office/officeart/2005/8/layout/default"/>
    <dgm:cxn modelId="{B6A9C52F-0793-4F39-9888-C6B1EAC6CCBF}" type="presParOf" srcId="{31037B6B-87FA-4E54-AD8A-22FF657CD86D}" destId="{D5E14FD5-F924-4231-89D4-C0ACB06E45A0}" srcOrd="1" destOrd="0" presId="urn:microsoft.com/office/officeart/2005/8/layout/default"/>
    <dgm:cxn modelId="{40F4C069-95D9-417D-ACB6-1DBC9CE7F5B4}" type="presParOf" srcId="{31037B6B-87FA-4E54-AD8A-22FF657CD86D}" destId="{2BC47549-F9C7-45C4-8B16-6411FC3B0D96}" srcOrd="2" destOrd="0" presId="urn:microsoft.com/office/officeart/2005/8/layout/default"/>
    <dgm:cxn modelId="{28DDBD6D-ED9B-48CD-A403-05A82BE3DD40}" type="presParOf" srcId="{31037B6B-87FA-4E54-AD8A-22FF657CD86D}" destId="{AA128043-E0D3-4EB5-841A-86ACA10C8B21}" srcOrd="3" destOrd="0" presId="urn:microsoft.com/office/officeart/2005/8/layout/default"/>
    <dgm:cxn modelId="{BD8B65C8-1968-4C64-BEC8-FD4B0B7C6461}" type="presParOf" srcId="{31037B6B-87FA-4E54-AD8A-22FF657CD86D}" destId="{9492AF71-C07E-4F16-9DC7-3D481DBB7E3F}" srcOrd="4" destOrd="0" presId="urn:microsoft.com/office/officeart/2005/8/layout/default"/>
    <dgm:cxn modelId="{47D9B693-C707-4EDA-9CCE-40936D0B74A4}" type="presParOf" srcId="{31037B6B-87FA-4E54-AD8A-22FF657CD86D}" destId="{8BD178B9-D194-4443-9DC5-7FFE14521416}" srcOrd="5" destOrd="0" presId="urn:microsoft.com/office/officeart/2005/8/layout/default"/>
    <dgm:cxn modelId="{3479B1B2-18DD-4E27-821E-5D7AACD0F279}" type="presParOf" srcId="{31037B6B-87FA-4E54-AD8A-22FF657CD86D}" destId="{7C31ED1A-2601-4AC6-835D-3571E31398E7}" srcOrd="6" destOrd="0" presId="urn:microsoft.com/office/officeart/2005/8/layout/default"/>
    <dgm:cxn modelId="{D9CDD6B6-1FAE-4079-8FE9-AE549A6AEF03}" type="presParOf" srcId="{31037B6B-87FA-4E54-AD8A-22FF657CD86D}" destId="{6A2ABC72-FF96-426E-B374-B32E803484AC}" srcOrd="7" destOrd="0" presId="urn:microsoft.com/office/officeart/2005/8/layout/default"/>
    <dgm:cxn modelId="{B7D1AE32-AE47-4E79-A648-1AD95FE86478}" type="presParOf" srcId="{31037B6B-87FA-4E54-AD8A-22FF657CD86D}" destId="{7C0DF401-7553-4AB9-A194-3B4EDABE7FBC}" srcOrd="8" destOrd="0" presId="urn:microsoft.com/office/officeart/2005/8/layout/default"/>
    <dgm:cxn modelId="{CB9C3738-9E20-4AF3-9D40-6A5BC2CF39BA}" type="presParOf" srcId="{31037B6B-87FA-4E54-AD8A-22FF657CD86D}" destId="{CA801A76-AB17-47E4-8C5F-C1A8CBFEFEB1}" srcOrd="9" destOrd="0" presId="urn:microsoft.com/office/officeart/2005/8/layout/default"/>
    <dgm:cxn modelId="{70965074-77BE-4FC3-91A0-169C87A2F7A9}" type="presParOf" srcId="{31037B6B-87FA-4E54-AD8A-22FF657CD86D}" destId="{2A9BF5E1-39A0-4783-BEB5-1F5B31A063B7}" srcOrd="10"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2A478B-C913-4FA1-9DAE-47C545DD5437}"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GB"/>
        </a:p>
      </dgm:t>
    </dgm:pt>
    <dgm:pt modelId="{7362188C-B93D-48B1-AF3D-E2ECD1348815}">
      <dgm:prSet phldrT="[Text]" custT="1"/>
      <dgm:spPr/>
      <dgm:t>
        <a:bodyPr/>
        <a:lstStyle/>
        <a:p>
          <a:r>
            <a:rPr lang="en-GB" sz="7200">
              <a:effectLst/>
              <a:latin typeface="Arial"/>
              <a:ea typeface="Calibri"/>
              <a:cs typeface="Arial"/>
            </a:rPr>
            <a:t>Advance healthcare and improve lives</a:t>
          </a:r>
          <a:endParaRPr lang="en-GB" sz="7200">
            <a:latin typeface="Arial"/>
            <a:ea typeface="Calibri"/>
            <a:cs typeface="Arial"/>
          </a:endParaRPr>
        </a:p>
      </dgm:t>
    </dgm:pt>
    <dgm:pt modelId="{70B3344C-13D9-4DFF-B528-A171803FC44A}" type="parTrans" cxnId="{534C38D4-AB16-4475-9DBF-44FF13468814}">
      <dgm:prSet/>
      <dgm:spPr/>
      <dgm:t>
        <a:bodyPr/>
        <a:lstStyle/>
        <a:p>
          <a:endParaRPr lang="en-GB"/>
        </a:p>
      </dgm:t>
    </dgm:pt>
    <dgm:pt modelId="{EFF8B685-197C-4C66-A774-B24BFC432D6B}" type="sibTrans" cxnId="{534C38D4-AB16-4475-9DBF-44FF13468814}">
      <dgm:prSet/>
      <dgm:spPr/>
      <dgm:t>
        <a:bodyPr/>
        <a:lstStyle/>
        <a:p>
          <a:endParaRPr lang="en-GB"/>
        </a:p>
      </dgm:t>
    </dgm:pt>
    <dgm:pt modelId="{F119F659-DDA4-4F8A-8614-E4BD2BD450CE}">
      <dgm:prSet custT="1"/>
      <dgm:spPr/>
      <dgm:t>
        <a:bodyPr/>
        <a:lstStyle/>
        <a:p>
          <a:pPr rtl="0"/>
          <a:r>
            <a:rPr lang="en-GB" sz="7200">
              <a:effectLst/>
              <a:latin typeface="Arial"/>
              <a:ea typeface="Calibri"/>
              <a:cs typeface="Arial"/>
            </a:rPr>
            <a:t>Improve decision making for public good</a:t>
          </a:r>
        </a:p>
      </dgm:t>
    </dgm:pt>
    <dgm:pt modelId="{571DF9E5-F67D-4649-A604-A41D128FA6A1}" type="parTrans" cxnId="{B7538F15-1B51-41A2-B2A4-C92C9F5AB373}">
      <dgm:prSet/>
      <dgm:spPr/>
      <dgm:t>
        <a:bodyPr/>
        <a:lstStyle/>
        <a:p>
          <a:endParaRPr lang="en-GB"/>
        </a:p>
      </dgm:t>
    </dgm:pt>
    <dgm:pt modelId="{5692AEF1-0C68-4FBA-B266-54807E18FBF3}" type="sibTrans" cxnId="{B7538F15-1B51-41A2-B2A4-C92C9F5AB373}">
      <dgm:prSet/>
      <dgm:spPr/>
      <dgm:t>
        <a:bodyPr/>
        <a:lstStyle/>
        <a:p>
          <a:endParaRPr lang="en-GB"/>
        </a:p>
      </dgm:t>
    </dgm:pt>
    <dgm:pt modelId="{34BB4874-9936-40CD-B558-D943129B31E5}">
      <dgm:prSet custT="1"/>
      <dgm:spPr/>
      <dgm:t>
        <a:bodyPr/>
        <a:lstStyle/>
        <a:p>
          <a:r>
            <a:rPr lang="en-GB" sz="7200">
              <a:effectLst/>
              <a:latin typeface="Arial"/>
              <a:ea typeface="Calibri"/>
              <a:cs typeface="Arial"/>
            </a:rPr>
            <a:t>Interesting and challenging research problems</a:t>
          </a:r>
        </a:p>
      </dgm:t>
    </dgm:pt>
    <dgm:pt modelId="{7804A992-ECB0-4056-B45D-2C50DC7114A9}" type="parTrans" cxnId="{2ACE49A1-B06F-486B-9F76-8404B2B3941B}">
      <dgm:prSet/>
      <dgm:spPr/>
      <dgm:t>
        <a:bodyPr/>
        <a:lstStyle/>
        <a:p>
          <a:endParaRPr lang="en-GB"/>
        </a:p>
      </dgm:t>
    </dgm:pt>
    <dgm:pt modelId="{3ABBC754-8D83-4DDB-A45F-D03F4FBA82A4}" type="sibTrans" cxnId="{2ACE49A1-B06F-486B-9F76-8404B2B3941B}">
      <dgm:prSet/>
      <dgm:spPr/>
      <dgm:t>
        <a:bodyPr/>
        <a:lstStyle/>
        <a:p>
          <a:endParaRPr lang="en-GB"/>
        </a:p>
      </dgm:t>
    </dgm:pt>
    <dgm:pt modelId="{8B4B5837-8ABC-4D9C-925A-742FB93C102B}">
      <dgm:prSet custT="1"/>
      <dgm:spPr/>
      <dgm:t>
        <a:bodyPr/>
        <a:lstStyle/>
        <a:p>
          <a:pPr rtl="0"/>
          <a:r>
            <a:rPr lang="en-GB" sz="7200">
              <a:effectLst/>
              <a:latin typeface="Arial"/>
              <a:ea typeface="Calibri"/>
              <a:cs typeface="Arial"/>
            </a:rPr>
            <a:t>Diversity, inclusion and staff wellbeing</a:t>
          </a:r>
        </a:p>
      </dgm:t>
    </dgm:pt>
    <dgm:pt modelId="{A657A8ED-E54B-480F-8947-9DB5DAE0ECCF}" type="parTrans" cxnId="{E9DA5C59-8E4A-4D4B-ADFB-07DC2D14B7F3}">
      <dgm:prSet/>
      <dgm:spPr/>
      <dgm:t>
        <a:bodyPr/>
        <a:lstStyle/>
        <a:p>
          <a:endParaRPr lang="en-GB"/>
        </a:p>
      </dgm:t>
    </dgm:pt>
    <dgm:pt modelId="{B2727EF2-B8B4-4755-BD30-9CF05DC7D7C9}" type="sibTrans" cxnId="{E9DA5C59-8E4A-4D4B-ADFB-07DC2D14B7F3}">
      <dgm:prSet/>
      <dgm:spPr/>
      <dgm:t>
        <a:bodyPr/>
        <a:lstStyle/>
        <a:p>
          <a:endParaRPr lang="en-GB"/>
        </a:p>
      </dgm:t>
    </dgm:pt>
    <dgm:pt modelId="{B70A30FE-77E1-4B8D-896A-F1F2C0EEF472}">
      <dgm:prSet custT="1"/>
      <dgm:spPr/>
      <dgm:t>
        <a:bodyPr/>
        <a:lstStyle/>
        <a:p>
          <a:r>
            <a:rPr lang="en-GB" sz="7200">
              <a:effectLst/>
              <a:latin typeface="Arial"/>
              <a:ea typeface="Calibri"/>
              <a:cs typeface="Arial"/>
            </a:rPr>
            <a:t>Inspiring and motivated colleagues</a:t>
          </a:r>
        </a:p>
      </dgm:t>
    </dgm:pt>
    <dgm:pt modelId="{8598DA88-B483-48EC-A150-7C9395761DF9}" type="parTrans" cxnId="{2D584131-E7A6-465B-9CEB-3F826E7E40C4}">
      <dgm:prSet/>
      <dgm:spPr/>
      <dgm:t>
        <a:bodyPr/>
        <a:lstStyle/>
        <a:p>
          <a:endParaRPr lang="en-GB"/>
        </a:p>
      </dgm:t>
    </dgm:pt>
    <dgm:pt modelId="{4CF267ED-6BD2-4B6E-82AD-BE742EBFDBBF}" type="sibTrans" cxnId="{2D584131-E7A6-465B-9CEB-3F826E7E40C4}">
      <dgm:prSet/>
      <dgm:spPr/>
      <dgm:t>
        <a:bodyPr/>
        <a:lstStyle/>
        <a:p>
          <a:endParaRPr lang="en-GB"/>
        </a:p>
      </dgm:t>
    </dgm:pt>
    <dgm:pt modelId="{A63B5895-C922-403A-BADA-8D12EA8D71F0}">
      <dgm:prSet custT="1"/>
      <dgm:spPr/>
      <dgm:t>
        <a:bodyPr/>
        <a:lstStyle/>
        <a:p>
          <a:r>
            <a:rPr lang="en-GB" sz="7200">
              <a:effectLst/>
              <a:latin typeface="Arial"/>
              <a:ea typeface="Calibri"/>
              <a:cs typeface="Arial"/>
            </a:rPr>
            <a:t>Exciting and inspiring areas of healthcare</a:t>
          </a:r>
        </a:p>
      </dgm:t>
    </dgm:pt>
    <dgm:pt modelId="{FD7897EB-862A-40FC-BF68-2D217BD44E3D}" type="parTrans" cxnId="{2B96E13C-E2CE-41A0-B482-23A07F106B13}">
      <dgm:prSet/>
      <dgm:spPr/>
      <dgm:t>
        <a:bodyPr/>
        <a:lstStyle/>
        <a:p>
          <a:endParaRPr lang="en-GB"/>
        </a:p>
      </dgm:t>
    </dgm:pt>
    <dgm:pt modelId="{D6D30737-F741-4ED4-911C-16FCAC7FB8F2}" type="sibTrans" cxnId="{2B96E13C-E2CE-41A0-B482-23A07F106B13}">
      <dgm:prSet/>
      <dgm:spPr/>
      <dgm:t>
        <a:bodyPr/>
        <a:lstStyle/>
        <a:p>
          <a:endParaRPr lang="en-GB"/>
        </a:p>
      </dgm:t>
    </dgm:pt>
    <dgm:pt modelId="{646D8DF3-0B7E-441F-89D5-D10107FCBDC3}" type="pres">
      <dgm:prSet presAssocID="{092A478B-C913-4FA1-9DAE-47C545DD5437}" presName="diagram" presStyleCnt="0">
        <dgm:presLayoutVars>
          <dgm:dir/>
          <dgm:resizeHandles val="exact"/>
        </dgm:presLayoutVars>
      </dgm:prSet>
      <dgm:spPr/>
    </dgm:pt>
    <dgm:pt modelId="{1999E843-2A96-4724-B86E-1ED0C25BB2B8}" type="pres">
      <dgm:prSet presAssocID="{7362188C-B93D-48B1-AF3D-E2ECD1348815}" presName="node" presStyleLbl="node1" presStyleIdx="0" presStyleCnt="6">
        <dgm:presLayoutVars>
          <dgm:bulletEnabled val="1"/>
        </dgm:presLayoutVars>
      </dgm:prSet>
      <dgm:spPr/>
    </dgm:pt>
    <dgm:pt modelId="{98F29FCE-D1E7-485C-90A6-2AF73669BEFF}" type="pres">
      <dgm:prSet presAssocID="{EFF8B685-197C-4C66-A774-B24BFC432D6B}" presName="sibTrans" presStyleCnt="0"/>
      <dgm:spPr/>
    </dgm:pt>
    <dgm:pt modelId="{DAFE76D0-AFA2-42DB-9B19-0EF426EF864B}" type="pres">
      <dgm:prSet presAssocID="{F119F659-DDA4-4F8A-8614-E4BD2BD450CE}" presName="node" presStyleLbl="node1" presStyleIdx="1" presStyleCnt="6">
        <dgm:presLayoutVars>
          <dgm:bulletEnabled val="1"/>
        </dgm:presLayoutVars>
      </dgm:prSet>
      <dgm:spPr/>
    </dgm:pt>
    <dgm:pt modelId="{14BEE76E-D994-41C3-A073-57C941B60EF0}" type="pres">
      <dgm:prSet presAssocID="{5692AEF1-0C68-4FBA-B266-54807E18FBF3}" presName="sibTrans" presStyleCnt="0"/>
      <dgm:spPr/>
    </dgm:pt>
    <dgm:pt modelId="{E9BFACA6-FB88-41F3-8E74-380DAF20BBAE}" type="pres">
      <dgm:prSet presAssocID="{A63B5895-C922-403A-BADA-8D12EA8D71F0}" presName="node" presStyleLbl="node1" presStyleIdx="2" presStyleCnt="6">
        <dgm:presLayoutVars>
          <dgm:bulletEnabled val="1"/>
        </dgm:presLayoutVars>
      </dgm:prSet>
      <dgm:spPr/>
    </dgm:pt>
    <dgm:pt modelId="{5F7F359E-B9F3-44DC-8237-FCE0A8B51985}" type="pres">
      <dgm:prSet presAssocID="{D6D30737-F741-4ED4-911C-16FCAC7FB8F2}" presName="sibTrans" presStyleCnt="0"/>
      <dgm:spPr/>
    </dgm:pt>
    <dgm:pt modelId="{789CECEA-6F72-44E0-B278-7FE9EDFF6548}" type="pres">
      <dgm:prSet presAssocID="{34BB4874-9936-40CD-B558-D943129B31E5}" presName="node" presStyleLbl="node1" presStyleIdx="3" presStyleCnt="6">
        <dgm:presLayoutVars>
          <dgm:bulletEnabled val="1"/>
        </dgm:presLayoutVars>
      </dgm:prSet>
      <dgm:spPr/>
    </dgm:pt>
    <dgm:pt modelId="{E1C60D83-7555-495C-AD95-7CA338A23869}" type="pres">
      <dgm:prSet presAssocID="{3ABBC754-8D83-4DDB-A45F-D03F4FBA82A4}" presName="sibTrans" presStyleCnt="0"/>
      <dgm:spPr/>
    </dgm:pt>
    <dgm:pt modelId="{0AC262F9-CC4D-46F3-9D48-F0DE6C77696A}" type="pres">
      <dgm:prSet presAssocID="{8B4B5837-8ABC-4D9C-925A-742FB93C102B}" presName="node" presStyleLbl="node1" presStyleIdx="4" presStyleCnt="6">
        <dgm:presLayoutVars>
          <dgm:bulletEnabled val="1"/>
        </dgm:presLayoutVars>
      </dgm:prSet>
      <dgm:spPr/>
    </dgm:pt>
    <dgm:pt modelId="{1DA877D5-0F34-4CAF-8C6B-1B19296ACC10}" type="pres">
      <dgm:prSet presAssocID="{B2727EF2-B8B4-4755-BD30-9CF05DC7D7C9}" presName="sibTrans" presStyleCnt="0"/>
      <dgm:spPr/>
    </dgm:pt>
    <dgm:pt modelId="{304AEEAF-AA6A-4CBF-A315-5F0D8D512F89}" type="pres">
      <dgm:prSet presAssocID="{B70A30FE-77E1-4B8D-896A-F1F2C0EEF472}" presName="node" presStyleLbl="node1" presStyleIdx="5" presStyleCnt="6">
        <dgm:presLayoutVars>
          <dgm:bulletEnabled val="1"/>
        </dgm:presLayoutVars>
      </dgm:prSet>
      <dgm:spPr/>
    </dgm:pt>
  </dgm:ptLst>
  <dgm:cxnLst>
    <dgm:cxn modelId="{B7538F15-1B51-41A2-B2A4-C92C9F5AB373}" srcId="{092A478B-C913-4FA1-9DAE-47C545DD5437}" destId="{F119F659-DDA4-4F8A-8614-E4BD2BD450CE}" srcOrd="1" destOrd="0" parTransId="{571DF9E5-F67D-4649-A604-A41D128FA6A1}" sibTransId="{5692AEF1-0C68-4FBA-B266-54807E18FBF3}"/>
    <dgm:cxn modelId="{2D584131-E7A6-465B-9CEB-3F826E7E40C4}" srcId="{092A478B-C913-4FA1-9DAE-47C545DD5437}" destId="{B70A30FE-77E1-4B8D-896A-F1F2C0EEF472}" srcOrd="5" destOrd="0" parTransId="{8598DA88-B483-48EC-A150-7C9395761DF9}" sibTransId="{4CF267ED-6BD2-4B6E-82AD-BE742EBFDBBF}"/>
    <dgm:cxn modelId="{F2A0993C-69FA-4A7B-9644-86F5056C4B57}" type="presOf" srcId="{8B4B5837-8ABC-4D9C-925A-742FB93C102B}" destId="{0AC262F9-CC4D-46F3-9D48-F0DE6C77696A}" srcOrd="0" destOrd="0" presId="urn:microsoft.com/office/officeart/2005/8/layout/default"/>
    <dgm:cxn modelId="{2B96E13C-E2CE-41A0-B482-23A07F106B13}" srcId="{092A478B-C913-4FA1-9DAE-47C545DD5437}" destId="{A63B5895-C922-403A-BADA-8D12EA8D71F0}" srcOrd="2" destOrd="0" parTransId="{FD7897EB-862A-40FC-BF68-2D217BD44E3D}" sibTransId="{D6D30737-F741-4ED4-911C-16FCAC7FB8F2}"/>
    <dgm:cxn modelId="{DF3CE96B-23D1-4CAA-BD6C-2750AFFA530F}" type="presOf" srcId="{A63B5895-C922-403A-BADA-8D12EA8D71F0}" destId="{E9BFACA6-FB88-41F3-8E74-380DAF20BBAE}" srcOrd="0" destOrd="0" presId="urn:microsoft.com/office/officeart/2005/8/layout/default"/>
    <dgm:cxn modelId="{5FD3A670-FE37-42EC-BBA5-FACC0D2B0F8F}" type="presOf" srcId="{34BB4874-9936-40CD-B558-D943129B31E5}" destId="{789CECEA-6F72-44E0-B278-7FE9EDFF6548}" srcOrd="0" destOrd="0" presId="urn:microsoft.com/office/officeart/2005/8/layout/default"/>
    <dgm:cxn modelId="{E9DA5C59-8E4A-4D4B-ADFB-07DC2D14B7F3}" srcId="{092A478B-C913-4FA1-9DAE-47C545DD5437}" destId="{8B4B5837-8ABC-4D9C-925A-742FB93C102B}" srcOrd="4" destOrd="0" parTransId="{A657A8ED-E54B-480F-8947-9DB5DAE0ECCF}" sibTransId="{B2727EF2-B8B4-4755-BD30-9CF05DC7D7C9}"/>
    <dgm:cxn modelId="{F70AB28E-F776-4C93-8EC3-9C525F078EB1}" type="presOf" srcId="{092A478B-C913-4FA1-9DAE-47C545DD5437}" destId="{646D8DF3-0B7E-441F-89D5-D10107FCBDC3}" srcOrd="0" destOrd="0" presId="urn:microsoft.com/office/officeart/2005/8/layout/default"/>
    <dgm:cxn modelId="{2ACE49A1-B06F-486B-9F76-8404B2B3941B}" srcId="{092A478B-C913-4FA1-9DAE-47C545DD5437}" destId="{34BB4874-9936-40CD-B558-D943129B31E5}" srcOrd="3" destOrd="0" parTransId="{7804A992-ECB0-4056-B45D-2C50DC7114A9}" sibTransId="{3ABBC754-8D83-4DDB-A45F-D03F4FBA82A4}"/>
    <dgm:cxn modelId="{D63EB6BF-8BFA-4EDD-8703-531FBA438D5E}" type="presOf" srcId="{F119F659-DDA4-4F8A-8614-E4BD2BD450CE}" destId="{DAFE76D0-AFA2-42DB-9B19-0EF426EF864B}" srcOrd="0" destOrd="0" presId="urn:microsoft.com/office/officeart/2005/8/layout/default"/>
    <dgm:cxn modelId="{534C38D4-AB16-4475-9DBF-44FF13468814}" srcId="{092A478B-C913-4FA1-9DAE-47C545DD5437}" destId="{7362188C-B93D-48B1-AF3D-E2ECD1348815}" srcOrd="0" destOrd="0" parTransId="{70B3344C-13D9-4DFF-B528-A171803FC44A}" sibTransId="{EFF8B685-197C-4C66-A774-B24BFC432D6B}"/>
    <dgm:cxn modelId="{89CAFED8-0029-405B-BB74-518E252F9441}" type="presOf" srcId="{7362188C-B93D-48B1-AF3D-E2ECD1348815}" destId="{1999E843-2A96-4724-B86E-1ED0C25BB2B8}" srcOrd="0" destOrd="0" presId="urn:microsoft.com/office/officeart/2005/8/layout/default"/>
    <dgm:cxn modelId="{CC1C06F3-38E8-42D6-BFFB-873385E9B4F3}" type="presOf" srcId="{B70A30FE-77E1-4B8D-896A-F1F2C0EEF472}" destId="{304AEEAF-AA6A-4CBF-A315-5F0D8D512F89}" srcOrd="0" destOrd="0" presId="urn:microsoft.com/office/officeart/2005/8/layout/default"/>
    <dgm:cxn modelId="{3E0C5035-5DF2-4EA2-9292-E2C8E645D7C5}" type="presParOf" srcId="{646D8DF3-0B7E-441F-89D5-D10107FCBDC3}" destId="{1999E843-2A96-4724-B86E-1ED0C25BB2B8}" srcOrd="0" destOrd="0" presId="urn:microsoft.com/office/officeart/2005/8/layout/default"/>
    <dgm:cxn modelId="{7D0B6178-DB10-4EBB-8654-6AA387096C6A}" type="presParOf" srcId="{646D8DF3-0B7E-441F-89D5-D10107FCBDC3}" destId="{98F29FCE-D1E7-485C-90A6-2AF73669BEFF}" srcOrd="1" destOrd="0" presId="urn:microsoft.com/office/officeart/2005/8/layout/default"/>
    <dgm:cxn modelId="{7D55B957-0A05-4D0B-966D-C78A313FD0DA}" type="presParOf" srcId="{646D8DF3-0B7E-441F-89D5-D10107FCBDC3}" destId="{DAFE76D0-AFA2-42DB-9B19-0EF426EF864B}" srcOrd="2" destOrd="0" presId="urn:microsoft.com/office/officeart/2005/8/layout/default"/>
    <dgm:cxn modelId="{D351870D-1649-4032-8C85-EAD153B5EF2A}" type="presParOf" srcId="{646D8DF3-0B7E-441F-89D5-D10107FCBDC3}" destId="{14BEE76E-D994-41C3-A073-57C941B60EF0}" srcOrd="3" destOrd="0" presId="urn:microsoft.com/office/officeart/2005/8/layout/default"/>
    <dgm:cxn modelId="{76B7DA48-2EC2-4314-AD8C-95ACF5CF76D4}" type="presParOf" srcId="{646D8DF3-0B7E-441F-89D5-D10107FCBDC3}" destId="{E9BFACA6-FB88-41F3-8E74-380DAF20BBAE}" srcOrd="4" destOrd="0" presId="urn:microsoft.com/office/officeart/2005/8/layout/default"/>
    <dgm:cxn modelId="{0B56A99D-76DD-4CAE-AC14-53EA07FFDFDE}" type="presParOf" srcId="{646D8DF3-0B7E-441F-89D5-D10107FCBDC3}" destId="{5F7F359E-B9F3-44DC-8237-FCE0A8B51985}" srcOrd="5" destOrd="0" presId="urn:microsoft.com/office/officeart/2005/8/layout/default"/>
    <dgm:cxn modelId="{A053DCE4-7B59-4A8A-82FB-E7DFDE8781EF}" type="presParOf" srcId="{646D8DF3-0B7E-441F-89D5-D10107FCBDC3}" destId="{789CECEA-6F72-44E0-B278-7FE9EDFF6548}" srcOrd="6" destOrd="0" presId="urn:microsoft.com/office/officeart/2005/8/layout/default"/>
    <dgm:cxn modelId="{45842F20-DF5B-4E76-B32A-C5A8805FE976}" type="presParOf" srcId="{646D8DF3-0B7E-441F-89D5-D10107FCBDC3}" destId="{E1C60D83-7555-495C-AD95-7CA338A23869}" srcOrd="7" destOrd="0" presId="urn:microsoft.com/office/officeart/2005/8/layout/default"/>
    <dgm:cxn modelId="{0104D689-C8AA-4F00-9096-10D45D898E09}" type="presParOf" srcId="{646D8DF3-0B7E-441F-89D5-D10107FCBDC3}" destId="{0AC262F9-CC4D-46F3-9D48-F0DE6C77696A}" srcOrd="8" destOrd="0" presId="urn:microsoft.com/office/officeart/2005/8/layout/default"/>
    <dgm:cxn modelId="{39A7CB49-0EC1-4194-9F2B-3FA602CB0F84}" type="presParOf" srcId="{646D8DF3-0B7E-441F-89D5-D10107FCBDC3}" destId="{1DA877D5-0F34-4CAF-8C6B-1B19296ACC10}" srcOrd="9" destOrd="0" presId="urn:microsoft.com/office/officeart/2005/8/layout/default"/>
    <dgm:cxn modelId="{C424AAB0-8218-428E-9BA1-DA48F13190FC}" type="presParOf" srcId="{646D8DF3-0B7E-441F-89D5-D10107FCBDC3}" destId="{304AEEAF-AA6A-4CBF-A315-5F0D8D512F89}" srcOrd="1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20D2AF-E320-4784-83F3-F656BB088E41}" type="doc">
      <dgm:prSet loTypeId="urn:microsoft.com/office/officeart/2005/8/layout/hList1" loCatId="list" qsTypeId="urn:microsoft.com/office/officeart/2005/8/quickstyle/simple1" qsCatId="simple" csTypeId="urn:microsoft.com/office/officeart/2005/8/colors/accent0_1" csCatId="mainScheme" phldr="1"/>
      <dgm:spPr/>
      <dgm:t>
        <a:bodyPr/>
        <a:lstStyle/>
        <a:p>
          <a:endParaRPr lang="en-GB"/>
        </a:p>
      </dgm:t>
    </dgm:pt>
    <dgm:pt modelId="{1942CB47-5517-4B92-A61D-464E4F40CDBB}">
      <dgm:prSet phldrT="[Text]" custT="1"/>
      <dgm:spPr>
        <a:solidFill>
          <a:schemeClr val="accent1">
            <a:lumMod val="40000"/>
            <a:lumOff val="60000"/>
          </a:schemeClr>
        </a:solidFill>
        <a:ln>
          <a:solidFill>
            <a:srgbClr val="0070C0"/>
          </a:solidFill>
        </a:ln>
      </dgm:spPr>
      <dgm:t>
        <a:bodyPr/>
        <a:lstStyle/>
        <a:p>
          <a:r>
            <a:rPr lang="en-GB" sz="7200">
              <a:latin typeface="Arial" panose="020B0604020202020204" pitchFamily="34" charset="0"/>
              <a:cs typeface="Arial" panose="020B0604020202020204" pitchFamily="34" charset="0"/>
            </a:rPr>
            <a:t>Graduate Programmes</a:t>
          </a:r>
          <a:endParaRPr lang="en-GB" sz="7200"/>
        </a:p>
      </dgm:t>
    </dgm:pt>
    <dgm:pt modelId="{468AA1BD-9FAE-4BA8-A41E-722181F07742}" type="parTrans" cxnId="{4C3477DB-335F-4C2B-AFFB-4026A00A93E5}">
      <dgm:prSet/>
      <dgm:spPr/>
      <dgm:t>
        <a:bodyPr/>
        <a:lstStyle/>
        <a:p>
          <a:endParaRPr lang="en-GB"/>
        </a:p>
      </dgm:t>
    </dgm:pt>
    <dgm:pt modelId="{7DB4B5E4-6A35-4667-8E5D-AAF33AFAFFC5}" type="sibTrans" cxnId="{4C3477DB-335F-4C2B-AFFB-4026A00A93E5}">
      <dgm:prSet/>
      <dgm:spPr/>
      <dgm:t>
        <a:bodyPr/>
        <a:lstStyle/>
        <a:p>
          <a:endParaRPr lang="en-GB"/>
        </a:p>
      </dgm:t>
    </dgm:pt>
    <dgm:pt modelId="{1E71F055-D1A1-4046-A6FD-A9FB27A860E7}">
      <dgm:prSet phldrT="[Text]" custT="1"/>
      <dgm:spPr/>
      <dgm:t>
        <a:bodyPr/>
        <a:lstStyle/>
        <a:p>
          <a:pPr marL="635000" indent="-635000" algn="l">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1"/>
            </a:rPr>
            <a:t>The Civil Service fast stream, UK Government</a:t>
          </a:r>
          <a:endParaRPr lang="en-GB" sz="5400">
            <a:latin typeface="Arial" panose="020B0604020202020204" pitchFamily="34" charset="0"/>
            <a:cs typeface="Arial" panose="020B0604020202020204" pitchFamily="34" charset="0"/>
          </a:endParaRPr>
        </a:p>
      </dgm:t>
    </dgm:pt>
    <dgm:pt modelId="{FD886A4F-B050-4DC9-84FC-63328308619F}" type="parTrans" cxnId="{BB5A1E24-375C-4B15-BA8F-F4F9BF5DDDC1}">
      <dgm:prSet/>
      <dgm:spPr/>
      <dgm:t>
        <a:bodyPr/>
        <a:lstStyle/>
        <a:p>
          <a:endParaRPr lang="en-GB"/>
        </a:p>
      </dgm:t>
    </dgm:pt>
    <dgm:pt modelId="{3A9EEE45-2F0D-438E-BFE0-94441FCBC56C}" type="sibTrans" cxnId="{BB5A1E24-375C-4B15-BA8F-F4F9BF5DDDC1}">
      <dgm:prSet/>
      <dgm:spPr/>
      <dgm:t>
        <a:bodyPr/>
        <a:lstStyle/>
        <a:p>
          <a:endParaRPr lang="en-GB"/>
        </a:p>
      </dgm:t>
    </dgm:pt>
    <dgm:pt modelId="{DBB0A5F8-3B5B-42E5-85ED-D1964154AC33}">
      <dgm:prSet phldrT="[Text]" custT="1"/>
      <dgm:spPr/>
      <dgm:t>
        <a:bodyPr/>
        <a:lstStyle/>
        <a:p>
          <a:pPr marL="635000" indent="-635000" algn="l">
            <a:buFont typeface="System Font Regular"/>
            <a:buChar char="-"/>
            <a:tabLst/>
          </a:pPr>
          <a:r>
            <a:rPr lang="en-GB" sz="5400">
              <a:latin typeface="Arial" panose="020B0604020202020204" pitchFamily="34" charset="0"/>
              <a:cs typeface="Arial" panose="020B0604020202020204" pitchFamily="34" charset="0"/>
            </a:rPr>
            <a:t>NHS Graduate Management Training Scheme (</a:t>
          </a:r>
          <a:r>
            <a:rPr lang="en-GB" sz="5400">
              <a:latin typeface="Arial" panose="020B0604020202020204" pitchFamily="34" charset="0"/>
              <a:cs typeface="Arial" panose="020B0604020202020204" pitchFamily="34" charset="0"/>
              <a:hlinkClick xmlns:r="http://schemas.openxmlformats.org/officeDocument/2006/relationships" r:id="rId2"/>
            </a:rPr>
            <a:t>Health Informatics</a:t>
          </a:r>
          <a:r>
            <a:rPr lang="en-GB" sz="5400">
              <a:latin typeface="Arial" panose="020B0604020202020204" pitchFamily="34" charset="0"/>
              <a:cs typeface="Arial" panose="020B0604020202020204" pitchFamily="34" charset="0"/>
            </a:rPr>
            <a:t>)</a:t>
          </a:r>
        </a:p>
      </dgm:t>
    </dgm:pt>
    <dgm:pt modelId="{1EE7BB5D-DF3E-4143-9EF2-D2FBD0C83C02}" type="parTrans" cxnId="{2FC6FCA6-515D-434A-855A-17387CF9493C}">
      <dgm:prSet/>
      <dgm:spPr/>
      <dgm:t>
        <a:bodyPr/>
        <a:lstStyle/>
        <a:p>
          <a:endParaRPr lang="en-GB"/>
        </a:p>
      </dgm:t>
    </dgm:pt>
    <dgm:pt modelId="{B7607762-FB1A-486F-BF06-5BBE6BD8BF41}" type="sibTrans" cxnId="{2FC6FCA6-515D-434A-855A-17387CF9493C}">
      <dgm:prSet/>
      <dgm:spPr/>
      <dgm:t>
        <a:bodyPr/>
        <a:lstStyle/>
        <a:p>
          <a:endParaRPr lang="en-GB"/>
        </a:p>
      </dgm:t>
    </dgm:pt>
    <dgm:pt modelId="{F709E4AE-AC49-4395-9E76-5D2BC258A7C3}">
      <dgm:prSet phldrT="[Text]" custT="1"/>
      <dgm:spPr>
        <a:solidFill>
          <a:schemeClr val="accent1">
            <a:lumMod val="40000"/>
            <a:lumOff val="60000"/>
          </a:schemeClr>
        </a:solidFill>
      </dgm:spPr>
      <dgm:t>
        <a:bodyPr/>
        <a:lstStyle/>
        <a:p>
          <a:r>
            <a:rPr lang="en-GB" sz="7200">
              <a:latin typeface="Arial" panose="020B0604020202020204" pitchFamily="34" charset="0"/>
              <a:cs typeface="Arial" panose="020B0604020202020204" pitchFamily="34" charset="0"/>
            </a:rPr>
            <a:t>Internships and placements</a:t>
          </a:r>
        </a:p>
      </dgm:t>
    </dgm:pt>
    <dgm:pt modelId="{3432F97A-FD62-490B-9912-4220223E64AE}" type="parTrans" cxnId="{7AC4B571-079D-4AE4-92C5-314B0F794A9D}">
      <dgm:prSet/>
      <dgm:spPr/>
      <dgm:t>
        <a:bodyPr/>
        <a:lstStyle/>
        <a:p>
          <a:endParaRPr lang="en-GB"/>
        </a:p>
      </dgm:t>
    </dgm:pt>
    <dgm:pt modelId="{7AAD5850-82D4-4C7E-A175-6A8A256E640F}" type="sibTrans" cxnId="{7AC4B571-079D-4AE4-92C5-314B0F794A9D}">
      <dgm:prSet/>
      <dgm:spPr/>
      <dgm:t>
        <a:bodyPr/>
        <a:lstStyle/>
        <a:p>
          <a:endParaRPr lang="en-GB"/>
        </a:p>
      </dgm:t>
    </dgm:pt>
    <dgm:pt modelId="{39160AC4-B779-4B01-B857-7680AB7C63F0}">
      <dgm:prSet phldrT="[Text]" custT="1"/>
      <dgm:spPr/>
      <dgm:t>
        <a:bodyPr/>
        <a:lstStyle/>
        <a:p>
          <a:pPr marL="387350" indent="-387350">
            <a:buFont typeface="System Font Regular"/>
            <a:buChar char="-"/>
            <a:tabLst/>
          </a:pPr>
          <a:r>
            <a:rPr lang="en-GB" sz="5400">
              <a:latin typeface="Arial" panose="020B0604020202020204" pitchFamily="34" charset="0"/>
              <a:cs typeface="Arial" panose="020B0604020202020204" pitchFamily="34" charset="0"/>
            </a:rPr>
            <a:t>Summer Placements</a:t>
          </a:r>
        </a:p>
      </dgm:t>
    </dgm:pt>
    <dgm:pt modelId="{9C6D5518-CC91-4FE1-B71B-FDA74F54A2FC}" type="parTrans" cxnId="{F3C9A897-8A4F-45B0-8037-52DE74969771}">
      <dgm:prSet/>
      <dgm:spPr/>
      <dgm:t>
        <a:bodyPr/>
        <a:lstStyle/>
        <a:p>
          <a:endParaRPr lang="en-GB"/>
        </a:p>
      </dgm:t>
    </dgm:pt>
    <dgm:pt modelId="{D43172B0-D811-4112-BA4B-D69AE4082E7C}" type="sibTrans" cxnId="{F3C9A897-8A4F-45B0-8037-52DE74969771}">
      <dgm:prSet/>
      <dgm:spPr/>
      <dgm:t>
        <a:bodyPr/>
        <a:lstStyle/>
        <a:p>
          <a:endParaRPr lang="en-GB"/>
        </a:p>
      </dgm:t>
    </dgm:pt>
    <dgm:pt modelId="{EE620A20-5E69-42BA-9708-9A8902B8E250}">
      <dgm:prSet phldrT="[Text]" custT="1"/>
      <dgm:spPr/>
      <dgm:t>
        <a:bodyPr/>
        <a:lstStyle/>
        <a:p>
          <a:pPr marL="387350" indent="-387350">
            <a:buFont typeface="System Font Regular"/>
            <a:buChar char="-"/>
            <a:tabLst/>
          </a:pPr>
          <a:r>
            <a:rPr lang="en-GB" sz="5400">
              <a:latin typeface="Arial" panose="020B0604020202020204" pitchFamily="34" charset="0"/>
              <a:cs typeface="Arial" panose="020B0604020202020204" pitchFamily="34" charset="0"/>
            </a:rPr>
            <a:t>Internship programmes </a:t>
          </a:r>
          <a:r>
            <a:rPr lang="en-GB" sz="5400">
              <a:latin typeface="Arial" panose="020B0604020202020204" pitchFamily="34" charset="0"/>
              <a:cs typeface="Arial" panose="020B0604020202020204" pitchFamily="34" charset="0"/>
              <a:hlinkClick xmlns:r="http://schemas.openxmlformats.org/officeDocument/2006/relationships" r:id="rId3"/>
            </a:rPr>
            <a:t>‘Health Data Science Black Internship Programme’</a:t>
          </a:r>
          <a:br>
            <a:rPr lang="en-GB" sz="5400">
              <a:latin typeface="Arial" panose="020B0604020202020204" pitchFamily="34" charset="0"/>
              <a:cs typeface="Arial" panose="020B0604020202020204" pitchFamily="34" charset="0"/>
            </a:rPr>
          </a:br>
          <a:endParaRPr lang="en-GB" sz="5400">
            <a:latin typeface="Arial" panose="020B0604020202020204" pitchFamily="34" charset="0"/>
            <a:cs typeface="Arial" panose="020B0604020202020204" pitchFamily="34" charset="0"/>
          </a:endParaRPr>
        </a:p>
      </dgm:t>
    </dgm:pt>
    <dgm:pt modelId="{09644718-45E4-436A-8EF7-6728A5547FA0}" type="parTrans" cxnId="{35AE3011-50A6-4933-96C7-845B2CD73057}">
      <dgm:prSet/>
      <dgm:spPr/>
      <dgm:t>
        <a:bodyPr/>
        <a:lstStyle/>
        <a:p>
          <a:endParaRPr lang="en-GB"/>
        </a:p>
      </dgm:t>
    </dgm:pt>
    <dgm:pt modelId="{03511478-DB51-460B-B0E7-E479128827E7}" type="sibTrans" cxnId="{35AE3011-50A6-4933-96C7-845B2CD73057}">
      <dgm:prSet/>
      <dgm:spPr/>
      <dgm:t>
        <a:bodyPr/>
        <a:lstStyle/>
        <a:p>
          <a:endParaRPr lang="en-GB"/>
        </a:p>
      </dgm:t>
    </dgm:pt>
    <dgm:pt modelId="{57A35A06-6F26-4BA3-B3E5-E34E52C6C189}">
      <dgm:prSet phldrT="[Text]" custT="1"/>
      <dgm:spPr>
        <a:solidFill>
          <a:schemeClr val="accent1">
            <a:lumMod val="40000"/>
            <a:lumOff val="60000"/>
          </a:schemeClr>
        </a:solidFill>
      </dgm:spPr>
      <dgm:t>
        <a:bodyPr/>
        <a:lstStyle/>
        <a:p>
          <a:r>
            <a:rPr lang="en-GB" sz="7200">
              <a:latin typeface="Arial" panose="020B0604020202020204" pitchFamily="34" charset="0"/>
              <a:cs typeface="Arial" panose="020B0604020202020204" pitchFamily="34" charset="0"/>
            </a:rPr>
            <a:t>Direct roles</a:t>
          </a:r>
        </a:p>
      </dgm:t>
    </dgm:pt>
    <dgm:pt modelId="{55C695B8-1CC8-438D-8B44-962F01194B3F}" type="parTrans" cxnId="{43F95DDD-E307-4D29-AE4B-7D4A29A38914}">
      <dgm:prSet/>
      <dgm:spPr/>
      <dgm:t>
        <a:bodyPr/>
        <a:lstStyle/>
        <a:p>
          <a:endParaRPr lang="en-GB"/>
        </a:p>
      </dgm:t>
    </dgm:pt>
    <dgm:pt modelId="{455E7DF2-411A-49D6-B99F-2800619E71E8}" type="sibTrans" cxnId="{43F95DDD-E307-4D29-AE4B-7D4A29A38914}">
      <dgm:prSet/>
      <dgm:spPr/>
      <dgm:t>
        <a:bodyPr/>
        <a:lstStyle/>
        <a:p>
          <a:endParaRPr lang="en-GB"/>
        </a:p>
      </dgm:t>
    </dgm:pt>
    <dgm:pt modelId="{E0BB8490-F7D2-421E-BDA7-ECF0BD969961}">
      <dgm:prSet phldrT="[Text]" custT="1"/>
      <dgm:spPr/>
      <dgm:t>
        <a:bodyPr/>
        <a:lstStyle/>
        <a:p>
          <a:pPr marL="422275" indent="-422275">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4"/>
            </a:rPr>
            <a:t>Civil Service Jobs portal</a:t>
          </a:r>
          <a:endParaRPr lang="en-GB" sz="5400">
            <a:latin typeface="Arial" panose="020B0604020202020204" pitchFamily="34" charset="0"/>
            <a:cs typeface="Arial" panose="020B0604020202020204" pitchFamily="34" charset="0"/>
          </a:endParaRPr>
        </a:p>
      </dgm:t>
    </dgm:pt>
    <dgm:pt modelId="{29B0E528-F9E9-43AF-BAF5-22A957AC50B5}" type="parTrans" cxnId="{050399DE-5F3F-4F2B-95ED-22741AC7B1CE}">
      <dgm:prSet/>
      <dgm:spPr/>
      <dgm:t>
        <a:bodyPr/>
        <a:lstStyle/>
        <a:p>
          <a:endParaRPr lang="en-GB"/>
        </a:p>
      </dgm:t>
    </dgm:pt>
    <dgm:pt modelId="{9DE0DA54-E186-46AE-BFE5-11427CA2BB2E}" type="sibTrans" cxnId="{050399DE-5F3F-4F2B-95ED-22741AC7B1CE}">
      <dgm:prSet/>
      <dgm:spPr/>
      <dgm:t>
        <a:bodyPr/>
        <a:lstStyle/>
        <a:p>
          <a:endParaRPr lang="en-GB"/>
        </a:p>
      </dgm:t>
    </dgm:pt>
    <dgm:pt modelId="{4DF43639-EFF7-4DDF-92A9-F91124A7CB38}">
      <dgm:prSet phldrT="[Text]" custT="1"/>
      <dgm:spPr/>
      <dgm:t>
        <a:bodyPr/>
        <a:lstStyle/>
        <a:p>
          <a:pPr marL="422275" indent="-422275">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5"/>
            </a:rPr>
            <a:t>Central NHS England </a:t>
          </a:r>
          <a:r>
            <a:rPr lang="en-GB" sz="5400">
              <a:latin typeface="Arial" panose="020B0604020202020204" pitchFamily="34" charset="0"/>
              <a:cs typeface="Arial" panose="020B0604020202020204" pitchFamily="34" charset="0"/>
            </a:rPr>
            <a:t>or NHS Trusts (visit each Trust website separately)</a:t>
          </a:r>
        </a:p>
      </dgm:t>
    </dgm:pt>
    <dgm:pt modelId="{83E30963-CADB-4079-9891-D0EB5A1014C4}" type="parTrans" cxnId="{892E0677-5264-4271-A1F7-95D778FA1EB2}">
      <dgm:prSet/>
      <dgm:spPr/>
      <dgm:t>
        <a:bodyPr/>
        <a:lstStyle/>
        <a:p>
          <a:endParaRPr lang="en-GB"/>
        </a:p>
      </dgm:t>
    </dgm:pt>
    <dgm:pt modelId="{367BFD24-7FEC-4F02-BC25-0C8856AB09C2}" type="sibTrans" cxnId="{892E0677-5264-4271-A1F7-95D778FA1EB2}">
      <dgm:prSet/>
      <dgm:spPr/>
      <dgm:t>
        <a:bodyPr/>
        <a:lstStyle/>
        <a:p>
          <a:endParaRPr lang="en-GB"/>
        </a:p>
      </dgm:t>
    </dgm:pt>
    <dgm:pt modelId="{E7684769-40CE-48A4-9CF9-288912A334F7}">
      <dgm:prSet phldrT="[Text]" custT="1"/>
      <dgm:spPr/>
      <dgm:t>
        <a:bodyPr/>
        <a:lstStyle/>
        <a:p>
          <a:pPr marL="422275" indent="-422275">
            <a:buFont typeface="System Font Regular"/>
            <a:buChar char="-"/>
            <a:tabLst/>
          </a:pPr>
          <a:endParaRPr lang="en-GB" sz="5400">
            <a:latin typeface="Arial" panose="020B0604020202020204" pitchFamily="34" charset="0"/>
            <a:cs typeface="Arial" panose="020B0604020202020204" pitchFamily="34" charset="0"/>
          </a:endParaRPr>
        </a:p>
      </dgm:t>
    </dgm:pt>
    <dgm:pt modelId="{B32D2E11-B1CC-433A-9081-294A3567CEF7}" type="parTrans" cxnId="{B356566F-E8F1-41DC-8E24-BEBE4A14F91E}">
      <dgm:prSet/>
      <dgm:spPr/>
      <dgm:t>
        <a:bodyPr/>
        <a:lstStyle/>
        <a:p>
          <a:endParaRPr lang="en-GB"/>
        </a:p>
      </dgm:t>
    </dgm:pt>
    <dgm:pt modelId="{3009DC2C-1FCE-4F56-92EF-DF12F863D765}" type="sibTrans" cxnId="{B356566F-E8F1-41DC-8E24-BEBE4A14F91E}">
      <dgm:prSet/>
      <dgm:spPr/>
      <dgm:t>
        <a:bodyPr/>
        <a:lstStyle/>
        <a:p>
          <a:endParaRPr lang="en-GB"/>
        </a:p>
      </dgm:t>
    </dgm:pt>
    <dgm:pt modelId="{F47D277C-CA52-426D-870A-D3C609F0A722}">
      <dgm:prSet phldrT="[Text]" custT="1"/>
      <dgm:spPr/>
      <dgm:t>
        <a:bodyPr/>
        <a:lstStyle/>
        <a:p>
          <a:pPr marL="387350" indent="-387350">
            <a:buFont typeface="System Font Regular"/>
            <a:buChar char="-"/>
            <a:tabLst/>
          </a:pPr>
          <a:endParaRPr lang="en-GB" sz="5400">
            <a:latin typeface="Arial" panose="020B0604020202020204" pitchFamily="34" charset="0"/>
            <a:cs typeface="Arial" panose="020B0604020202020204" pitchFamily="34" charset="0"/>
          </a:endParaRPr>
        </a:p>
      </dgm:t>
    </dgm:pt>
    <dgm:pt modelId="{D7635175-5801-4425-B24A-F6396A2BEC13}" type="parTrans" cxnId="{0CC30684-E329-4AB7-900D-2DA359E9BF1F}">
      <dgm:prSet/>
      <dgm:spPr/>
      <dgm:t>
        <a:bodyPr/>
        <a:lstStyle/>
        <a:p>
          <a:endParaRPr lang="en-GB"/>
        </a:p>
      </dgm:t>
    </dgm:pt>
    <dgm:pt modelId="{BF9834A4-CC3F-4944-8CF8-E63D3BCCC581}" type="sibTrans" cxnId="{0CC30684-E329-4AB7-900D-2DA359E9BF1F}">
      <dgm:prSet/>
      <dgm:spPr/>
      <dgm:t>
        <a:bodyPr/>
        <a:lstStyle/>
        <a:p>
          <a:endParaRPr lang="en-GB"/>
        </a:p>
      </dgm:t>
    </dgm:pt>
    <dgm:pt modelId="{59CEAC13-64C1-4C64-BCA5-985D6657C3CB}">
      <dgm:prSet phldrT="[Text]" custT="1"/>
      <dgm:spPr/>
      <dgm:t>
        <a:bodyPr/>
        <a:lstStyle/>
        <a:p>
          <a:pPr marL="635000" indent="-635000" algn="l">
            <a:buFont typeface="System Font Regular"/>
            <a:buChar char="-"/>
            <a:tabLst/>
          </a:pPr>
          <a:endParaRPr lang="en-GB" sz="5400">
            <a:latin typeface="Arial" panose="020B0604020202020204" pitchFamily="34" charset="0"/>
            <a:cs typeface="Arial" panose="020B0604020202020204" pitchFamily="34" charset="0"/>
          </a:endParaRPr>
        </a:p>
      </dgm:t>
    </dgm:pt>
    <dgm:pt modelId="{D1965D72-2EA5-46F7-B323-07E0E9D78120}" type="parTrans" cxnId="{9BC94AF8-112F-45E1-86F7-9C788D61457A}">
      <dgm:prSet/>
      <dgm:spPr/>
      <dgm:t>
        <a:bodyPr/>
        <a:lstStyle/>
        <a:p>
          <a:endParaRPr lang="en-GB"/>
        </a:p>
      </dgm:t>
    </dgm:pt>
    <dgm:pt modelId="{AD75BEC7-A81B-4B45-9B96-133254B6ED28}" type="sibTrans" cxnId="{9BC94AF8-112F-45E1-86F7-9C788D61457A}">
      <dgm:prSet/>
      <dgm:spPr/>
      <dgm:t>
        <a:bodyPr/>
        <a:lstStyle/>
        <a:p>
          <a:endParaRPr lang="en-GB"/>
        </a:p>
      </dgm:t>
    </dgm:pt>
    <dgm:pt modelId="{DFD41031-1D55-4406-80E9-1680DC30643A}">
      <dgm:prSet phldrT="[Text]" custT="1"/>
      <dgm:spPr/>
      <dgm:t>
        <a:bodyPr/>
        <a:lstStyle/>
        <a:p>
          <a:pPr marL="422275" indent="-422275">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6"/>
            </a:rPr>
            <a:t>The Alan Turing Institute</a:t>
          </a:r>
          <a:endParaRPr lang="en-GB" sz="5400">
            <a:latin typeface="Arial" panose="020B0604020202020204" pitchFamily="34" charset="0"/>
            <a:cs typeface="Arial" panose="020B0604020202020204" pitchFamily="34" charset="0"/>
          </a:endParaRPr>
        </a:p>
      </dgm:t>
    </dgm:pt>
    <dgm:pt modelId="{6D5306AD-4D4A-44DB-9BC6-488F5D18D89B}" type="parTrans" cxnId="{EEDBA781-CD8F-4AC6-BD74-DBE6E3753F38}">
      <dgm:prSet/>
      <dgm:spPr/>
      <dgm:t>
        <a:bodyPr/>
        <a:lstStyle/>
        <a:p>
          <a:endParaRPr lang="en-GB"/>
        </a:p>
      </dgm:t>
    </dgm:pt>
    <dgm:pt modelId="{E6C301C7-7084-46D9-9D43-4F82645837C4}" type="sibTrans" cxnId="{EEDBA781-CD8F-4AC6-BD74-DBE6E3753F38}">
      <dgm:prSet/>
      <dgm:spPr/>
      <dgm:t>
        <a:bodyPr/>
        <a:lstStyle/>
        <a:p>
          <a:endParaRPr lang="en-GB"/>
        </a:p>
      </dgm:t>
    </dgm:pt>
    <dgm:pt modelId="{9D1F1295-43DA-4527-810D-7B66ADE0F17F}">
      <dgm:prSet phldrT="[Text]" custT="1"/>
      <dgm:spPr/>
      <dgm:t>
        <a:bodyPr/>
        <a:lstStyle/>
        <a:p>
          <a:pPr marL="422275" indent="-422275">
            <a:buFont typeface="System Font Regular"/>
            <a:buChar char="-"/>
            <a:tabLst/>
          </a:pPr>
          <a:endParaRPr lang="en-GB" sz="5400">
            <a:latin typeface="Arial" panose="020B0604020202020204" pitchFamily="34" charset="0"/>
            <a:cs typeface="Arial" panose="020B0604020202020204" pitchFamily="34" charset="0"/>
          </a:endParaRPr>
        </a:p>
      </dgm:t>
    </dgm:pt>
    <dgm:pt modelId="{40895FE6-1148-494E-8518-AFC2F0C15834}" type="parTrans" cxnId="{9A991944-0B30-4668-8AE5-4BF59C9ADA2F}">
      <dgm:prSet/>
      <dgm:spPr/>
      <dgm:t>
        <a:bodyPr/>
        <a:lstStyle/>
        <a:p>
          <a:endParaRPr lang="en-GB"/>
        </a:p>
      </dgm:t>
    </dgm:pt>
    <dgm:pt modelId="{8B7436F3-F9BB-499A-A858-D7F99F62A7FD}" type="sibTrans" cxnId="{9A991944-0B30-4668-8AE5-4BF59C9ADA2F}">
      <dgm:prSet/>
      <dgm:spPr/>
      <dgm:t>
        <a:bodyPr/>
        <a:lstStyle/>
        <a:p>
          <a:endParaRPr lang="en-GB"/>
        </a:p>
      </dgm:t>
    </dgm:pt>
    <dgm:pt modelId="{A5583426-1500-430D-BAE5-E2E8F0C6A108}">
      <dgm:prSet phldrT="[Text]" custT="1"/>
      <dgm:spPr>
        <a:solidFill>
          <a:schemeClr val="accent1">
            <a:lumMod val="40000"/>
            <a:lumOff val="60000"/>
          </a:schemeClr>
        </a:solidFill>
      </dgm:spPr>
      <dgm:t>
        <a:bodyPr/>
        <a:lstStyle/>
        <a:p>
          <a:r>
            <a:rPr lang="en-GB" sz="7200">
              <a:latin typeface="Arial" panose="020B0604020202020204" pitchFamily="34" charset="0"/>
              <a:cs typeface="Arial" panose="020B0604020202020204" pitchFamily="34" charset="0"/>
            </a:rPr>
            <a:t>Academic roles</a:t>
          </a:r>
        </a:p>
      </dgm:t>
    </dgm:pt>
    <dgm:pt modelId="{3303680C-69A2-4DB8-90B0-4E98063D93FE}" type="parTrans" cxnId="{B1C7B302-B3B3-4224-BAFB-FFE447256B96}">
      <dgm:prSet/>
      <dgm:spPr/>
      <dgm:t>
        <a:bodyPr/>
        <a:lstStyle/>
        <a:p>
          <a:endParaRPr lang="en-GB"/>
        </a:p>
      </dgm:t>
    </dgm:pt>
    <dgm:pt modelId="{C294789E-14FC-4C3D-AD88-A12EB89719BA}" type="sibTrans" cxnId="{B1C7B302-B3B3-4224-BAFB-FFE447256B96}">
      <dgm:prSet/>
      <dgm:spPr/>
      <dgm:t>
        <a:bodyPr/>
        <a:lstStyle/>
        <a:p>
          <a:endParaRPr lang="en-GB"/>
        </a:p>
      </dgm:t>
    </dgm:pt>
    <dgm:pt modelId="{1855278A-C840-40D0-8725-E7896063BB2F}">
      <dgm:prSet phldrT="[Text]" custT="1"/>
      <dgm:spPr/>
      <dgm:t>
        <a:bodyPr/>
        <a:lstStyle/>
        <a:p>
          <a:pPr marL="493713" indent="-493713">
            <a:buFont typeface="System Font Regular"/>
            <a:buChar char="-"/>
            <a:tabLst/>
          </a:pPr>
          <a:r>
            <a:rPr lang="en-GB" sz="5400">
              <a:latin typeface="Arial" panose="020B0604020202020204" pitchFamily="34" charset="0"/>
              <a:cs typeface="Arial" panose="020B0604020202020204" pitchFamily="34" charset="0"/>
            </a:rPr>
            <a:t>Research assistants (Masters)</a:t>
          </a:r>
        </a:p>
      </dgm:t>
    </dgm:pt>
    <dgm:pt modelId="{0AA43BA8-2CC5-4CA9-8454-90143B23DD70}" type="parTrans" cxnId="{4E34EED6-49A1-436C-B24D-CFD75B39D28C}">
      <dgm:prSet/>
      <dgm:spPr/>
      <dgm:t>
        <a:bodyPr/>
        <a:lstStyle/>
        <a:p>
          <a:endParaRPr lang="en-GB"/>
        </a:p>
      </dgm:t>
    </dgm:pt>
    <dgm:pt modelId="{DAB9F393-B759-4777-8438-485EB661A312}" type="sibTrans" cxnId="{4E34EED6-49A1-436C-B24D-CFD75B39D28C}">
      <dgm:prSet/>
      <dgm:spPr/>
      <dgm:t>
        <a:bodyPr/>
        <a:lstStyle/>
        <a:p>
          <a:endParaRPr lang="en-GB"/>
        </a:p>
      </dgm:t>
    </dgm:pt>
    <dgm:pt modelId="{734FC551-ECB5-4BFA-BF38-F6BE58CB151C}">
      <dgm:prSet phldrT="[Text]" custT="1"/>
      <dgm:spPr/>
      <dgm:t>
        <a:bodyPr/>
        <a:lstStyle/>
        <a:p>
          <a:pPr marL="493713" indent="-493713">
            <a:buFont typeface="System Font Regular"/>
            <a:buChar char="-"/>
            <a:tabLst/>
          </a:pPr>
          <a:r>
            <a:rPr lang="en-GB" sz="5400">
              <a:latin typeface="Arial" panose="020B0604020202020204" pitchFamily="34" charset="0"/>
              <a:cs typeface="Arial" panose="020B0604020202020204" pitchFamily="34" charset="0"/>
            </a:rPr>
            <a:t>Research Associates (PhD)</a:t>
          </a:r>
        </a:p>
      </dgm:t>
    </dgm:pt>
    <dgm:pt modelId="{48C52E4D-B6A8-444A-91F4-88B3A4106B91}" type="parTrans" cxnId="{DD4EFA14-6905-44D6-A390-29E12773FF08}">
      <dgm:prSet/>
      <dgm:spPr/>
      <dgm:t>
        <a:bodyPr/>
        <a:lstStyle/>
        <a:p>
          <a:endParaRPr lang="en-GB"/>
        </a:p>
      </dgm:t>
    </dgm:pt>
    <dgm:pt modelId="{DB828797-BAFA-4855-851F-8C37245F93FF}" type="sibTrans" cxnId="{DD4EFA14-6905-44D6-A390-29E12773FF08}">
      <dgm:prSet/>
      <dgm:spPr/>
      <dgm:t>
        <a:bodyPr/>
        <a:lstStyle/>
        <a:p>
          <a:endParaRPr lang="en-GB"/>
        </a:p>
      </dgm:t>
    </dgm:pt>
    <dgm:pt modelId="{5B825A93-C8F2-43AE-BE85-2B623BB3C248}">
      <dgm:prSet phldrT="[Text]" custT="1"/>
      <dgm:spPr/>
      <dgm:t>
        <a:bodyPr/>
        <a:lstStyle/>
        <a:p>
          <a:pPr marL="493713" indent="-493713">
            <a:buFont typeface="System Font Regular"/>
            <a:buChar char="-"/>
            <a:tabLst/>
          </a:pPr>
          <a:endParaRPr lang="en-GB" sz="5400">
            <a:latin typeface="Arial" panose="020B0604020202020204" pitchFamily="34" charset="0"/>
            <a:cs typeface="Arial" panose="020B0604020202020204" pitchFamily="34" charset="0"/>
          </a:endParaRPr>
        </a:p>
      </dgm:t>
    </dgm:pt>
    <dgm:pt modelId="{E01FF3F4-8A48-4F4F-8C55-86664DE9458F}" type="parTrans" cxnId="{918DBA9C-F0D2-42C8-91AE-EEE6B5837B69}">
      <dgm:prSet/>
      <dgm:spPr/>
      <dgm:t>
        <a:bodyPr/>
        <a:lstStyle/>
        <a:p>
          <a:endParaRPr lang="en-GB"/>
        </a:p>
      </dgm:t>
    </dgm:pt>
    <dgm:pt modelId="{EAD96F35-0E46-4DB8-B548-5F101F0A411C}" type="sibTrans" cxnId="{918DBA9C-F0D2-42C8-91AE-EEE6B5837B69}">
      <dgm:prSet/>
      <dgm:spPr/>
      <dgm:t>
        <a:bodyPr/>
        <a:lstStyle/>
        <a:p>
          <a:endParaRPr lang="en-GB"/>
        </a:p>
      </dgm:t>
    </dgm:pt>
    <dgm:pt modelId="{CF5C4243-C90E-49C9-B6C9-CD7E4F95D6FA}">
      <dgm:prSet phldrT="[Text]" custT="1"/>
      <dgm:spPr/>
      <dgm:t>
        <a:bodyPr/>
        <a:lstStyle/>
        <a:p>
          <a:pPr marL="387350" indent="-387350">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7"/>
            </a:rPr>
            <a:t>Civil Service Care Leavers Internship Scheme</a:t>
          </a:r>
          <a:br>
            <a:rPr lang="en-GB" sz="5400">
              <a:latin typeface="Arial" panose="020B0604020202020204" pitchFamily="34" charset="0"/>
              <a:cs typeface="Arial" panose="020B0604020202020204" pitchFamily="34" charset="0"/>
            </a:rPr>
          </a:br>
          <a:endParaRPr lang="en-GB" sz="5400">
            <a:latin typeface="Arial" panose="020B0604020202020204" pitchFamily="34" charset="0"/>
            <a:cs typeface="Arial" panose="020B0604020202020204" pitchFamily="34" charset="0"/>
          </a:endParaRPr>
        </a:p>
      </dgm:t>
    </dgm:pt>
    <dgm:pt modelId="{B6180393-AC0C-43E3-8C08-3685AA5BA9C8}" type="parTrans" cxnId="{B8E7B673-865A-4A9A-9EBD-F881BBE21ED4}">
      <dgm:prSet/>
      <dgm:spPr/>
      <dgm:t>
        <a:bodyPr/>
        <a:lstStyle/>
        <a:p>
          <a:endParaRPr lang="en-GB"/>
        </a:p>
      </dgm:t>
    </dgm:pt>
    <dgm:pt modelId="{8F4D140B-A47E-4A8C-90A8-26592FA8D06D}" type="sibTrans" cxnId="{B8E7B673-865A-4A9A-9EBD-F881BBE21ED4}">
      <dgm:prSet/>
      <dgm:spPr/>
      <dgm:t>
        <a:bodyPr/>
        <a:lstStyle/>
        <a:p>
          <a:endParaRPr lang="en-GB"/>
        </a:p>
      </dgm:t>
    </dgm:pt>
    <dgm:pt modelId="{38636B00-2E05-43E2-B768-B7DC22185C42}">
      <dgm:prSet phldrT="[Text]" custT="1"/>
      <dgm:spPr/>
      <dgm:t>
        <a:bodyPr/>
        <a:lstStyle/>
        <a:p>
          <a:pPr marL="387350" indent="-387350">
            <a:buFont typeface="System Font Regular"/>
            <a:buChar char="-"/>
            <a:tabLst/>
          </a:pPr>
          <a:r>
            <a:rPr lang="en-GB" sz="5400">
              <a:latin typeface="Arial" panose="020B0604020202020204" pitchFamily="34" charset="0"/>
              <a:cs typeface="Arial" panose="020B0604020202020204" pitchFamily="34" charset="0"/>
              <a:hlinkClick xmlns:r="http://schemas.openxmlformats.org/officeDocument/2006/relationships" r:id="rId8"/>
            </a:rPr>
            <a:t>Civil service fast stream internships</a:t>
          </a:r>
          <a:endParaRPr lang="en-GB" sz="5400">
            <a:latin typeface="Arial" panose="020B0604020202020204" pitchFamily="34" charset="0"/>
            <a:cs typeface="Arial" panose="020B0604020202020204" pitchFamily="34" charset="0"/>
          </a:endParaRPr>
        </a:p>
      </dgm:t>
    </dgm:pt>
    <dgm:pt modelId="{A69A4995-9C7D-46DF-AC13-D04269AB4394}" type="parTrans" cxnId="{3A792B70-38D4-41FE-83DA-9C79AE60E526}">
      <dgm:prSet/>
      <dgm:spPr/>
      <dgm:t>
        <a:bodyPr/>
        <a:lstStyle/>
        <a:p>
          <a:endParaRPr lang="en-GB"/>
        </a:p>
      </dgm:t>
    </dgm:pt>
    <dgm:pt modelId="{826AEB38-3722-4D7B-8E8C-27BC3D346E26}" type="sibTrans" cxnId="{3A792B70-38D4-41FE-83DA-9C79AE60E526}">
      <dgm:prSet/>
      <dgm:spPr/>
      <dgm:t>
        <a:bodyPr/>
        <a:lstStyle/>
        <a:p>
          <a:endParaRPr lang="en-GB"/>
        </a:p>
      </dgm:t>
    </dgm:pt>
    <dgm:pt modelId="{A3A17766-D028-49DF-BEC8-446108DBD454}" type="pres">
      <dgm:prSet presAssocID="{3420D2AF-E320-4784-83F3-F656BB088E41}" presName="Name0" presStyleCnt="0">
        <dgm:presLayoutVars>
          <dgm:dir/>
          <dgm:animLvl val="lvl"/>
          <dgm:resizeHandles val="exact"/>
        </dgm:presLayoutVars>
      </dgm:prSet>
      <dgm:spPr/>
    </dgm:pt>
    <dgm:pt modelId="{AAFAA963-418F-4D0F-B2FD-A8BE4C5854BF}" type="pres">
      <dgm:prSet presAssocID="{1942CB47-5517-4B92-A61D-464E4F40CDBB}" presName="composite" presStyleCnt="0"/>
      <dgm:spPr/>
    </dgm:pt>
    <dgm:pt modelId="{45B34B96-DC92-40EF-BB4D-D5FFC540715D}" type="pres">
      <dgm:prSet presAssocID="{1942CB47-5517-4B92-A61D-464E4F40CDBB}" presName="parTx" presStyleLbl="alignNode1" presStyleIdx="0" presStyleCnt="4" custLinFactNeighborX="-11702" custLinFactNeighborY="2939">
        <dgm:presLayoutVars>
          <dgm:chMax val="0"/>
          <dgm:chPref val="0"/>
          <dgm:bulletEnabled val="1"/>
        </dgm:presLayoutVars>
      </dgm:prSet>
      <dgm:spPr/>
    </dgm:pt>
    <dgm:pt modelId="{D07647D4-002B-47B5-AA8E-D187AB57178E}" type="pres">
      <dgm:prSet presAssocID="{1942CB47-5517-4B92-A61D-464E4F40CDBB}" presName="desTx" presStyleLbl="alignAccFollowNode1" presStyleIdx="0" presStyleCnt="4" custLinFactNeighborX="-485" custLinFactNeighborY="684">
        <dgm:presLayoutVars>
          <dgm:bulletEnabled val="1"/>
        </dgm:presLayoutVars>
      </dgm:prSet>
      <dgm:spPr/>
    </dgm:pt>
    <dgm:pt modelId="{6DA4BF7E-205A-4BC8-9C4F-BB9B02079804}" type="pres">
      <dgm:prSet presAssocID="{7DB4B5E4-6A35-4667-8E5D-AAF33AFAFFC5}" presName="space" presStyleCnt="0"/>
      <dgm:spPr/>
    </dgm:pt>
    <dgm:pt modelId="{D6F75753-A6D9-4F6F-9B41-FA83BD5A8E4F}" type="pres">
      <dgm:prSet presAssocID="{F709E4AE-AC49-4395-9E76-5D2BC258A7C3}" presName="composite" presStyleCnt="0"/>
      <dgm:spPr/>
    </dgm:pt>
    <dgm:pt modelId="{E69C8629-5FA6-4281-8071-0869449BDADE}" type="pres">
      <dgm:prSet presAssocID="{F709E4AE-AC49-4395-9E76-5D2BC258A7C3}" presName="parTx" presStyleLbl="alignNode1" presStyleIdx="1" presStyleCnt="4" custLinFactNeighborX="-369" custLinFactNeighborY="2516">
        <dgm:presLayoutVars>
          <dgm:chMax val="0"/>
          <dgm:chPref val="0"/>
          <dgm:bulletEnabled val="1"/>
        </dgm:presLayoutVars>
      </dgm:prSet>
      <dgm:spPr/>
    </dgm:pt>
    <dgm:pt modelId="{A8114F2B-CF9B-4ECF-B7BB-7F3781C92CB9}" type="pres">
      <dgm:prSet presAssocID="{F709E4AE-AC49-4395-9E76-5D2BC258A7C3}" presName="desTx" presStyleLbl="alignAccFollowNode1" presStyleIdx="1" presStyleCnt="4" custLinFactNeighborX="-319" custLinFactNeighborY="603">
        <dgm:presLayoutVars>
          <dgm:bulletEnabled val="1"/>
        </dgm:presLayoutVars>
      </dgm:prSet>
      <dgm:spPr/>
    </dgm:pt>
    <dgm:pt modelId="{280CD663-7C57-4DB9-8827-9A01041C0C01}" type="pres">
      <dgm:prSet presAssocID="{7AAD5850-82D4-4C7E-A175-6A8A256E640F}" presName="space" presStyleCnt="0"/>
      <dgm:spPr/>
    </dgm:pt>
    <dgm:pt modelId="{EA29A768-0D0C-413A-B6C9-6D5C7867C340}" type="pres">
      <dgm:prSet presAssocID="{A5583426-1500-430D-BAE5-E2E8F0C6A108}" presName="composite" presStyleCnt="0"/>
      <dgm:spPr/>
    </dgm:pt>
    <dgm:pt modelId="{AD324287-A892-4789-826A-BFEC4CDF1FFF}" type="pres">
      <dgm:prSet presAssocID="{A5583426-1500-430D-BAE5-E2E8F0C6A108}" presName="parTx" presStyleLbl="alignNode1" presStyleIdx="2" presStyleCnt="4">
        <dgm:presLayoutVars>
          <dgm:chMax val="0"/>
          <dgm:chPref val="0"/>
          <dgm:bulletEnabled val="1"/>
        </dgm:presLayoutVars>
      </dgm:prSet>
      <dgm:spPr/>
    </dgm:pt>
    <dgm:pt modelId="{55FEC92E-0CEC-4FEE-A962-FB6A3C4E4EDE}" type="pres">
      <dgm:prSet presAssocID="{A5583426-1500-430D-BAE5-E2E8F0C6A108}" presName="desTx" presStyleLbl="alignAccFollowNode1" presStyleIdx="2" presStyleCnt="4">
        <dgm:presLayoutVars>
          <dgm:bulletEnabled val="1"/>
        </dgm:presLayoutVars>
      </dgm:prSet>
      <dgm:spPr/>
    </dgm:pt>
    <dgm:pt modelId="{0190AC34-C8CA-4641-BA18-F5562E5414C2}" type="pres">
      <dgm:prSet presAssocID="{C294789E-14FC-4C3D-AD88-A12EB89719BA}" presName="space" presStyleCnt="0"/>
      <dgm:spPr/>
    </dgm:pt>
    <dgm:pt modelId="{F802484C-3634-46C5-8741-8949913C2442}" type="pres">
      <dgm:prSet presAssocID="{57A35A06-6F26-4BA3-B3E5-E34E52C6C189}" presName="composite" presStyleCnt="0"/>
      <dgm:spPr/>
    </dgm:pt>
    <dgm:pt modelId="{6ED2B6FA-A687-464E-8540-74CFF160F561}" type="pres">
      <dgm:prSet presAssocID="{57A35A06-6F26-4BA3-B3E5-E34E52C6C189}" presName="parTx" presStyleLbl="alignNode1" presStyleIdx="3" presStyleCnt="4">
        <dgm:presLayoutVars>
          <dgm:chMax val="0"/>
          <dgm:chPref val="0"/>
          <dgm:bulletEnabled val="1"/>
        </dgm:presLayoutVars>
      </dgm:prSet>
      <dgm:spPr/>
    </dgm:pt>
    <dgm:pt modelId="{D60B97A1-71BB-4720-8F4A-0EDBFB19CDFD}" type="pres">
      <dgm:prSet presAssocID="{57A35A06-6F26-4BA3-B3E5-E34E52C6C189}" presName="desTx" presStyleLbl="alignAccFollowNode1" presStyleIdx="3" presStyleCnt="4">
        <dgm:presLayoutVars>
          <dgm:bulletEnabled val="1"/>
        </dgm:presLayoutVars>
      </dgm:prSet>
      <dgm:spPr/>
    </dgm:pt>
  </dgm:ptLst>
  <dgm:cxnLst>
    <dgm:cxn modelId="{56580301-FEE7-4073-9EAE-A9354D422942}" type="presOf" srcId="{E7684769-40CE-48A4-9CF9-288912A334F7}" destId="{D60B97A1-71BB-4720-8F4A-0EDBFB19CDFD}" srcOrd="0" destOrd="3" presId="urn:microsoft.com/office/officeart/2005/8/layout/hList1"/>
    <dgm:cxn modelId="{B1C7B302-B3B3-4224-BAFB-FFE447256B96}" srcId="{3420D2AF-E320-4784-83F3-F656BB088E41}" destId="{A5583426-1500-430D-BAE5-E2E8F0C6A108}" srcOrd="2" destOrd="0" parTransId="{3303680C-69A2-4DB8-90B0-4E98063D93FE}" sibTransId="{C294789E-14FC-4C3D-AD88-A12EB89719BA}"/>
    <dgm:cxn modelId="{93B6930D-1AB7-476C-A753-FC7A9A24A02C}" type="presOf" srcId="{1942CB47-5517-4B92-A61D-464E4F40CDBB}" destId="{45B34B96-DC92-40EF-BB4D-D5FFC540715D}" srcOrd="0" destOrd="0" presId="urn:microsoft.com/office/officeart/2005/8/layout/hList1"/>
    <dgm:cxn modelId="{35AE3011-50A6-4933-96C7-845B2CD73057}" srcId="{F709E4AE-AC49-4395-9E76-5D2BC258A7C3}" destId="{EE620A20-5E69-42BA-9708-9A8902B8E250}" srcOrd="2" destOrd="0" parTransId="{09644718-45E4-436A-8EF7-6728A5547FA0}" sibTransId="{03511478-DB51-460B-B0E7-E479128827E7}"/>
    <dgm:cxn modelId="{27B0CB14-37B5-42BA-9461-A31DC5434041}" type="presOf" srcId="{1E71F055-D1A1-4046-A6FD-A9FB27A860E7}" destId="{D07647D4-002B-47B5-AA8E-D187AB57178E}" srcOrd="0" destOrd="0" presId="urn:microsoft.com/office/officeart/2005/8/layout/hList1"/>
    <dgm:cxn modelId="{DD4EFA14-6905-44D6-A390-29E12773FF08}" srcId="{A5583426-1500-430D-BAE5-E2E8F0C6A108}" destId="{734FC551-ECB5-4BFA-BF38-F6BE58CB151C}" srcOrd="2" destOrd="0" parTransId="{48C52E4D-B6A8-444A-91F4-88B3A4106B91}" sibTransId="{DB828797-BAFA-4855-851F-8C37245F93FF}"/>
    <dgm:cxn modelId="{CA80261D-C836-4D68-890A-72A09DE32F5B}" type="presOf" srcId="{DFD41031-1D55-4406-80E9-1680DC30643A}" destId="{D60B97A1-71BB-4720-8F4A-0EDBFB19CDFD}" srcOrd="0" destOrd="0" presId="urn:microsoft.com/office/officeart/2005/8/layout/hList1"/>
    <dgm:cxn modelId="{ABCF241F-CEFC-4C8A-8C1A-CE39139AC4FC}" type="presOf" srcId="{DBB0A5F8-3B5B-42E5-85ED-D1964154AC33}" destId="{D07647D4-002B-47B5-AA8E-D187AB57178E}" srcOrd="0" destOrd="2" presId="urn:microsoft.com/office/officeart/2005/8/layout/hList1"/>
    <dgm:cxn modelId="{BB5A1E24-375C-4B15-BA8F-F4F9BF5DDDC1}" srcId="{1942CB47-5517-4B92-A61D-464E4F40CDBB}" destId="{1E71F055-D1A1-4046-A6FD-A9FB27A860E7}" srcOrd="0" destOrd="0" parTransId="{FD886A4F-B050-4DC9-84FC-63328308619F}" sibTransId="{3A9EEE45-2F0D-438E-BFE0-94441FCBC56C}"/>
    <dgm:cxn modelId="{7185913E-FF1F-4F25-B398-8A4B7517E1D9}" type="presOf" srcId="{4DF43639-EFF7-4DDF-92A9-F91124A7CB38}" destId="{D60B97A1-71BB-4720-8F4A-0EDBFB19CDFD}" srcOrd="0" destOrd="4" presId="urn:microsoft.com/office/officeart/2005/8/layout/hList1"/>
    <dgm:cxn modelId="{9D7E2B5C-50EE-4B35-B732-301CC3A18B8F}" type="presOf" srcId="{3420D2AF-E320-4784-83F3-F656BB088E41}" destId="{A3A17766-D028-49DF-BEC8-446108DBD454}" srcOrd="0" destOrd="0" presId="urn:microsoft.com/office/officeart/2005/8/layout/hList1"/>
    <dgm:cxn modelId="{9A991944-0B30-4668-8AE5-4BF59C9ADA2F}" srcId="{57A35A06-6F26-4BA3-B3E5-E34E52C6C189}" destId="{9D1F1295-43DA-4527-810D-7B66ADE0F17F}" srcOrd="1" destOrd="0" parTransId="{40895FE6-1148-494E-8518-AFC2F0C15834}" sibTransId="{8B7436F3-F9BB-499A-A858-D7F99F62A7FD}"/>
    <dgm:cxn modelId="{B5DF6645-4837-4E51-8DD4-7F827A4113B8}" type="presOf" srcId="{5B825A93-C8F2-43AE-BE85-2B623BB3C248}" destId="{55FEC92E-0CEC-4FEE-A962-FB6A3C4E4EDE}" srcOrd="0" destOrd="1" presId="urn:microsoft.com/office/officeart/2005/8/layout/hList1"/>
    <dgm:cxn modelId="{AFB9B649-530C-475A-B43C-93BE7E3701BF}" type="presOf" srcId="{734FC551-ECB5-4BFA-BF38-F6BE58CB151C}" destId="{55FEC92E-0CEC-4FEE-A962-FB6A3C4E4EDE}" srcOrd="0" destOrd="2" presId="urn:microsoft.com/office/officeart/2005/8/layout/hList1"/>
    <dgm:cxn modelId="{0653E34B-D2E5-45BF-9FD6-1CF07BEE1B5E}" type="presOf" srcId="{57A35A06-6F26-4BA3-B3E5-E34E52C6C189}" destId="{6ED2B6FA-A687-464E-8540-74CFF160F561}" srcOrd="0" destOrd="0" presId="urn:microsoft.com/office/officeart/2005/8/layout/hList1"/>
    <dgm:cxn modelId="{B356566F-E8F1-41DC-8E24-BEBE4A14F91E}" srcId="{57A35A06-6F26-4BA3-B3E5-E34E52C6C189}" destId="{E7684769-40CE-48A4-9CF9-288912A334F7}" srcOrd="3" destOrd="0" parTransId="{B32D2E11-B1CC-433A-9081-294A3567CEF7}" sibTransId="{3009DC2C-1FCE-4F56-92EF-DF12F863D765}"/>
    <dgm:cxn modelId="{3A792B70-38D4-41FE-83DA-9C79AE60E526}" srcId="{F709E4AE-AC49-4395-9E76-5D2BC258A7C3}" destId="{38636B00-2E05-43E2-B768-B7DC22185C42}" srcOrd="4" destOrd="0" parTransId="{A69A4995-9C7D-46DF-AC13-D04269AB4394}" sibTransId="{826AEB38-3722-4D7B-8E8C-27BC3D346E26}"/>
    <dgm:cxn modelId="{7AC4B571-079D-4AE4-92C5-314B0F794A9D}" srcId="{3420D2AF-E320-4784-83F3-F656BB088E41}" destId="{F709E4AE-AC49-4395-9E76-5D2BC258A7C3}" srcOrd="1" destOrd="0" parTransId="{3432F97A-FD62-490B-9912-4220223E64AE}" sibTransId="{7AAD5850-82D4-4C7E-A175-6A8A256E640F}"/>
    <dgm:cxn modelId="{00253D53-0889-433B-AB66-59864C861449}" type="presOf" srcId="{F47D277C-CA52-426D-870A-D3C609F0A722}" destId="{A8114F2B-CF9B-4ECF-B7BB-7F3781C92CB9}" srcOrd="0" destOrd="1" presId="urn:microsoft.com/office/officeart/2005/8/layout/hList1"/>
    <dgm:cxn modelId="{B8E7B673-865A-4A9A-9EBD-F881BBE21ED4}" srcId="{F709E4AE-AC49-4395-9E76-5D2BC258A7C3}" destId="{CF5C4243-C90E-49C9-B6C9-CD7E4F95D6FA}" srcOrd="3" destOrd="0" parTransId="{B6180393-AC0C-43E3-8C08-3685AA5BA9C8}" sibTransId="{8F4D140B-A47E-4A8C-90A8-26592FA8D06D}"/>
    <dgm:cxn modelId="{BD5D4E74-383C-497C-820F-1766ECEE3631}" type="presOf" srcId="{39160AC4-B779-4B01-B857-7680AB7C63F0}" destId="{A8114F2B-CF9B-4ECF-B7BB-7F3781C92CB9}" srcOrd="0" destOrd="0" presId="urn:microsoft.com/office/officeart/2005/8/layout/hList1"/>
    <dgm:cxn modelId="{751A9954-2444-4F92-A71E-466102370187}" type="presOf" srcId="{9D1F1295-43DA-4527-810D-7B66ADE0F17F}" destId="{D60B97A1-71BB-4720-8F4A-0EDBFB19CDFD}" srcOrd="0" destOrd="1" presId="urn:microsoft.com/office/officeart/2005/8/layout/hList1"/>
    <dgm:cxn modelId="{892E0677-5264-4271-A1F7-95D778FA1EB2}" srcId="{57A35A06-6F26-4BA3-B3E5-E34E52C6C189}" destId="{4DF43639-EFF7-4DDF-92A9-F91124A7CB38}" srcOrd="4" destOrd="0" parTransId="{83E30963-CADB-4079-9891-D0EB5A1014C4}" sibTransId="{367BFD24-7FEC-4F02-BC25-0C8856AB09C2}"/>
    <dgm:cxn modelId="{EEDBA781-CD8F-4AC6-BD74-DBE6E3753F38}" srcId="{57A35A06-6F26-4BA3-B3E5-E34E52C6C189}" destId="{DFD41031-1D55-4406-80E9-1680DC30643A}" srcOrd="0" destOrd="0" parTransId="{6D5306AD-4D4A-44DB-9BC6-488F5D18D89B}" sibTransId="{E6C301C7-7084-46D9-9D43-4F82645837C4}"/>
    <dgm:cxn modelId="{0CC30684-E329-4AB7-900D-2DA359E9BF1F}" srcId="{F709E4AE-AC49-4395-9E76-5D2BC258A7C3}" destId="{F47D277C-CA52-426D-870A-D3C609F0A722}" srcOrd="1" destOrd="0" parTransId="{D7635175-5801-4425-B24A-F6396A2BEC13}" sibTransId="{BF9834A4-CC3F-4944-8CF8-E63D3BCCC581}"/>
    <dgm:cxn modelId="{F3C9A897-8A4F-45B0-8037-52DE74969771}" srcId="{F709E4AE-AC49-4395-9E76-5D2BC258A7C3}" destId="{39160AC4-B779-4B01-B857-7680AB7C63F0}" srcOrd="0" destOrd="0" parTransId="{9C6D5518-CC91-4FE1-B71B-FDA74F54A2FC}" sibTransId="{D43172B0-D811-4112-BA4B-D69AE4082E7C}"/>
    <dgm:cxn modelId="{918DBA9C-F0D2-42C8-91AE-EEE6B5837B69}" srcId="{A5583426-1500-430D-BAE5-E2E8F0C6A108}" destId="{5B825A93-C8F2-43AE-BE85-2B623BB3C248}" srcOrd="1" destOrd="0" parTransId="{E01FF3F4-8A48-4F4F-8C55-86664DE9458F}" sibTransId="{EAD96F35-0E46-4DB8-B548-5F101F0A411C}"/>
    <dgm:cxn modelId="{2FC6FCA6-515D-434A-855A-17387CF9493C}" srcId="{1942CB47-5517-4B92-A61D-464E4F40CDBB}" destId="{DBB0A5F8-3B5B-42E5-85ED-D1964154AC33}" srcOrd="2" destOrd="0" parTransId="{1EE7BB5D-DF3E-4143-9EF2-D2FBD0C83C02}" sibTransId="{B7607762-FB1A-486F-BF06-5BBE6BD8BF41}"/>
    <dgm:cxn modelId="{256982AC-2B43-4F76-8DC1-66E5BBE1D541}" type="presOf" srcId="{CF5C4243-C90E-49C9-B6C9-CD7E4F95D6FA}" destId="{A8114F2B-CF9B-4ECF-B7BB-7F3781C92CB9}" srcOrd="0" destOrd="3" presId="urn:microsoft.com/office/officeart/2005/8/layout/hList1"/>
    <dgm:cxn modelId="{605CA8B8-A751-4A27-ABB5-F195EEE23BF3}" type="presOf" srcId="{E0BB8490-F7D2-421E-BDA7-ECF0BD969961}" destId="{D60B97A1-71BB-4720-8F4A-0EDBFB19CDFD}" srcOrd="0" destOrd="2" presId="urn:microsoft.com/office/officeart/2005/8/layout/hList1"/>
    <dgm:cxn modelId="{4E34EED6-49A1-436C-B24D-CFD75B39D28C}" srcId="{A5583426-1500-430D-BAE5-E2E8F0C6A108}" destId="{1855278A-C840-40D0-8725-E7896063BB2F}" srcOrd="0" destOrd="0" parTransId="{0AA43BA8-2CC5-4CA9-8454-90143B23DD70}" sibTransId="{DAB9F393-B759-4777-8438-485EB661A312}"/>
    <dgm:cxn modelId="{4C3477DB-335F-4C2B-AFFB-4026A00A93E5}" srcId="{3420D2AF-E320-4784-83F3-F656BB088E41}" destId="{1942CB47-5517-4B92-A61D-464E4F40CDBB}" srcOrd="0" destOrd="0" parTransId="{468AA1BD-9FAE-4BA8-A41E-722181F07742}" sibTransId="{7DB4B5E4-6A35-4667-8E5D-AAF33AFAFFC5}"/>
    <dgm:cxn modelId="{43F95DDD-E307-4D29-AE4B-7D4A29A38914}" srcId="{3420D2AF-E320-4784-83F3-F656BB088E41}" destId="{57A35A06-6F26-4BA3-B3E5-E34E52C6C189}" srcOrd="3" destOrd="0" parTransId="{55C695B8-1CC8-438D-8B44-962F01194B3F}" sibTransId="{455E7DF2-411A-49D6-B99F-2800619E71E8}"/>
    <dgm:cxn modelId="{050399DE-5F3F-4F2B-95ED-22741AC7B1CE}" srcId="{57A35A06-6F26-4BA3-B3E5-E34E52C6C189}" destId="{E0BB8490-F7D2-421E-BDA7-ECF0BD969961}" srcOrd="2" destOrd="0" parTransId="{29B0E528-F9E9-43AF-BAF5-22A957AC50B5}" sibTransId="{9DE0DA54-E186-46AE-BFE5-11427CA2BB2E}"/>
    <dgm:cxn modelId="{4F0951ED-DE2A-4EAC-BB9B-A32B5BF7C71F}" type="presOf" srcId="{59CEAC13-64C1-4C64-BCA5-985D6657C3CB}" destId="{D07647D4-002B-47B5-AA8E-D187AB57178E}" srcOrd="0" destOrd="1" presId="urn:microsoft.com/office/officeart/2005/8/layout/hList1"/>
    <dgm:cxn modelId="{55D1A3ED-B03A-451F-AFED-943D2929DDD0}" type="presOf" srcId="{1855278A-C840-40D0-8725-E7896063BB2F}" destId="{55FEC92E-0CEC-4FEE-A962-FB6A3C4E4EDE}" srcOrd="0" destOrd="0" presId="urn:microsoft.com/office/officeart/2005/8/layout/hList1"/>
    <dgm:cxn modelId="{C17BFFF5-96AF-4E49-9AD5-E6C5A03A2EC1}" type="presOf" srcId="{38636B00-2E05-43E2-B768-B7DC22185C42}" destId="{A8114F2B-CF9B-4ECF-B7BB-7F3781C92CB9}" srcOrd="0" destOrd="4" presId="urn:microsoft.com/office/officeart/2005/8/layout/hList1"/>
    <dgm:cxn modelId="{8421DEF7-8B5E-4F85-90A1-FF01FF76CA8F}" type="presOf" srcId="{EE620A20-5E69-42BA-9708-9A8902B8E250}" destId="{A8114F2B-CF9B-4ECF-B7BB-7F3781C92CB9}" srcOrd="0" destOrd="2" presId="urn:microsoft.com/office/officeart/2005/8/layout/hList1"/>
    <dgm:cxn modelId="{9BC94AF8-112F-45E1-86F7-9C788D61457A}" srcId="{1942CB47-5517-4B92-A61D-464E4F40CDBB}" destId="{59CEAC13-64C1-4C64-BCA5-985D6657C3CB}" srcOrd="1" destOrd="0" parTransId="{D1965D72-2EA5-46F7-B323-07E0E9D78120}" sibTransId="{AD75BEC7-A81B-4B45-9B96-133254B6ED28}"/>
    <dgm:cxn modelId="{350FDDFB-234C-4F68-BAE6-6B347BDD440B}" type="presOf" srcId="{A5583426-1500-430D-BAE5-E2E8F0C6A108}" destId="{AD324287-A892-4789-826A-BFEC4CDF1FFF}" srcOrd="0" destOrd="0" presId="urn:microsoft.com/office/officeart/2005/8/layout/hList1"/>
    <dgm:cxn modelId="{A17BC6FC-E9F5-46EA-8B0A-BF84992E9F04}" type="presOf" srcId="{F709E4AE-AC49-4395-9E76-5D2BC258A7C3}" destId="{E69C8629-5FA6-4281-8071-0869449BDADE}" srcOrd="0" destOrd="0" presId="urn:microsoft.com/office/officeart/2005/8/layout/hList1"/>
    <dgm:cxn modelId="{2D9D60C0-1575-4651-B0D5-7A9B03A5A223}" type="presParOf" srcId="{A3A17766-D028-49DF-BEC8-446108DBD454}" destId="{AAFAA963-418F-4D0F-B2FD-A8BE4C5854BF}" srcOrd="0" destOrd="0" presId="urn:microsoft.com/office/officeart/2005/8/layout/hList1"/>
    <dgm:cxn modelId="{A9E919BF-E108-4A7C-8010-062069F01E94}" type="presParOf" srcId="{AAFAA963-418F-4D0F-B2FD-A8BE4C5854BF}" destId="{45B34B96-DC92-40EF-BB4D-D5FFC540715D}" srcOrd="0" destOrd="0" presId="urn:microsoft.com/office/officeart/2005/8/layout/hList1"/>
    <dgm:cxn modelId="{B6579DC2-C7EB-458C-96BE-3A280194685E}" type="presParOf" srcId="{AAFAA963-418F-4D0F-B2FD-A8BE4C5854BF}" destId="{D07647D4-002B-47B5-AA8E-D187AB57178E}" srcOrd="1" destOrd="0" presId="urn:microsoft.com/office/officeart/2005/8/layout/hList1"/>
    <dgm:cxn modelId="{61D1B92C-ED8B-4629-A70F-AFE99E6F2AC7}" type="presParOf" srcId="{A3A17766-D028-49DF-BEC8-446108DBD454}" destId="{6DA4BF7E-205A-4BC8-9C4F-BB9B02079804}" srcOrd="1" destOrd="0" presId="urn:microsoft.com/office/officeart/2005/8/layout/hList1"/>
    <dgm:cxn modelId="{AB8B8369-6088-4E13-944F-89869D751BD1}" type="presParOf" srcId="{A3A17766-D028-49DF-BEC8-446108DBD454}" destId="{D6F75753-A6D9-4F6F-9B41-FA83BD5A8E4F}" srcOrd="2" destOrd="0" presId="urn:microsoft.com/office/officeart/2005/8/layout/hList1"/>
    <dgm:cxn modelId="{052BA980-08FC-46E0-AC0B-5BD518FD2171}" type="presParOf" srcId="{D6F75753-A6D9-4F6F-9B41-FA83BD5A8E4F}" destId="{E69C8629-5FA6-4281-8071-0869449BDADE}" srcOrd="0" destOrd="0" presId="urn:microsoft.com/office/officeart/2005/8/layout/hList1"/>
    <dgm:cxn modelId="{FEED87CF-7AC9-43C5-AFC5-A44C7826B4EB}" type="presParOf" srcId="{D6F75753-A6D9-4F6F-9B41-FA83BD5A8E4F}" destId="{A8114F2B-CF9B-4ECF-B7BB-7F3781C92CB9}" srcOrd="1" destOrd="0" presId="urn:microsoft.com/office/officeart/2005/8/layout/hList1"/>
    <dgm:cxn modelId="{7EE0F31C-5447-4931-A56D-C345C9B65B15}" type="presParOf" srcId="{A3A17766-D028-49DF-BEC8-446108DBD454}" destId="{280CD663-7C57-4DB9-8827-9A01041C0C01}" srcOrd="3" destOrd="0" presId="urn:microsoft.com/office/officeart/2005/8/layout/hList1"/>
    <dgm:cxn modelId="{1F375A6B-A9CC-443F-A80F-6390DD72F94B}" type="presParOf" srcId="{A3A17766-D028-49DF-BEC8-446108DBD454}" destId="{EA29A768-0D0C-413A-B6C9-6D5C7867C340}" srcOrd="4" destOrd="0" presId="urn:microsoft.com/office/officeart/2005/8/layout/hList1"/>
    <dgm:cxn modelId="{B246E62F-4F63-4DCA-933F-BE35CAFD3A3D}" type="presParOf" srcId="{EA29A768-0D0C-413A-B6C9-6D5C7867C340}" destId="{AD324287-A892-4789-826A-BFEC4CDF1FFF}" srcOrd="0" destOrd="0" presId="urn:microsoft.com/office/officeart/2005/8/layout/hList1"/>
    <dgm:cxn modelId="{CC433606-A48F-45DD-ADF1-06FAA0AF3D67}" type="presParOf" srcId="{EA29A768-0D0C-413A-B6C9-6D5C7867C340}" destId="{55FEC92E-0CEC-4FEE-A962-FB6A3C4E4EDE}" srcOrd="1" destOrd="0" presId="urn:microsoft.com/office/officeart/2005/8/layout/hList1"/>
    <dgm:cxn modelId="{FCBA9B46-547A-4698-9162-8FA46C7182AA}" type="presParOf" srcId="{A3A17766-D028-49DF-BEC8-446108DBD454}" destId="{0190AC34-C8CA-4641-BA18-F5562E5414C2}" srcOrd="5" destOrd="0" presId="urn:microsoft.com/office/officeart/2005/8/layout/hList1"/>
    <dgm:cxn modelId="{AA57F384-140F-498B-A6A2-CA234444326C}" type="presParOf" srcId="{A3A17766-D028-49DF-BEC8-446108DBD454}" destId="{F802484C-3634-46C5-8741-8949913C2442}" srcOrd="6" destOrd="0" presId="urn:microsoft.com/office/officeart/2005/8/layout/hList1"/>
    <dgm:cxn modelId="{9645EEE2-E3F7-466A-ACB8-91A603024F85}" type="presParOf" srcId="{F802484C-3634-46C5-8741-8949913C2442}" destId="{6ED2B6FA-A687-464E-8540-74CFF160F561}" srcOrd="0" destOrd="0" presId="urn:microsoft.com/office/officeart/2005/8/layout/hList1"/>
    <dgm:cxn modelId="{3F18C920-56D4-4842-8EA3-46D27BC04D48}" type="presParOf" srcId="{F802484C-3634-46C5-8741-8949913C2442}" destId="{D60B97A1-71BB-4720-8F4A-0EDBFB19CDFD}"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D0ED7-3C2B-48CD-B37E-0993EAD2A14A}">
      <dsp:nvSpPr>
        <dsp:cNvPr id="0" name=""/>
        <dsp:cNvSpPr/>
      </dsp:nvSpPr>
      <dsp:spPr>
        <a:xfrm>
          <a:off x="0" y="535702"/>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Font typeface="Calibri"/>
            <a:buNone/>
          </a:pPr>
          <a:r>
            <a:rPr lang="en-GB" sz="8000" kern="1200">
              <a:latin typeface="Arial"/>
              <a:cs typeface="Arial"/>
            </a:rPr>
            <a:t>Exclusive projects to keep the UK safe</a:t>
          </a:r>
          <a:endParaRPr lang="en-GB" sz="8000" kern="1200"/>
        </a:p>
      </dsp:txBody>
      <dsp:txXfrm>
        <a:off x="0" y="535702"/>
        <a:ext cx="7917484" cy="4750490"/>
      </dsp:txXfrm>
    </dsp:sp>
    <dsp:sp modelId="{4D21C50B-FD28-9A4D-B0AE-1EBA44299C8D}">
      <dsp:nvSpPr>
        <dsp:cNvPr id="0" name=""/>
        <dsp:cNvSpPr/>
      </dsp:nvSpPr>
      <dsp:spPr>
        <a:xfrm>
          <a:off x="8709232" y="535702"/>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None/>
          </a:pPr>
          <a:r>
            <a:rPr lang="en-GB" sz="8000" kern="1200">
              <a:latin typeface="Arial"/>
              <a:cs typeface="Arial"/>
            </a:rPr>
            <a:t>Interesting and challenging research problems</a:t>
          </a:r>
        </a:p>
      </dsp:txBody>
      <dsp:txXfrm>
        <a:off x="8709232" y="535702"/>
        <a:ext cx="7917484" cy="4750490"/>
      </dsp:txXfrm>
    </dsp:sp>
    <dsp:sp modelId="{F2D765EA-7A20-4C6B-8EB3-1ABFC036F2D8}">
      <dsp:nvSpPr>
        <dsp:cNvPr id="0" name=""/>
        <dsp:cNvSpPr/>
      </dsp:nvSpPr>
      <dsp:spPr>
        <a:xfrm>
          <a:off x="17418464" y="535702"/>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None/>
          </a:pPr>
          <a:r>
            <a:rPr lang="en-GB" sz="8000" kern="1200">
              <a:latin typeface="Arial"/>
              <a:cs typeface="Arial"/>
            </a:rPr>
            <a:t>Job satisfaction, security, work life balance and flexible working</a:t>
          </a:r>
          <a:endParaRPr lang="en-GB" sz="8000" kern="1200"/>
        </a:p>
      </dsp:txBody>
      <dsp:txXfrm>
        <a:off x="17418464" y="535702"/>
        <a:ext cx="7917484" cy="4750490"/>
      </dsp:txXfrm>
    </dsp:sp>
    <dsp:sp modelId="{19BE70CE-F141-42C2-9759-17603DB611A5}">
      <dsp:nvSpPr>
        <dsp:cNvPr id="0" name=""/>
        <dsp:cNvSpPr/>
      </dsp:nvSpPr>
      <dsp:spPr>
        <a:xfrm>
          <a:off x="0" y="6077941"/>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None/>
          </a:pPr>
          <a:r>
            <a:rPr lang="en-GB" sz="8000" kern="1200">
              <a:latin typeface="Arial"/>
              <a:cs typeface="Arial"/>
            </a:rPr>
            <a:t>Inspiring colleagues</a:t>
          </a:r>
        </a:p>
      </dsp:txBody>
      <dsp:txXfrm>
        <a:off x="0" y="6077941"/>
        <a:ext cx="7917484" cy="4750490"/>
      </dsp:txXfrm>
    </dsp:sp>
    <dsp:sp modelId="{D480B723-49FF-44FC-9726-7CC619B1DE3B}">
      <dsp:nvSpPr>
        <dsp:cNvPr id="0" name=""/>
        <dsp:cNvSpPr/>
      </dsp:nvSpPr>
      <dsp:spPr>
        <a:xfrm>
          <a:off x="8709232" y="6077941"/>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None/>
          </a:pPr>
          <a:r>
            <a:rPr lang="en-GB" sz="8000" kern="1200">
              <a:latin typeface="Arial"/>
              <a:cs typeface="Arial"/>
            </a:rPr>
            <a:t>Dedicated to building diversity</a:t>
          </a:r>
        </a:p>
      </dsp:txBody>
      <dsp:txXfrm>
        <a:off x="8709232" y="6077941"/>
        <a:ext cx="7917484" cy="4750490"/>
      </dsp:txXfrm>
    </dsp:sp>
    <dsp:sp modelId="{E2DB7739-0AA4-4F46-B844-9945B605BE85}">
      <dsp:nvSpPr>
        <dsp:cNvPr id="0" name=""/>
        <dsp:cNvSpPr/>
      </dsp:nvSpPr>
      <dsp:spPr>
        <a:xfrm>
          <a:off x="17418464" y="6077941"/>
          <a:ext cx="7917484" cy="475049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0" tIns="304800" rIns="304800" bIns="304800" numCol="1" spcCol="1270" anchor="ctr" anchorCtr="0">
          <a:noAutofit/>
        </a:bodyPr>
        <a:lstStyle/>
        <a:p>
          <a:pPr marL="0" lvl="0" indent="0" algn="ctr" defTabSz="3556000">
            <a:lnSpc>
              <a:spcPct val="90000"/>
            </a:lnSpc>
            <a:spcBef>
              <a:spcPct val="0"/>
            </a:spcBef>
            <a:spcAft>
              <a:spcPct val="35000"/>
            </a:spcAft>
            <a:buNone/>
          </a:pPr>
          <a:r>
            <a:rPr lang="en-GB" sz="8000" kern="1200">
              <a:latin typeface="Arial"/>
              <a:cs typeface="Arial"/>
            </a:rPr>
            <a:t>Job security in a critical sector</a:t>
          </a:r>
        </a:p>
      </dsp:txBody>
      <dsp:txXfrm>
        <a:off x="17418464" y="6077941"/>
        <a:ext cx="7917484" cy="4750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4D3CE-1C4F-444C-A6E0-C64AE7000CD3}">
      <dsp:nvSpPr>
        <dsp:cNvPr id="0" name=""/>
        <dsp:cNvSpPr/>
      </dsp:nvSpPr>
      <dsp:spPr>
        <a:xfrm>
          <a:off x="9122" y="1533848"/>
          <a:ext cx="8894359" cy="20827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GB" sz="5400" kern="1200">
              <a:latin typeface="Arial" panose="020B0604020202020204" pitchFamily="34" charset="0"/>
              <a:cs typeface="Arial" panose="020B0604020202020204" pitchFamily="34" charset="0"/>
            </a:rPr>
            <a:t>Graduate Programmes</a:t>
          </a:r>
        </a:p>
      </dsp:txBody>
      <dsp:txXfrm>
        <a:off x="9122" y="1533848"/>
        <a:ext cx="8894359" cy="2082717"/>
      </dsp:txXfrm>
    </dsp:sp>
    <dsp:sp modelId="{984F5473-B8CE-4020-8F0A-6884F2966C80}">
      <dsp:nvSpPr>
        <dsp:cNvPr id="0" name=""/>
        <dsp:cNvSpPr/>
      </dsp:nvSpPr>
      <dsp:spPr>
        <a:xfrm>
          <a:off x="9122" y="3616565"/>
          <a:ext cx="8894359" cy="5709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0040" tIns="320040" rIns="426720" bIns="480060" numCol="1" spcCol="1270" anchor="t" anchorCtr="0">
          <a:noAutofit/>
        </a:bodyPr>
        <a:lstStyle/>
        <a:p>
          <a:pPr marL="598488" lvl="1" indent="-563563" algn="l" defTabSz="266700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hlinkClick xmlns:r="http://schemas.openxmlformats.org/officeDocument/2006/relationships" r:id="rId1"/>
            </a:rPr>
            <a:t>Intelligence and Data Analyst Development Programme </a:t>
          </a:r>
          <a:endParaRPr lang="en-GB" sz="6000" kern="1200">
            <a:latin typeface="Arial" panose="020B0604020202020204" pitchFamily="34" charset="0"/>
            <a:cs typeface="Arial" panose="020B0604020202020204" pitchFamily="34" charset="0"/>
          </a:endParaRPr>
        </a:p>
        <a:p>
          <a:pPr marL="598488" lvl="1" indent="-563563" algn="l" defTabSz="266700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hlinkClick xmlns:r="http://schemas.openxmlformats.org/officeDocument/2006/relationships" r:id="rId2"/>
            </a:rPr>
            <a:t>Technology Graduate Development Programme</a:t>
          </a:r>
          <a:endParaRPr lang="en-GB" sz="6000" kern="1200">
            <a:latin typeface="Arial" panose="020B0604020202020204" pitchFamily="34" charset="0"/>
            <a:cs typeface="Arial" panose="020B0604020202020204" pitchFamily="34" charset="0"/>
          </a:endParaRPr>
        </a:p>
      </dsp:txBody>
      <dsp:txXfrm>
        <a:off x="9122" y="3616565"/>
        <a:ext cx="8894359" cy="5709600"/>
      </dsp:txXfrm>
    </dsp:sp>
    <dsp:sp modelId="{7588A2EC-6DD9-4A0B-ADAC-053C4D1E7F5F}">
      <dsp:nvSpPr>
        <dsp:cNvPr id="0" name=""/>
        <dsp:cNvSpPr/>
      </dsp:nvSpPr>
      <dsp:spPr>
        <a:xfrm>
          <a:off x="10115872" y="1586249"/>
          <a:ext cx="8894359" cy="20827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243840" rIns="426720" bIns="243840" numCol="1" spcCol="1270" anchor="ctr" anchorCtr="0">
          <a:noAutofit/>
        </a:bodyPr>
        <a:lstStyle/>
        <a:p>
          <a:pPr marL="0" lvl="0" indent="0" algn="ctr" defTabSz="2667000">
            <a:lnSpc>
              <a:spcPct val="90000"/>
            </a:lnSpc>
            <a:spcBef>
              <a:spcPct val="0"/>
            </a:spcBef>
            <a:spcAft>
              <a:spcPct val="35000"/>
            </a:spcAft>
            <a:buNone/>
          </a:pPr>
          <a:r>
            <a:rPr lang="en-GB" sz="6000" kern="1200">
              <a:latin typeface="Arial" panose="020B0604020202020204" pitchFamily="34" charset="0"/>
              <a:cs typeface="Arial" panose="020B0604020202020204" pitchFamily="34" charset="0"/>
            </a:rPr>
            <a:t>Internships and placements</a:t>
          </a:r>
        </a:p>
      </dsp:txBody>
      <dsp:txXfrm>
        <a:off x="10115872" y="1586249"/>
        <a:ext cx="8894359" cy="2082717"/>
      </dsp:txXfrm>
    </dsp:sp>
    <dsp:sp modelId="{3EABBE04-AD1B-4B72-8A05-D64476748630}">
      <dsp:nvSpPr>
        <dsp:cNvPr id="0" name=""/>
        <dsp:cNvSpPr/>
      </dsp:nvSpPr>
      <dsp:spPr>
        <a:xfrm>
          <a:off x="10148692" y="3616565"/>
          <a:ext cx="8894359" cy="5709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0040" tIns="320040" rIns="426720" bIns="480060" numCol="1" spcCol="1270" anchor="t" anchorCtr="0">
          <a:noAutofit/>
        </a:bodyPr>
        <a:lstStyle/>
        <a:p>
          <a:pPr marL="457200" lvl="1" indent="-457200" algn="l" defTabSz="266700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rPr>
            <a:t>Tech internship</a:t>
          </a:r>
        </a:p>
        <a:p>
          <a:pPr marL="457200" lvl="1" indent="-457200" algn="l" defTabSz="266700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rPr>
            <a:t>Summer Programmes</a:t>
          </a:r>
        </a:p>
        <a:p>
          <a:pPr marL="457200" lvl="1" indent="-457200" algn="l" defTabSz="266700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hlinkClick xmlns:r="http://schemas.openxmlformats.org/officeDocument/2006/relationships" r:id="rId3"/>
            </a:rPr>
            <a:t>Internship programmes</a:t>
          </a:r>
          <a:endParaRPr lang="en-GB" sz="6000" kern="1200">
            <a:latin typeface="Arial" panose="020B0604020202020204" pitchFamily="34" charset="0"/>
            <a:cs typeface="Arial" panose="020B0604020202020204" pitchFamily="34" charset="0"/>
          </a:endParaRPr>
        </a:p>
      </dsp:txBody>
      <dsp:txXfrm>
        <a:off x="10148692" y="3616565"/>
        <a:ext cx="8894359" cy="5709600"/>
      </dsp:txXfrm>
    </dsp:sp>
    <dsp:sp modelId="{1EE7AE66-3AEF-44B9-8041-1015F1D5503A}">
      <dsp:nvSpPr>
        <dsp:cNvPr id="0" name=""/>
        <dsp:cNvSpPr/>
      </dsp:nvSpPr>
      <dsp:spPr>
        <a:xfrm>
          <a:off x="20288262" y="1533848"/>
          <a:ext cx="8894359" cy="20827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243840" rIns="426720" bIns="243840" numCol="1" spcCol="1270" anchor="ctr" anchorCtr="0">
          <a:noAutofit/>
        </a:bodyPr>
        <a:lstStyle/>
        <a:p>
          <a:pPr marL="0" lvl="0" indent="0" algn="ctr" defTabSz="2667000">
            <a:lnSpc>
              <a:spcPct val="90000"/>
            </a:lnSpc>
            <a:spcBef>
              <a:spcPct val="0"/>
            </a:spcBef>
            <a:spcAft>
              <a:spcPct val="35000"/>
            </a:spcAft>
            <a:buNone/>
          </a:pPr>
          <a:r>
            <a:rPr lang="en-GB" sz="6000" kern="1200">
              <a:latin typeface="Arial" panose="020B0604020202020204" pitchFamily="34" charset="0"/>
              <a:cs typeface="Arial" panose="020B0604020202020204" pitchFamily="34" charset="0"/>
            </a:rPr>
            <a:t>Graduate roles</a:t>
          </a:r>
        </a:p>
      </dsp:txBody>
      <dsp:txXfrm>
        <a:off x="20288262" y="1533848"/>
        <a:ext cx="8894359" cy="2082717"/>
      </dsp:txXfrm>
    </dsp:sp>
    <dsp:sp modelId="{83F9939F-0092-43D4-B79C-8A69B1311FB4}">
      <dsp:nvSpPr>
        <dsp:cNvPr id="0" name=""/>
        <dsp:cNvSpPr/>
      </dsp:nvSpPr>
      <dsp:spPr>
        <a:xfrm>
          <a:off x="20288262" y="3616565"/>
          <a:ext cx="8894359" cy="5709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0040" tIns="320040" rIns="426720" bIns="480060" numCol="1" spcCol="1270" anchor="t" anchorCtr="0">
          <a:noAutofit/>
        </a:bodyPr>
        <a:lstStyle/>
        <a:p>
          <a:pPr marL="598488" lvl="1" indent="-493713" algn="l" defTabSz="288925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rPr>
            <a:t>Intelligence data analyst</a:t>
          </a:r>
        </a:p>
        <a:p>
          <a:pPr marL="598488" lvl="1" indent="-493713" algn="l" defTabSz="2889250">
            <a:lnSpc>
              <a:spcPct val="90000"/>
            </a:lnSpc>
            <a:spcBef>
              <a:spcPct val="0"/>
            </a:spcBef>
            <a:spcAft>
              <a:spcPct val="15000"/>
            </a:spcAft>
            <a:buFont typeface="System Font Regular"/>
            <a:buChar char="-"/>
            <a:tabLst/>
          </a:pPr>
          <a:r>
            <a:rPr lang="en-GB" sz="6000" kern="1200">
              <a:latin typeface="Arial" panose="020B0604020202020204" pitchFamily="34" charset="0"/>
              <a:cs typeface="Arial" panose="020B0604020202020204" pitchFamily="34" charset="0"/>
            </a:rPr>
            <a:t>Cyber operations</a:t>
          </a:r>
        </a:p>
      </dsp:txBody>
      <dsp:txXfrm>
        <a:off x="20288262" y="3616565"/>
        <a:ext cx="8894359" cy="5709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D42C94-F771-442C-A479-E69C62731FC9}">
      <dsp:nvSpPr>
        <dsp:cNvPr id="0" name=""/>
        <dsp:cNvSpPr/>
      </dsp:nvSpPr>
      <dsp:spPr>
        <a:xfrm>
          <a:off x="0" y="659585"/>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Font typeface="Calibri"/>
            <a:buNone/>
          </a:pPr>
          <a:r>
            <a:rPr lang="en-GB" sz="6500" kern="1200">
              <a:latin typeface="Arial"/>
              <a:cs typeface="Arial"/>
            </a:rPr>
            <a:t>Critically important research areas, including Defence and Security</a:t>
          </a:r>
          <a:endParaRPr lang="en-GB" sz="6500" kern="1200"/>
        </a:p>
      </dsp:txBody>
      <dsp:txXfrm>
        <a:off x="0" y="659585"/>
        <a:ext cx="7560576" cy="4536346"/>
      </dsp:txXfrm>
    </dsp:sp>
    <dsp:sp modelId="{2BC47549-F9C7-45C4-8B16-6411FC3B0D96}">
      <dsp:nvSpPr>
        <dsp:cNvPr id="0" name=""/>
        <dsp:cNvSpPr/>
      </dsp:nvSpPr>
      <dsp:spPr>
        <a:xfrm>
          <a:off x="8316634" y="659585"/>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pPr>
          <a:r>
            <a:rPr lang="en-GB" sz="6500" kern="1200">
              <a:latin typeface="Arial"/>
              <a:cs typeface="Arial"/>
            </a:rPr>
            <a:t>Collaborate with Defence and Security organisations </a:t>
          </a:r>
        </a:p>
      </dsp:txBody>
      <dsp:txXfrm>
        <a:off x="8316634" y="659585"/>
        <a:ext cx="7560576" cy="4536346"/>
      </dsp:txXfrm>
    </dsp:sp>
    <dsp:sp modelId="{9492AF71-C07E-4F16-9DC7-3D481DBB7E3F}">
      <dsp:nvSpPr>
        <dsp:cNvPr id="0" name=""/>
        <dsp:cNvSpPr/>
      </dsp:nvSpPr>
      <dsp:spPr>
        <a:xfrm>
          <a:off x="16633269" y="659585"/>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GB" sz="6500" kern="1200">
              <a:latin typeface="Arial"/>
              <a:cs typeface="Arial"/>
            </a:rPr>
            <a:t>Collaborate across nations</a:t>
          </a:r>
        </a:p>
      </dsp:txBody>
      <dsp:txXfrm>
        <a:off x="16633269" y="659585"/>
        <a:ext cx="7560576" cy="4536346"/>
      </dsp:txXfrm>
    </dsp:sp>
    <dsp:sp modelId="{7C31ED1A-2601-4AC6-835D-3571E31398E7}">
      <dsp:nvSpPr>
        <dsp:cNvPr id="0" name=""/>
        <dsp:cNvSpPr/>
      </dsp:nvSpPr>
      <dsp:spPr>
        <a:xfrm>
          <a:off x="0" y="5951988"/>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GB" sz="6500" kern="1200">
              <a:latin typeface="Arial"/>
              <a:cs typeface="Arial"/>
            </a:rPr>
            <a:t>Independent Research Institute</a:t>
          </a:r>
        </a:p>
      </dsp:txBody>
      <dsp:txXfrm>
        <a:off x="0" y="5951988"/>
        <a:ext cx="7560576" cy="4536346"/>
      </dsp:txXfrm>
    </dsp:sp>
    <dsp:sp modelId="{7C0DF401-7553-4AB9-A194-3B4EDABE7FBC}">
      <dsp:nvSpPr>
        <dsp:cNvPr id="0" name=""/>
        <dsp:cNvSpPr/>
      </dsp:nvSpPr>
      <dsp:spPr>
        <a:xfrm>
          <a:off x="8316634" y="5951988"/>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pPr>
          <a:r>
            <a:rPr lang="en-GB" sz="6500" kern="1200">
              <a:latin typeface="Arial"/>
              <a:cs typeface="Arial"/>
            </a:rPr>
            <a:t>Competitive salaries and benefits </a:t>
          </a:r>
        </a:p>
      </dsp:txBody>
      <dsp:txXfrm>
        <a:off x="8316634" y="5951988"/>
        <a:ext cx="7560576" cy="4536346"/>
      </dsp:txXfrm>
    </dsp:sp>
    <dsp:sp modelId="{2A9BF5E1-39A0-4783-BEB5-1F5B31A063B7}">
      <dsp:nvSpPr>
        <dsp:cNvPr id="0" name=""/>
        <dsp:cNvSpPr/>
      </dsp:nvSpPr>
      <dsp:spPr>
        <a:xfrm>
          <a:off x="16633269" y="5951988"/>
          <a:ext cx="7560576" cy="453634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GB" sz="6500" kern="1200">
              <a:latin typeface="Arial"/>
              <a:cs typeface="Arial"/>
            </a:rPr>
            <a:t>Strong inclusion support such as flexible working</a:t>
          </a:r>
        </a:p>
      </dsp:txBody>
      <dsp:txXfrm>
        <a:off x="16633269" y="5951988"/>
        <a:ext cx="7560576" cy="45363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99E843-2A96-4724-B86E-1ED0C25BB2B8}">
      <dsp:nvSpPr>
        <dsp:cNvPr id="0" name=""/>
        <dsp:cNvSpPr/>
      </dsp:nvSpPr>
      <dsp:spPr>
        <a:xfrm>
          <a:off x="1262893" y="3975"/>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a:lnSpc>
              <a:spcPct val="90000"/>
            </a:lnSpc>
            <a:spcBef>
              <a:spcPct val="0"/>
            </a:spcBef>
            <a:spcAft>
              <a:spcPct val="35000"/>
            </a:spcAft>
            <a:buNone/>
          </a:pPr>
          <a:r>
            <a:rPr lang="en-GB" sz="7200" kern="1200">
              <a:effectLst/>
              <a:latin typeface="Arial"/>
              <a:ea typeface="Calibri"/>
              <a:cs typeface="Arial"/>
            </a:rPr>
            <a:t>Advance healthcare and improve lives</a:t>
          </a:r>
          <a:endParaRPr lang="en-GB" sz="7200" kern="1200">
            <a:latin typeface="Arial"/>
            <a:ea typeface="Calibri"/>
            <a:cs typeface="Arial"/>
          </a:endParaRPr>
        </a:p>
      </dsp:txBody>
      <dsp:txXfrm>
        <a:off x="1262893" y="3975"/>
        <a:ext cx="7358394" cy="4415036"/>
      </dsp:txXfrm>
    </dsp:sp>
    <dsp:sp modelId="{DAFE76D0-AFA2-42DB-9B19-0EF426EF864B}">
      <dsp:nvSpPr>
        <dsp:cNvPr id="0" name=""/>
        <dsp:cNvSpPr/>
      </dsp:nvSpPr>
      <dsp:spPr>
        <a:xfrm>
          <a:off x="9357127" y="3975"/>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rtl="0">
            <a:lnSpc>
              <a:spcPct val="90000"/>
            </a:lnSpc>
            <a:spcBef>
              <a:spcPct val="0"/>
            </a:spcBef>
            <a:spcAft>
              <a:spcPct val="35000"/>
            </a:spcAft>
            <a:buNone/>
          </a:pPr>
          <a:r>
            <a:rPr lang="en-GB" sz="7200" kern="1200">
              <a:effectLst/>
              <a:latin typeface="Arial"/>
              <a:ea typeface="Calibri"/>
              <a:cs typeface="Arial"/>
            </a:rPr>
            <a:t>Improve decision making for public good</a:t>
          </a:r>
        </a:p>
      </dsp:txBody>
      <dsp:txXfrm>
        <a:off x="9357127" y="3975"/>
        <a:ext cx="7358394" cy="4415036"/>
      </dsp:txXfrm>
    </dsp:sp>
    <dsp:sp modelId="{E9BFACA6-FB88-41F3-8E74-380DAF20BBAE}">
      <dsp:nvSpPr>
        <dsp:cNvPr id="0" name=""/>
        <dsp:cNvSpPr/>
      </dsp:nvSpPr>
      <dsp:spPr>
        <a:xfrm>
          <a:off x="17451361" y="3975"/>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a:lnSpc>
              <a:spcPct val="90000"/>
            </a:lnSpc>
            <a:spcBef>
              <a:spcPct val="0"/>
            </a:spcBef>
            <a:spcAft>
              <a:spcPct val="35000"/>
            </a:spcAft>
            <a:buNone/>
          </a:pPr>
          <a:r>
            <a:rPr lang="en-GB" sz="7200" kern="1200">
              <a:effectLst/>
              <a:latin typeface="Arial"/>
              <a:ea typeface="Calibri"/>
              <a:cs typeface="Arial"/>
            </a:rPr>
            <a:t>Exciting and inspiring areas of healthcare</a:t>
          </a:r>
        </a:p>
      </dsp:txBody>
      <dsp:txXfrm>
        <a:off x="17451361" y="3975"/>
        <a:ext cx="7358394" cy="4415036"/>
      </dsp:txXfrm>
    </dsp:sp>
    <dsp:sp modelId="{789CECEA-6F72-44E0-B278-7FE9EDFF6548}">
      <dsp:nvSpPr>
        <dsp:cNvPr id="0" name=""/>
        <dsp:cNvSpPr/>
      </dsp:nvSpPr>
      <dsp:spPr>
        <a:xfrm>
          <a:off x="1262893" y="5154851"/>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a:lnSpc>
              <a:spcPct val="90000"/>
            </a:lnSpc>
            <a:spcBef>
              <a:spcPct val="0"/>
            </a:spcBef>
            <a:spcAft>
              <a:spcPct val="35000"/>
            </a:spcAft>
            <a:buNone/>
          </a:pPr>
          <a:r>
            <a:rPr lang="en-GB" sz="7200" kern="1200">
              <a:effectLst/>
              <a:latin typeface="Arial"/>
              <a:ea typeface="Calibri"/>
              <a:cs typeface="Arial"/>
            </a:rPr>
            <a:t>Interesting and challenging research problems</a:t>
          </a:r>
        </a:p>
      </dsp:txBody>
      <dsp:txXfrm>
        <a:off x="1262893" y="5154851"/>
        <a:ext cx="7358394" cy="4415036"/>
      </dsp:txXfrm>
    </dsp:sp>
    <dsp:sp modelId="{0AC262F9-CC4D-46F3-9D48-F0DE6C77696A}">
      <dsp:nvSpPr>
        <dsp:cNvPr id="0" name=""/>
        <dsp:cNvSpPr/>
      </dsp:nvSpPr>
      <dsp:spPr>
        <a:xfrm>
          <a:off x="9357127" y="5154851"/>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rtl="0">
            <a:lnSpc>
              <a:spcPct val="90000"/>
            </a:lnSpc>
            <a:spcBef>
              <a:spcPct val="0"/>
            </a:spcBef>
            <a:spcAft>
              <a:spcPct val="35000"/>
            </a:spcAft>
            <a:buNone/>
          </a:pPr>
          <a:r>
            <a:rPr lang="en-GB" sz="7200" kern="1200">
              <a:effectLst/>
              <a:latin typeface="Arial"/>
              <a:ea typeface="Calibri"/>
              <a:cs typeface="Arial"/>
            </a:rPr>
            <a:t>Diversity, inclusion and staff wellbeing</a:t>
          </a:r>
        </a:p>
      </dsp:txBody>
      <dsp:txXfrm>
        <a:off x="9357127" y="5154851"/>
        <a:ext cx="7358394" cy="4415036"/>
      </dsp:txXfrm>
    </dsp:sp>
    <dsp:sp modelId="{304AEEAF-AA6A-4CBF-A315-5F0D8D512F89}">
      <dsp:nvSpPr>
        <dsp:cNvPr id="0" name=""/>
        <dsp:cNvSpPr/>
      </dsp:nvSpPr>
      <dsp:spPr>
        <a:xfrm>
          <a:off x="17451361" y="5154851"/>
          <a:ext cx="7358394" cy="4415036"/>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4320" tIns="274320" rIns="274320" bIns="274320" numCol="1" spcCol="1270" anchor="ctr" anchorCtr="0">
          <a:noAutofit/>
        </a:bodyPr>
        <a:lstStyle/>
        <a:p>
          <a:pPr marL="0" lvl="0" indent="0" algn="ctr" defTabSz="3200400">
            <a:lnSpc>
              <a:spcPct val="90000"/>
            </a:lnSpc>
            <a:spcBef>
              <a:spcPct val="0"/>
            </a:spcBef>
            <a:spcAft>
              <a:spcPct val="35000"/>
            </a:spcAft>
            <a:buNone/>
          </a:pPr>
          <a:r>
            <a:rPr lang="en-GB" sz="7200" kern="1200">
              <a:effectLst/>
              <a:latin typeface="Arial"/>
              <a:ea typeface="Calibri"/>
              <a:cs typeface="Arial"/>
            </a:rPr>
            <a:t>Inspiring and motivated colleagues</a:t>
          </a:r>
        </a:p>
      </dsp:txBody>
      <dsp:txXfrm>
        <a:off x="17451361" y="5154851"/>
        <a:ext cx="7358394" cy="44150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34B96-DC92-40EF-BB4D-D5FFC540715D}">
      <dsp:nvSpPr>
        <dsp:cNvPr id="0" name=""/>
        <dsp:cNvSpPr/>
      </dsp:nvSpPr>
      <dsp:spPr>
        <a:xfrm>
          <a:off x="0" y="576662"/>
          <a:ext cx="8199505" cy="2575901"/>
        </a:xfrm>
        <a:prstGeom prst="rect">
          <a:avLst/>
        </a:prstGeom>
        <a:solidFill>
          <a:schemeClr val="accent1">
            <a:lumMod val="40000"/>
            <a:lumOff val="60000"/>
          </a:schemeClr>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2064" tIns="292608" rIns="512064" bIns="292608" numCol="1" spcCol="1270" anchor="ctr" anchorCtr="0">
          <a:noAutofit/>
        </a:bodyPr>
        <a:lstStyle/>
        <a:p>
          <a:pPr marL="0" lvl="0" indent="0" algn="ctr" defTabSz="3200400">
            <a:lnSpc>
              <a:spcPct val="90000"/>
            </a:lnSpc>
            <a:spcBef>
              <a:spcPct val="0"/>
            </a:spcBef>
            <a:spcAft>
              <a:spcPct val="35000"/>
            </a:spcAft>
            <a:buNone/>
          </a:pPr>
          <a:r>
            <a:rPr lang="en-GB" sz="7200" kern="1200">
              <a:latin typeface="Arial" panose="020B0604020202020204" pitchFamily="34" charset="0"/>
              <a:cs typeface="Arial" panose="020B0604020202020204" pitchFamily="34" charset="0"/>
            </a:rPr>
            <a:t>Graduate Programmes</a:t>
          </a:r>
          <a:endParaRPr lang="en-GB" sz="7200" kern="1200"/>
        </a:p>
      </dsp:txBody>
      <dsp:txXfrm>
        <a:off x="0" y="576662"/>
        <a:ext cx="8199505" cy="2575901"/>
      </dsp:txXfrm>
    </dsp:sp>
    <dsp:sp modelId="{D07647D4-002B-47B5-AA8E-D187AB57178E}">
      <dsp:nvSpPr>
        <dsp:cNvPr id="0" name=""/>
        <dsp:cNvSpPr/>
      </dsp:nvSpPr>
      <dsp:spPr>
        <a:xfrm>
          <a:off x="0" y="3148378"/>
          <a:ext cx="8199505" cy="10456234"/>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8036" tIns="288036" rIns="384048" bIns="432054" numCol="1" spcCol="1270" anchor="t" anchorCtr="0">
          <a:noAutofit/>
        </a:bodyPr>
        <a:lstStyle/>
        <a:p>
          <a:pPr marL="635000" lvl="1" indent="-63500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1"/>
            </a:rPr>
            <a:t>The Civil Service fast stream, UK Government</a:t>
          </a:r>
          <a:endParaRPr lang="en-GB" sz="5400" kern="1200">
            <a:latin typeface="Arial" panose="020B0604020202020204" pitchFamily="34" charset="0"/>
            <a:cs typeface="Arial" panose="020B0604020202020204" pitchFamily="34" charset="0"/>
          </a:endParaRPr>
        </a:p>
        <a:p>
          <a:pPr marL="635000" lvl="1" indent="-635000" algn="l" defTabSz="2400300">
            <a:lnSpc>
              <a:spcPct val="90000"/>
            </a:lnSpc>
            <a:spcBef>
              <a:spcPct val="0"/>
            </a:spcBef>
            <a:spcAft>
              <a:spcPct val="15000"/>
            </a:spcAft>
            <a:buFont typeface="System Font Regular"/>
            <a:buChar char="-"/>
            <a:tabLst/>
          </a:pPr>
          <a:endParaRPr lang="en-GB" sz="5400" kern="1200">
            <a:latin typeface="Arial" panose="020B0604020202020204" pitchFamily="34" charset="0"/>
            <a:cs typeface="Arial" panose="020B0604020202020204" pitchFamily="34" charset="0"/>
          </a:endParaRPr>
        </a:p>
        <a:p>
          <a:pPr marL="635000" lvl="1" indent="-63500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rPr>
            <a:t>NHS Graduate Management Training Scheme (</a:t>
          </a:r>
          <a:r>
            <a:rPr lang="en-GB" sz="5400" kern="1200">
              <a:latin typeface="Arial" panose="020B0604020202020204" pitchFamily="34" charset="0"/>
              <a:cs typeface="Arial" panose="020B0604020202020204" pitchFamily="34" charset="0"/>
              <a:hlinkClick xmlns:r="http://schemas.openxmlformats.org/officeDocument/2006/relationships" r:id="rId2"/>
            </a:rPr>
            <a:t>Health Informatics</a:t>
          </a:r>
          <a:r>
            <a:rPr lang="en-GB" sz="5400" kern="1200">
              <a:latin typeface="Arial" panose="020B0604020202020204" pitchFamily="34" charset="0"/>
              <a:cs typeface="Arial" panose="020B0604020202020204" pitchFamily="34" charset="0"/>
            </a:rPr>
            <a:t>)</a:t>
          </a:r>
        </a:p>
      </dsp:txBody>
      <dsp:txXfrm>
        <a:off x="0" y="3148378"/>
        <a:ext cx="8199505" cy="10456234"/>
      </dsp:txXfrm>
    </dsp:sp>
    <dsp:sp modelId="{E69C8629-5FA6-4281-8071-0869449BDADE}">
      <dsp:nvSpPr>
        <dsp:cNvPr id="0" name=""/>
        <dsp:cNvSpPr/>
      </dsp:nvSpPr>
      <dsp:spPr>
        <a:xfrm>
          <a:off x="9330815" y="565766"/>
          <a:ext cx="8199505" cy="2575901"/>
        </a:xfrm>
        <a:prstGeom prst="rect">
          <a:avLst/>
        </a:prstGeom>
        <a:solidFill>
          <a:schemeClr val="accent1">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2064" tIns="292608" rIns="512064" bIns="292608" numCol="1" spcCol="1270" anchor="ctr" anchorCtr="0">
          <a:noAutofit/>
        </a:bodyPr>
        <a:lstStyle/>
        <a:p>
          <a:pPr marL="0" lvl="0" indent="0" algn="ctr" defTabSz="3200400">
            <a:lnSpc>
              <a:spcPct val="90000"/>
            </a:lnSpc>
            <a:spcBef>
              <a:spcPct val="0"/>
            </a:spcBef>
            <a:spcAft>
              <a:spcPct val="35000"/>
            </a:spcAft>
            <a:buNone/>
          </a:pPr>
          <a:r>
            <a:rPr lang="en-GB" sz="7200" kern="1200">
              <a:latin typeface="Arial" panose="020B0604020202020204" pitchFamily="34" charset="0"/>
              <a:cs typeface="Arial" panose="020B0604020202020204" pitchFamily="34" charset="0"/>
            </a:rPr>
            <a:t>Internships and placements</a:t>
          </a:r>
        </a:p>
      </dsp:txBody>
      <dsp:txXfrm>
        <a:off x="9330815" y="565766"/>
        <a:ext cx="8199505" cy="2575901"/>
      </dsp:txXfrm>
    </dsp:sp>
    <dsp:sp modelId="{A8114F2B-CF9B-4ECF-B7BB-7F3781C92CB9}">
      <dsp:nvSpPr>
        <dsp:cNvPr id="0" name=""/>
        <dsp:cNvSpPr/>
      </dsp:nvSpPr>
      <dsp:spPr>
        <a:xfrm>
          <a:off x="9334915" y="3139908"/>
          <a:ext cx="8199505" cy="10456234"/>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8036" tIns="288036" rIns="384048" bIns="432054" numCol="1" spcCol="1270" anchor="t" anchorCtr="0">
          <a:noAutofit/>
        </a:bodyPr>
        <a:lstStyle/>
        <a:p>
          <a:pPr marL="387350" lvl="1" indent="-38735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rPr>
            <a:t>Summer Placements</a:t>
          </a:r>
        </a:p>
        <a:p>
          <a:pPr marL="387350" lvl="1" indent="-387350" algn="l" defTabSz="2400300">
            <a:lnSpc>
              <a:spcPct val="90000"/>
            </a:lnSpc>
            <a:spcBef>
              <a:spcPct val="0"/>
            </a:spcBef>
            <a:spcAft>
              <a:spcPct val="15000"/>
            </a:spcAft>
            <a:buFont typeface="System Font Regular"/>
            <a:buChar char="-"/>
            <a:tabLst/>
          </a:pPr>
          <a:endParaRPr lang="en-GB" sz="5400" kern="1200">
            <a:latin typeface="Arial" panose="020B0604020202020204" pitchFamily="34" charset="0"/>
            <a:cs typeface="Arial" panose="020B0604020202020204" pitchFamily="34" charset="0"/>
          </a:endParaRPr>
        </a:p>
        <a:p>
          <a:pPr marL="387350" lvl="1" indent="-38735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rPr>
            <a:t>Internship programmes </a:t>
          </a:r>
          <a:r>
            <a:rPr lang="en-GB" sz="5400" kern="1200">
              <a:latin typeface="Arial" panose="020B0604020202020204" pitchFamily="34" charset="0"/>
              <a:cs typeface="Arial" panose="020B0604020202020204" pitchFamily="34" charset="0"/>
              <a:hlinkClick xmlns:r="http://schemas.openxmlformats.org/officeDocument/2006/relationships" r:id="rId3"/>
            </a:rPr>
            <a:t>‘Health Data Science Black Internship Programme’</a:t>
          </a:r>
          <a:br>
            <a:rPr lang="en-GB" sz="5400" kern="1200">
              <a:latin typeface="Arial" panose="020B0604020202020204" pitchFamily="34" charset="0"/>
              <a:cs typeface="Arial" panose="020B0604020202020204" pitchFamily="34" charset="0"/>
            </a:rPr>
          </a:br>
          <a:endParaRPr lang="en-GB" sz="5400" kern="1200">
            <a:latin typeface="Arial" panose="020B0604020202020204" pitchFamily="34" charset="0"/>
            <a:cs typeface="Arial" panose="020B0604020202020204" pitchFamily="34" charset="0"/>
          </a:endParaRPr>
        </a:p>
        <a:p>
          <a:pPr marL="387350" lvl="1" indent="-38735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4"/>
            </a:rPr>
            <a:t>Civil Service Care Leavers Internship Scheme</a:t>
          </a:r>
          <a:br>
            <a:rPr lang="en-GB" sz="5400" kern="1200">
              <a:latin typeface="Arial" panose="020B0604020202020204" pitchFamily="34" charset="0"/>
              <a:cs typeface="Arial" panose="020B0604020202020204" pitchFamily="34" charset="0"/>
            </a:rPr>
          </a:br>
          <a:endParaRPr lang="en-GB" sz="5400" kern="1200">
            <a:latin typeface="Arial" panose="020B0604020202020204" pitchFamily="34" charset="0"/>
            <a:cs typeface="Arial" panose="020B0604020202020204" pitchFamily="34" charset="0"/>
          </a:endParaRPr>
        </a:p>
        <a:p>
          <a:pPr marL="387350" lvl="1" indent="-387350"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5"/>
            </a:rPr>
            <a:t>Civil service fast stream internships</a:t>
          </a:r>
          <a:endParaRPr lang="en-GB" sz="5400" kern="1200">
            <a:latin typeface="Arial" panose="020B0604020202020204" pitchFamily="34" charset="0"/>
            <a:cs typeface="Arial" panose="020B0604020202020204" pitchFamily="34" charset="0"/>
          </a:endParaRPr>
        </a:p>
      </dsp:txBody>
      <dsp:txXfrm>
        <a:off x="9334915" y="3139908"/>
        <a:ext cx="8199505" cy="10456234"/>
      </dsp:txXfrm>
    </dsp:sp>
    <dsp:sp modelId="{AD324287-A892-4789-826A-BFEC4CDF1FFF}">
      <dsp:nvSpPr>
        <dsp:cNvPr id="0" name=""/>
        <dsp:cNvSpPr/>
      </dsp:nvSpPr>
      <dsp:spPr>
        <a:xfrm>
          <a:off x="18708507" y="500956"/>
          <a:ext cx="8199505" cy="2575901"/>
        </a:xfrm>
        <a:prstGeom prst="rect">
          <a:avLst/>
        </a:prstGeom>
        <a:solidFill>
          <a:schemeClr val="accent1">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2064" tIns="292608" rIns="512064" bIns="292608" numCol="1" spcCol="1270" anchor="ctr" anchorCtr="0">
          <a:noAutofit/>
        </a:bodyPr>
        <a:lstStyle/>
        <a:p>
          <a:pPr marL="0" lvl="0" indent="0" algn="ctr" defTabSz="3200400">
            <a:lnSpc>
              <a:spcPct val="90000"/>
            </a:lnSpc>
            <a:spcBef>
              <a:spcPct val="0"/>
            </a:spcBef>
            <a:spcAft>
              <a:spcPct val="35000"/>
            </a:spcAft>
            <a:buNone/>
          </a:pPr>
          <a:r>
            <a:rPr lang="en-GB" sz="7200" kern="1200">
              <a:latin typeface="Arial" panose="020B0604020202020204" pitchFamily="34" charset="0"/>
              <a:cs typeface="Arial" panose="020B0604020202020204" pitchFamily="34" charset="0"/>
            </a:rPr>
            <a:t>Academic roles</a:t>
          </a:r>
        </a:p>
      </dsp:txBody>
      <dsp:txXfrm>
        <a:off x="18708507" y="500956"/>
        <a:ext cx="8199505" cy="2575901"/>
      </dsp:txXfrm>
    </dsp:sp>
    <dsp:sp modelId="{55FEC92E-0CEC-4FEE-A962-FB6A3C4E4EDE}">
      <dsp:nvSpPr>
        <dsp:cNvPr id="0" name=""/>
        <dsp:cNvSpPr/>
      </dsp:nvSpPr>
      <dsp:spPr>
        <a:xfrm>
          <a:off x="18708507" y="3076857"/>
          <a:ext cx="8199505" cy="10456234"/>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8036" tIns="288036" rIns="384048" bIns="432054" numCol="1" spcCol="1270" anchor="t" anchorCtr="0">
          <a:noAutofit/>
        </a:bodyPr>
        <a:lstStyle/>
        <a:p>
          <a:pPr marL="493713" lvl="1" indent="-493713"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rPr>
            <a:t>Research assistants (Masters)</a:t>
          </a:r>
        </a:p>
        <a:p>
          <a:pPr marL="493713" lvl="1" indent="-493713" algn="l" defTabSz="2400300">
            <a:lnSpc>
              <a:spcPct val="90000"/>
            </a:lnSpc>
            <a:spcBef>
              <a:spcPct val="0"/>
            </a:spcBef>
            <a:spcAft>
              <a:spcPct val="15000"/>
            </a:spcAft>
            <a:buFont typeface="System Font Regular"/>
            <a:buChar char="-"/>
            <a:tabLst/>
          </a:pPr>
          <a:endParaRPr lang="en-GB" sz="5400" kern="1200">
            <a:latin typeface="Arial" panose="020B0604020202020204" pitchFamily="34" charset="0"/>
            <a:cs typeface="Arial" panose="020B0604020202020204" pitchFamily="34" charset="0"/>
          </a:endParaRPr>
        </a:p>
        <a:p>
          <a:pPr marL="493713" lvl="1" indent="-493713"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rPr>
            <a:t>Research Associates (PhD)</a:t>
          </a:r>
        </a:p>
      </dsp:txBody>
      <dsp:txXfrm>
        <a:off x="18708507" y="3076857"/>
        <a:ext cx="8199505" cy="10456234"/>
      </dsp:txXfrm>
    </dsp:sp>
    <dsp:sp modelId="{6ED2B6FA-A687-464E-8540-74CFF160F561}">
      <dsp:nvSpPr>
        <dsp:cNvPr id="0" name=""/>
        <dsp:cNvSpPr/>
      </dsp:nvSpPr>
      <dsp:spPr>
        <a:xfrm>
          <a:off x="28055943" y="500956"/>
          <a:ext cx="8199505" cy="2575901"/>
        </a:xfrm>
        <a:prstGeom prst="rect">
          <a:avLst/>
        </a:prstGeom>
        <a:solidFill>
          <a:schemeClr val="accent1">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2064" tIns="292608" rIns="512064" bIns="292608" numCol="1" spcCol="1270" anchor="ctr" anchorCtr="0">
          <a:noAutofit/>
        </a:bodyPr>
        <a:lstStyle/>
        <a:p>
          <a:pPr marL="0" lvl="0" indent="0" algn="ctr" defTabSz="3200400">
            <a:lnSpc>
              <a:spcPct val="90000"/>
            </a:lnSpc>
            <a:spcBef>
              <a:spcPct val="0"/>
            </a:spcBef>
            <a:spcAft>
              <a:spcPct val="35000"/>
            </a:spcAft>
            <a:buNone/>
          </a:pPr>
          <a:r>
            <a:rPr lang="en-GB" sz="7200" kern="1200">
              <a:latin typeface="Arial" panose="020B0604020202020204" pitchFamily="34" charset="0"/>
              <a:cs typeface="Arial" panose="020B0604020202020204" pitchFamily="34" charset="0"/>
            </a:rPr>
            <a:t>Direct roles</a:t>
          </a:r>
        </a:p>
      </dsp:txBody>
      <dsp:txXfrm>
        <a:off x="28055943" y="500956"/>
        <a:ext cx="8199505" cy="2575901"/>
      </dsp:txXfrm>
    </dsp:sp>
    <dsp:sp modelId="{D60B97A1-71BB-4720-8F4A-0EDBFB19CDFD}">
      <dsp:nvSpPr>
        <dsp:cNvPr id="0" name=""/>
        <dsp:cNvSpPr/>
      </dsp:nvSpPr>
      <dsp:spPr>
        <a:xfrm>
          <a:off x="28055943" y="3076857"/>
          <a:ext cx="8199505" cy="10456234"/>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8036" tIns="288036" rIns="384048" bIns="432054" numCol="1" spcCol="1270" anchor="t" anchorCtr="0">
          <a:noAutofit/>
        </a:bodyPr>
        <a:lstStyle/>
        <a:p>
          <a:pPr marL="422275" lvl="1" indent="-422275"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6"/>
            </a:rPr>
            <a:t>The Alan Turing Institute</a:t>
          </a:r>
          <a:endParaRPr lang="en-GB" sz="5400" kern="1200">
            <a:latin typeface="Arial" panose="020B0604020202020204" pitchFamily="34" charset="0"/>
            <a:cs typeface="Arial" panose="020B0604020202020204" pitchFamily="34" charset="0"/>
          </a:endParaRPr>
        </a:p>
        <a:p>
          <a:pPr marL="422275" lvl="1" indent="-422275" algn="l" defTabSz="2400300">
            <a:lnSpc>
              <a:spcPct val="90000"/>
            </a:lnSpc>
            <a:spcBef>
              <a:spcPct val="0"/>
            </a:spcBef>
            <a:spcAft>
              <a:spcPct val="15000"/>
            </a:spcAft>
            <a:buFont typeface="System Font Regular"/>
            <a:buChar char="-"/>
            <a:tabLst/>
          </a:pPr>
          <a:endParaRPr lang="en-GB" sz="5400" kern="1200">
            <a:latin typeface="Arial" panose="020B0604020202020204" pitchFamily="34" charset="0"/>
            <a:cs typeface="Arial" panose="020B0604020202020204" pitchFamily="34" charset="0"/>
          </a:endParaRPr>
        </a:p>
        <a:p>
          <a:pPr marL="422275" lvl="1" indent="-422275"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7"/>
            </a:rPr>
            <a:t>Civil Service Jobs portal</a:t>
          </a:r>
          <a:endParaRPr lang="en-GB" sz="5400" kern="1200">
            <a:latin typeface="Arial" panose="020B0604020202020204" pitchFamily="34" charset="0"/>
            <a:cs typeface="Arial" panose="020B0604020202020204" pitchFamily="34" charset="0"/>
          </a:endParaRPr>
        </a:p>
        <a:p>
          <a:pPr marL="422275" lvl="1" indent="-422275" algn="l" defTabSz="2400300">
            <a:lnSpc>
              <a:spcPct val="90000"/>
            </a:lnSpc>
            <a:spcBef>
              <a:spcPct val="0"/>
            </a:spcBef>
            <a:spcAft>
              <a:spcPct val="15000"/>
            </a:spcAft>
            <a:buFont typeface="System Font Regular"/>
            <a:buChar char="-"/>
            <a:tabLst/>
          </a:pPr>
          <a:endParaRPr lang="en-GB" sz="5400" kern="1200">
            <a:latin typeface="Arial" panose="020B0604020202020204" pitchFamily="34" charset="0"/>
            <a:cs typeface="Arial" panose="020B0604020202020204" pitchFamily="34" charset="0"/>
          </a:endParaRPr>
        </a:p>
        <a:p>
          <a:pPr marL="422275" lvl="1" indent="-422275" algn="l" defTabSz="2400300">
            <a:lnSpc>
              <a:spcPct val="90000"/>
            </a:lnSpc>
            <a:spcBef>
              <a:spcPct val="0"/>
            </a:spcBef>
            <a:spcAft>
              <a:spcPct val="15000"/>
            </a:spcAft>
            <a:buFont typeface="System Font Regular"/>
            <a:buChar char="-"/>
            <a:tabLst/>
          </a:pPr>
          <a:r>
            <a:rPr lang="en-GB" sz="5400" kern="1200">
              <a:latin typeface="Arial" panose="020B0604020202020204" pitchFamily="34" charset="0"/>
              <a:cs typeface="Arial" panose="020B0604020202020204" pitchFamily="34" charset="0"/>
              <a:hlinkClick xmlns:r="http://schemas.openxmlformats.org/officeDocument/2006/relationships" r:id="rId8"/>
            </a:rPr>
            <a:t>Central NHS England </a:t>
          </a:r>
          <a:r>
            <a:rPr lang="en-GB" sz="5400" kern="1200">
              <a:latin typeface="Arial" panose="020B0604020202020204" pitchFamily="34" charset="0"/>
              <a:cs typeface="Arial" panose="020B0604020202020204" pitchFamily="34" charset="0"/>
            </a:rPr>
            <a:t>or NHS Trusts (visit each Trust website separately)</a:t>
          </a:r>
        </a:p>
      </dsp:txBody>
      <dsp:txXfrm>
        <a:off x="28055943" y="3076857"/>
        <a:ext cx="8199505" cy="1045623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A9330B-8469-4B65-9A4D-9121D0DCFE2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9622AFF-D3B0-4D5A-9BB5-0EA7179627E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2BFC0F8C-6641-4235-B84F-B123C3FC4D9D}" type="datetimeFigureOut">
              <a:rPr lang="en-GB" smtClean="0"/>
              <a:t>03/03/2026</a:t>
            </a:fld>
            <a:endParaRPr lang="en-GB"/>
          </a:p>
        </p:txBody>
      </p:sp>
      <p:sp>
        <p:nvSpPr>
          <p:cNvPr id="4" name="Footer Placeholder 3">
            <a:extLst>
              <a:ext uri="{FF2B5EF4-FFF2-40B4-BE49-F238E27FC236}">
                <a16:creationId xmlns:a16="http://schemas.microsoft.com/office/drawing/2014/main" id="{6875CAE3-B60B-40EE-AA0B-C94EBE074E99}"/>
              </a:ext>
            </a:extLst>
          </p:cNvPr>
          <p:cNvSpPr>
            <a:spLocks noGrp="1"/>
          </p:cNvSpPr>
          <p:nvPr>
            <p:ph type="ftr" sz="quarter" idx="2"/>
          </p:nvPr>
        </p:nvSpPr>
        <p:spPr>
          <a:xfrm>
            <a:off x="0" y="9445625"/>
            <a:ext cx="2949575" cy="49847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82D3D8AC-002D-45F2-8020-A4D7397C7BBF}"/>
              </a:ext>
            </a:extLst>
          </p:cNvPr>
          <p:cNvSpPr>
            <a:spLocks noGrp="1"/>
          </p:cNvSpPr>
          <p:nvPr>
            <p:ph type="sldNum" sz="quarter" idx="3"/>
          </p:nvPr>
        </p:nvSpPr>
        <p:spPr>
          <a:xfrm>
            <a:off x="3854450" y="9445625"/>
            <a:ext cx="2949575" cy="498475"/>
          </a:xfrm>
          <a:prstGeom prst="rect">
            <a:avLst/>
          </a:prstGeom>
        </p:spPr>
        <p:txBody>
          <a:bodyPr vert="horz" lIns="91440" tIns="45720" rIns="91440" bIns="45720" rtlCol="0" anchor="b"/>
          <a:lstStyle>
            <a:lvl1pPr algn="r">
              <a:defRPr sz="1200"/>
            </a:lvl1pPr>
          </a:lstStyle>
          <a:p>
            <a:fld id="{160CADCF-D77D-4A8F-B8AE-C3851771A786}" type="slidenum">
              <a:rPr lang="en-GB" smtClean="0"/>
              <a:t>‹#›</a:t>
            </a:fld>
            <a:endParaRPr lang="en-GB"/>
          </a:p>
        </p:txBody>
      </p:sp>
    </p:spTree>
    <p:extLst>
      <p:ext uri="{BB962C8B-B14F-4D97-AF65-F5344CB8AC3E}">
        <p14:creationId xmlns:p14="http://schemas.microsoft.com/office/powerpoint/2010/main" val="4145983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235226-B145-4E10-983B-1CC3FFD77C77}"/>
              </a:ext>
            </a:extLst>
          </p:cNvPr>
          <p:cNvSpPr>
            <a:spLocks noGrp="1"/>
          </p:cNvSpPr>
          <p:nvPr>
            <p:ph type="hdr" sz="quarter"/>
          </p:nvPr>
        </p:nvSpPr>
        <p:spPr>
          <a:xfrm>
            <a:off x="1" y="0"/>
            <a:ext cx="2949575"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GB"/>
          </a:p>
        </p:txBody>
      </p:sp>
      <p:sp>
        <p:nvSpPr>
          <p:cNvPr id="3" name="Date Placeholder 2">
            <a:extLst>
              <a:ext uri="{FF2B5EF4-FFF2-40B4-BE49-F238E27FC236}">
                <a16:creationId xmlns:a16="http://schemas.microsoft.com/office/drawing/2014/main" id="{C4CFC5A7-8C8B-4687-B28B-5BF9AEB6A4DE}"/>
              </a:ext>
            </a:extLst>
          </p:cNvPr>
          <p:cNvSpPr>
            <a:spLocks noGrp="1"/>
          </p:cNvSpPr>
          <p:nvPr>
            <p:ph type="dt" idx="1"/>
          </p:nvPr>
        </p:nvSpPr>
        <p:spPr>
          <a:xfrm>
            <a:off x="3854451" y="0"/>
            <a:ext cx="2949575"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E418932-800F-49B7-9B85-80D8118CABFE}" type="datetimeFigureOut">
              <a:rPr lang="en-GB"/>
              <a:pPr>
                <a:defRPr/>
              </a:pPr>
              <a:t>03/03/2026</a:t>
            </a:fld>
            <a:endParaRPr lang="en-GB"/>
          </a:p>
        </p:txBody>
      </p:sp>
      <p:sp>
        <p:nvSpPr>
          <p:cNvPr id="4" name="Slide Image Placeholder 3">
            <a:extLst>
              <a:ext uri="{FF2B5EF4-FFF2-40B4-BE49-F238E27FC236}">
                <a16:creationId xmlns:a16="http://schemas.microsoft.com/office/drawing/2014/main" id="{46F1F158-007E-427F-8465-C2613159418F}"/>
              </a:ext>
            </a:extLst>
          </p:cNvPr>
          <p:cNvSpPr>
            <a:spLocks noGrp="1" noRot="1" noChangeAspect="1"/>
          </p:cNvSpPr>
          <p:nvPr>
            <p:ph type="sldImg" idx="2"/>
          </p:nvPr>
        </p:nvSpPr>
        <p:spPr>
          <a:xfrm>
            <a:off x="88900" y="746125"/>
            <a:ext cx="6627813" cy="3729038"/>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44E36E06-D37F-4889-B95F-01BE44729479}"/>
              </a:ext>
            </a:extLst>
          </p:cNvPr>
          <p:cNvSpPr>
            <a:spLocks noGrp="1"/>
          </p:cNvSpPr>
          <p:nvPr>
            <p:ph type="body" sz="quarter" idx="3"/>
          </p:nvPr>
        </p:nvSpPr>
        <p:spPr>
          <a:xfrm>
            <a:off x="681039" y="4722814"/>
            <a:ext cx="5443537" cy="4475162"/>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07F15012-0BDA-4DFA-8088-A120A094BDD7}"/>
              </a:ext>
            </a:extLst>
          </p:cNvPr>
          <p:cNvSpPr>
            <a:spLocks noGrp="1"/>
          </p:cNvSpPr>
          <p:nvPr>
            <p:ph type="ftr" sz="quarter" idx="4"/>
          </p:nvPr>
        </p:nvSpPr>
        <p:spPr>
          <a:xfrm>
            <a:off x="1" y="9445625"/>
            <a:ext cx="2949575" cy="4968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GB"/>
          </a:p>
        </p:txBody>
      </p:sp>
      <p:sp>
        <p:nvSpPr>
          <p:cNvPr id="7" name="Slide Number Placeholder 6">
            <a:extLst>
              <a:ext uri="{FF2B5EF4-FFF2-40B4-BE49-F238E27FC236}">
                <a16:creationId xmlns:a16="http://schemas.microsoft.com/office/drawing/2014/main" id="{39AE7443-C6D5-424B-AFA3-DE5D710955E3}"/>
              </a:ext>
            </a:extLst>
          </p:cNvPr>
          <p:cNvSpPr>
            <a:spLocks noGrp="1"/>
          </p:cNvSpPr>
          <p:nvPr>
            <p:ph type="sldNum" sz="quarter" idx="5"/>
          </p:nvPr>
        </p:nvSpPr>
        <p:spPr>
          <a:xfrm>
            <a:off x="3854451" y="9445625"/>
            <a:ext cx="2949575" cy="49688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20FE0A2-34EE-413D-B87D-BE548BE2D9D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4339" kern="1200">
        <a:solidFill>
          <a:schemeClr val="tx1"/>
        </a:solidFill>
        <a:latin typeface="+mn-lt"/>
        <a:ea typeface="+mn-ea"/>
        <a:cs typeface="+mn-cs"/>
      </a:defRPr>
    </a:lvl1pPr>
    <a:lvl2pPr marL="1652878" algn="l" rtl="0" eaLnBrk="0" fontAlgn="base" hangingPunct="0">
      <a:spcBef>
        <a:spcPct val="30000"/>
      </a:spcBef>
      <a:spcAft>
        <a:spcPct val="0"/>
      </a:spcAft>
      <a:defRPr sz="4339" kern="1200">
        <a:solidFill>
          <a:schemeClr val="tx1"/>
        </a:solidFill>
        <a:latin typeface="+mn-lt"/>
        <a:ea typeface="+mn-ea"/>
        <a:cs typeface="+mn-cs"/>
      </a:defRPr>
    </a:lvl2pPr>
    <a:lvl3pPr marL="3305753" algn="l" rtl="0" eaLnBrk="0" fontAlgn="base" hangingPunct="0">
      <a:spcBef>
        <a:spcPct val="30000"/>
      </a:spcBef>
      <a:spcAft>
        <a:spcPct val="0"/>
      </a:spcAft>
      <a:defRPr sz="4339" kern="1200">
        <a:solidFill>
          <a:schemeClr val="tx1"/>
        </a:solidFill>
        <a:latin typeface="+mn-lt"/>
        <a:ea typeface="+mn-ea"/>
        <a:cs typeface="+mn-cs"/>
      </a:defRPr>
    </a:lvl3pPr>
    <a:lvl4pPr marL="4958631" algn="l" rtl="0" eaLnBrk="0" fontAlgn="base" hangingPunct="0">
      <a:spcBef>
        <a:spcPct val="30000"/>
      </a:spcBef>
      <a:spcAft>
        <a:spcPct val="0"/>
      </a:spcAft>
      <a:defRPr sz="4339" kern="1200">
        <a:solidFill>
          <a:schemeClr val="tx1"/>
        </a:solidFill>
        <a:latin typeface="+mn-lt"/>
        <a:ea typeface="+mn-ea"/>
        <a:cs typeface="+mn-cs"/>
      </a:defRPr>
    </a:lvl4pPr>
    <a:lvl5pPr marL="6611506" algn="l" rtl="0" eaLnBrk="0" fontAlgn="base" hangingPunct="0">
      <a:spcBef>
        <a:spcPct val="30000"/>
      </a:spcBef>
      <a:spcAft>
        <a:spcPct val="0"/>
      </a:spcAft>
      <a:defRPr sz="4339" kern="1200">
        <a:solidFill>
          <a:schemeClr val="tx1"/>
        </a:solidFill>
        <a:latin typeface="+mn-lt"/>
        <a:ea typeface="+mn-ea"/>
        <a:cs typeface="+mn-cs"/>
      </a:defRPr>
    </a:lvl5pPr>
    <a:lvl6pPr marL="8264384" algn="l" defTabSz="3305753" rtl="0" eaLnBrk="1" latinLnBrk="0" hangingPunct="1">
      <a:defRPr sz="4339" kern="1200">
        <a:solidFill>
          <a:schemeClr val="tx1"/>
        </a:solidFill>
        <a:latin typeface="+mn-lt"/>
        <a:ea typeface="+mn-ea"/>
        <a:cs typeface="+mn-cs"/>
      </a:defRPr>
    </a:lvl6pPr>
    <a:lvl7pPr marL="9917261" algn="l" defTabSz="3305753" rtl="0" eaLnBrk="1" latinLnBrk="0" hangingPunct="1">
      <a:defRPr sz="4339" kern="1200">
        <a:solidFill>
          <a:schemeClr val="tx1"/>
        </a:solidFill>
        <a:latin typeface="+mn-lt"/>
        <a:ea typeface="+mn-ea"/>
        <a:cs typeface="+mn-cs"/>
      </a:defRPr>
    </a:lvl7pPr>
    <a:lvl8pPr marL="11570136" algn="l" defTabSz="3305753" rtl="0" eaLnBrk="1" latinLnBrk="0" hangingPunct="1">
      <a:defRPr sz="4339" kern="1200">
        <a:solidFill>
          <a:schemeClr val="tx1"/>
        </a:solidFill>
        <a:latin typeface="+mn-lt"/>
        <a:ea typeface="+mn-ea"/>
        <a:cs typeface="+mn-cs"/>
      </a:defRPr>
    </a:lvl8pPr>
    <a:lvl9pPr marL="13223014" algn="l" defTabSz="3305753" rtl="0" eaLnBrk="1" latinLnBrk="0" hangingPunct="1">
      <a:defRPr sz="433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mailto:events@turing.ac.uk"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england.nhs.uk/2024/06/synnovis-cyber-attack-statement-from-nhs-england/" TargetMode="External"/><Relationship Id="rId7" Type="http://schemas.openxmlformats.org/officeDocument/2006/relationships/hyperlink" Target="https://www.turing.ac.uk/blog/uks-critical-infrastructure-risk-cyber-attacks-our-ai-tools-will-provide-new-line-defence"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www.publictechnology.net/2025/11/14/news/synnovis-concludes-probe-into-complex-nhs-cyberattack-that-breached-random-and-fragmented-data/" TargetMode="External"/><Relationship Id="rId5" Type="http://schemas.openxmlformats.org/officeDocument/2006/relationships/hyperlink" Target="https://www.hipaajournal.com/care-disrupted-at-london-hospitals-due-to-ransomware-attack-on-pathology-vendor/" TargetMode="External"/><Relationship Id="rId4" Type="http://schemas.openxmlformats.org/officeDocument/2006/relationships/hyperlink" Target="https://www.england.nhs.uk/london/2024/06/14/update-on-cyber-incident-clinical-impact-in-south-east-london-friday-14-june-2024/"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royalsociety.org/topics-policy/diversity-in-science/uk-scientific-workforce-report/"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static.googleusercontent.com/media/about.google/en/belonging/diversity-annual-report/2021/static/pdfs/google_2021_diversity_annual_report.pdf?cachebust=2e13d07" TargetMode="External"/><Relationship Id="rId5" Type="http://schemas.openxmlformats.org/officeDocument/2006/relationships/hyperlink" Target="https://www.turing.ac.uk/research/research-projects/women-data-science-and-ai-new" TargetMode="External"/><Relationship Id="rId4" Type="http://schemas.openxmlformats.org/officeDocument/2006/relationships/hyperlink" Target="https://www.theguardian.com/technology/2019/apr/16/artificial-intelligence-lack-diversity-new-york-university-study"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600" b="1" u="sng" kern="100" dirty="0">
                <a:latin typeface="Arial" panose="020B0604020202020204" pitchFamily="34" charset="0"/>
                <a:ea typeface="Calibri" panose="020F0502020204030204" pitchFamily="34" charset="0"/>
                <a:cs typeface="Arial" panose="020B0604020202020204" pitchFamily="34" charset="0"/>
              </a:rPr>
              <a:t>Host:</a:t>
            </a:r>
          </a:p>
          <a:p>
            <a:pPr>
              <a:lnSpc>
                <a:spcPct val="107000"/>
              </a:lnSpc>
              <a:spcAft>
                <a:spcPts val="800"/>
              </a:spcAft>
            </a:pPr>
            <a:r>
              <a:rPr lang="en-GB" sz="1600" kern="100" dirty="0">
                <a:latin typeface="Arial" panose="020B0604020202020204" pitchFamily="34" charset="0"/>
                <a:ea typeface="Calibri" panose="020F0502020204030204" pitchFamily="34" charset="0"/>
                <a:cs typeface="Arial" panose="020B0604020202020204" pitchFamily="34" charset="0"/>
              </a:rPr>
              <a:t>Welcome</a:t>
            </a:r>
            <a:r>
              <a:rPr lang="en-GB" sz="1600" kern="100" dirty="0">
                <a:effectLst/>
                <a:latin typeface="Arial" panose="020B0604020202020204" pitchFamily="34" charset="0"/>
                <a:ea typeface="Calibri" panose="020F0502020204030204" pitchFamily="34" charset="0"/>
                <a:cs typeface="Arial" panose="020B0604020202020204" pitchFamily="34" charset="0"/>
              </a:rPr>
              <a:t>, this talk has been put together by The Alan Turing Institute, the UK’s national institute for data science and AI. The project is supported by the Institute’s Defence and Security Partners and, as such (and in addition to general government/academia careers), will also cover specific roles and routes into defence and security careers.</a:t>
            </a:r>
            <a:endParaRPr lang="en-GB" sz="1600" dirty="0">
              <a:latin typeface="Arial" panose="020B0604020202020204" pitchFamily="34" charset="0"/>
              <a:cs typeface="Arial" panose="020B0604020202020204" pitchFamily="34" charset="0"/>
            </a:endParaRPr>
          </a:p>
          <a:p>
            <a:pPr>
              <a:lnSpc>
                <a:spcPct val="107000"/>
              </a:lnSpc>
              <a:spcAft>
                <a:spcPts val="800"/>
              </a:spcAft>
            </a:pPr>
            <a:r>
              <a:rPr lang="en-GB" sz="1600" kern="100" dirty="0">
                <a:effectLst/>
                <a:latin typeface="Arial" panose="020B0604020202020204" pitchFamily="34" charset="0"/>
                <a:ea typeface="Calibri" panose="020F0502020204030204" pitchFamily="34" charset="0"/>
                <a:cs typeface="Arial" panose="020B0604020202020204" pitchFamily="34" charset="0"/>
              </a:rPr>
              <a:t>My name is ______ and I am </a:t>
            </a:r>
            <a:r>
              <a:rPr lang="en-GB" sz="1600" kern="100" dirty="0">
                <a:latin typeface="Arial" panose="020B0604020202020204" pitchFamily="34" charset="0"/>
                <a:ea typeface="Calibri" panose="020F0502020204030204" pitchFamily="34" charset="0"/>
                <a:cs typeface="Arial" panose="020B0604020202020204" pitchFamily="34" charset="0"/>
              </a:rPr>
              <a:t>[</a:t>
            </a:r>
            <a:r>
              <a:rPr lang="en-GB" sz="1600" i="1" kern="100" dirty="0">
                <a:effectLst/>
                <a:latin typeface="Arial" panose="020B0604020202020204" pitchFamily="34" charset="0"/>
                <a:ea typeface="Calibri" panose="020F0502020204030204" pitchFamily="34" charset="0"/>
                <a:cs typeface="Arial" panose="020B0604020202020204" pitchFamily="34" charset="0"/>
              </a:rPr>
              <a:t>insert information about the presenter</a:t>
            </a:r>
            <a:r>
              <a:rPr lang="en-GB" sz="1600" i="1" kern="100" dirty="0">
                <a:latin typeface="Arial" panose="020B0604020202020204" pitchFamily="34" charset="0"/>
                <a:ea typeface="Calibri" panose="020F0502020204030204" pitchFamily="34" charset="0"/>
                <a:cs typeface="Arial" panose="020B0604020202020204" pitchFamily="34" charset="0"/>
              </a:rPr>
              <a:t> here]</a:t>
            </a:r>
            <a:endParaRPr lang="en-GB" sz="16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Calibri" panose="020F0502020204030204" pitchFamily="34" charset="0"/>
              <a:buChar char="-"/>
              <a:tabLst>
                <a:tab pos="457200" algn="l"/>
              </a:tabLst>
            </a:pPr>
            <a:r>
              <a:rPr lang="en-GB" sz="1600" i="1" kern="100" dirty="0">
                <a:effectLst/>
                <a:latin typeface="Arial" panose="020B0604020202020204" pitchFamily="34" charset="0"/>
                <a:ea typeface="Calibri" panose="020F0502020204030204" pitchFamily="34" charset="0"/>
                <a:cs typeface="Arial" panose="020B0604020202020204" pitchFamily="34" charset="0"/>
              </a:rPr>
              <a:t>Name and pronouns</a:t>
            </a:r>
            <a:endParaRPr lang="en-GB" sz="16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Calibri" panose="020F0502020204030204" pitchFamily="34" charset="0"/>
              <a:buChar char="-"/>
              <a:tabLst>
                <a:tab pos="457200" algn="l"/>
              </a:tabLst>
            </a:pPr>
            <a:r>
              <a:rPr lang="en-GB" sz="1600" i="1" kern="100" dirty="0">
                <a:effectLst/>
                <a:latin typeface="Arial" panose="020B0604020202020204" pitchFamily="34" charset="0"/>
                <a:ea typeface="Calibri" panose="020F0502020204030204" pitchFamily="34" charset="0"/>
                <a:cs typeface="Arial" panose="020B0604020202020204" pitchFamily="34" charset="0"/>
              </a:rPr>
              <a:t>Organisation affiliation </a:t>
            </a:r>
            <a:endParaRPr lang="en-GB" sz="16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Calibri" panose="020F0502020204030204" pitchFamily="34" charset="0"/>
              <a:buChar char="-"/>
              <a:tabLst>
                <a:tab pos="457200" algn="l"/>
              </a:tabLst>
            </a:pPr>
            <a:r>
              <a:rPr lang="en-GB" sz="1600" i="1" kern="100" dirty="0">
                <a:effectLst/>
                <a:latin typeface="Arial" panose="020B0604020202020204" pitchFamily="34" charset="0"/>
                <a:ea typeface="Calibri" panose="020F0502020204030204" pitchFamily="34" charset="0"/>
                <a:cs typeface="Arial" panose="020B0604020202020204" pitchFamily="34" charset="0"/>
              </a:rPr>
              <a:t>Job title</a:t>
            </a:r>
            <a:endParaRPr lang="en-GB" sz="16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Calibri" panose="020F0502020204030204" pitchFamily="34" charset="0"/>
              <a:buChar char="-"/>
              <a:tabLst>
                <a:tab pos="457200" algn="l"/>
              </a:tabLst>
            </a:pPr>
            <a:r>
              <a:rPr lang="en-GB" sz="1600" i="1" kern="100" dirty="0">
                <a:effectLst/>
                <a:latin typeface="Arial" panose="020B0604020202020204" pitchFamily="34" charset="0"/>
                <a:ea typeface="Calibri" panose="020F0502020204030204" pitchFamily="34" charset="0"/>
                <a:cs typeface="Arial" panose="020B0604020202020204" pitchFamily="34" charset="0"/>
              </a:rPr>
              <a:t>(Summary of career trajectory)</a:t>
            </a:r>
          </a:p>
          <a:p>
            <a:pPr algn="l" rtl="0" fontAlgn="base"/>
            <a:r>
              <a:rPr lang="en-GB" sz="800" b="0" i="0" u="none" strike="noStrike" dirty="0">
                <a:solidFill>
                  <a:srgbClr val="000000"/>
                </a:solidFill>
                <a:effectLst/>
                <a:latin typeface="Arial" panose="020B0604020202020204" pitchFamily="34" charset="0"/>
                <a:cs typeface="Arial" panose="020B0604020202020204" pitchFamily="34" charset="0"/>
              </a:rPr>
              <a:t>Before we kick off, I’d like to go through some general housekeeping – just so that you know what to expect and how you can interact with us and with the content.</a:t>
            </a:r>
          </a:p>
          <a:p>
            <a:pPr marL="228600" indent="-228600" algn="l" rtl="0" fontAlgn="base">
              <a:buFont typeface="+mj-lt"/>
              <a:buAutoNum type="arabicPeriod"/>
            </a:pPr>
            <a:r>
              <a:rPr lang="en-GB" sz="800" b="0" i="0" u="none" strike="noStrike" dirty="0">
                <a:solidFill>
                  <a:srgbClr val="000000"/>
                </a:solidFill>
                <a:effectLst/>
                <a:latin typeface="Arial" panose="020B0604020202020204" pitchFamily="34" charset="0"/>
                <a:cs typeface="Arial" panose="020B0604020202020204" pitchFamily="34" charset="0"/>
              </a:rPr>
              <a:t>We will use </a:t>
            </a:r>
            <a:r>
              <a:rPr lang="en-GB" sz="800" b="0" i="0" u="none" strike="noStrike" dirty="0" err="1">
                <a:solidFill>
                  <a:srgbClr val="000000"/>
                </a:solidFill>
                <a:effectLst/>
                <a:latin typeface="Arial" panose="020B0604020202020204" pitchFamily="34" charset="0"/>
                <a:cs typeface="Arial" panose="020B0604020202020204" pitchFamily="34" charset="0"/>
              </a:rPr>
              <a:t>SLiDo</a:t>
            </a:r>
            <a:r>
              <a:rPr lang="en-GB" sz="800" b="0" i="0" u="none" strike="noStrike" dirty="0">
                <a:solidFill>
                  <a:srgbClr val="000000"/>
                </a:solidFill>
                <a:effectLst/>
                <a:latin typeface="Arial" panose="020B0604020202020204" pitchFamily="34" charset="0"/>
                <a:cs typeface="Arial" panose="020B0604020202020204" pitchFamily="34" charset="0"/>
              </a:rPr>
              <a:t> for certain interactive elements, which can be accessed via phones, tablets or laptops – just input the # code once you’ve visited their website. There is the option to vote in polls or ask questions anonymously, which is our default setting – if you'd like, you will be able to change this to show your name once you access </a:t>
            </a:r>
            <a:r>
              <a:rPr lang="en-GB" sz="800" b="0" i="0" u="none" strike="noStrike" dirty="0" err="1">
                <a:solidFill>
                  <a:srgbClr val="000000"/>
                </a:solidFill>
                <a:effectLst/>
                <a:latin typeface="Arial" panose="020B0604020202020204" pitchFamily="34" charset="0"/>
                <a:cs typeface="Arial" panose="020B0604020202020204" pitchFamily="34" charset="0"/>
              </a:rPr>
              <a:t>SliDo</a:t>
            </a:r>
            <a:r>
              <a:rPr lang="en-GB" sz="800" b="0" i="0" u="none" strike="noStrike" dirty="0">
                <a:solidFill>
                  <a:srgbClr val="000000"/>
                </a:solidFill>
                <a:effectLst/>
                <a:latin typeface="Arial" panose="020B0604020202020204" pitchFamily="34" charset="0"/>
                <a:cs typeface="Arial" panose="020B0604020202020204" pitchFamily="34" charset="0"/>
              </a:rPr>
              <a:t> via the code.</a:t>
            </a:r>
            <a:r>
              <a:rPr lang="en-US" sz="800" b="0" i="0" dirty="0">
                <a:solidFill>
                  <a:srgbClr val="000000"/>
                </a:solidFill>
                <a:effectLst/>
                <a:latin typeface="Arial" panose="020B0604020202020204" pitchFamily="34" charset="0"/>
                <a:cs typeface="Arial" panose="020B0604020202020204" pitchFamily="34" charset="0"/>
              </a:rPr>
              <a:t>​</a:t>
            </a:r>
          </a:p>
          <a:p>
            <a:pPr marL="228600" indent="-228600" algn="l" rtl="0" fontAlgn="base">
              <a:buFont typeface="+mj-lt"/>
              <a:buAutoNum type="arabicPeriod"/>
            </a:pPr>
            <a:r>
              <a:rPr lang="en-US" sz="800" b="0" i="0" dirty="0">
                <a:solidFill>
                  <a:srgbClr val="000000"/>
                </a:solidFill>
                <a:effectLst/>
                <a:latin typeface="Arial" panose="020B0604020202020204" pitchFamily="34" charset="0"/>
                <a:cs typeface="Arial" panose="020B0604020202020204" pitchFamily="34" charset="0"/>
              </a:rPr>
              <a:t>We welcome questions and will </a:t>
            </a:r>
            <a:r>
              <a:rPr lang="en-US" sz="800" b="0" i="0" dirty="0" err="1">
                <a:solidFill>
                  <a:srgbClr val="000000"/>
                </a:solidFill>
                <a:effectLst/>
                <a:latin typeface="Arial" panose="020B0604020202020204" pitchFamily="34" charset="0"/>
                <a:cs typeface="Arial" panose="020B0604020202020204" pitchFamily="34" charset="0"/>
              </a:rPr>
              <a:t>endeavour</a:t>
            </a:r>
            <a:r>
              <a:rPr lang="en-US" sz="800" b="0" i="0" dirty="0">
                <a:solidFill>
                  <a:srgbClr val="000000"/>
                </a:solidFill>
                <a:effectLst/>
                <a:latin typeface="Arial" panose="020B0604020202020204" pitchFamily="34" charset="0"/>
                <a:cs typeface="Arial" panose="020B0604020202020204" pitchFamily="34" charset="0"/>
              </a:rPr>
              <a:t> to provide an answer to as many as possible – please don’t leave your questions unasked! In the interest of time and presentation flow, we ask that you submit your questions via the Q&amp;A feature on </a:t>
            </a:r>
            <a:r>
              <a:rPr lang="en-US" sz="800" b="0" i="0" dirty="0" err="1">
                <a:solidFill>
                  <a:srgbClr val="000000"/>
                </a:solidFill>
                <a:effectLst/>
                <a:latin typeface="Arial" panose="020B0604020202020204" pitchFamily="34" charset="0"/>
                <a:cs typeface="Arial" panose="020B0604020202020204" pitchFamily="34" charset="0"/>
              </a:rPr>
              <a:t>SliDo</a:t>
            </a:r>
            <a:r>
              <a:rPr lang="en-US" sz="800" b="0" i="0" dirty="0">
                <a:solidFill>
                  <a:srgbClr val="000000"/>
                </a:solidFill>
                <a:effectLst/>
                <a:latin typeface="Arial" panose="020B0604020202020204" pitchFamily="34" charset="0"/>
                <a:cs typeface="Arial" panose="020B0604020202020204" pitchFamily="34" charset="0"/>
              </a:rPr>
              <a:t> so that we can address them at the end in our allocated Q&amp;A time. You will have opportunity then to raise your hand if you’d like. If you’ve not used </a:t>
            </a:r>
            <a:r>
              <a:rPr lang="en-US" sz="800" b="0" i="0" dirty="0" err="1">
                <a:solidFill>
                  <a:srgbClr val="000000"/>
                </a:solidFill>
                <a:effectLst/>
                <a:latin typeface="Arial" panose="020B0604020202020204" pitchFamily="34" charset="0"/>
                <a:cs typeface="Arial" panose="020B0604020202020204" pitchFamily="34" charset="0"/>
              </a:rPr>
              <a:t>SliDo</a:t>
            </a:r>
            <a:r>
              <a:rPr lang="en-US" sz="800" b="0" i="0" dirty="0">
                <a:solidFill>
                  <a:srgbClr val="000000"/>
                </a:solidFill>
                <a:effectLst/>
                <a:latin typeface="Arial" panose="020B0604020202020204" pitchFamily="34" charset="0"/>
                <a:cs typeface="Arial" panose="020B0604020202020204" pitchFamily="34" charset="0"/>
              </a:rPr>
              <a:t> before, all questions in the Q&amp;A section will be visible to all and there is a ‘thumbs up’ feature for liking other questions that have been asked that also interest you. We will </a:t>
            </a:r>
            <a:r>
              <a:rPr lang="en-US" sz="800" b="0" i="0" dirty="0" err="1">
                <a:solidFill>
                  <a:srgbClr val="000000"/>
                </a:solidFill>
                <a:effectLst/>
                <a:latin typeface="Arial" panose="020B0604020202020204" pitchFamily="34" charset="0"/>
                <a:cs typeface="Arial" panose="020B0604020202020204" pitchFamily="34" charset="0"/>
              </a:rPr>
              <a:t>prioritise</a:t>
            </a:r>
            <a:r>
              <a:rPr lang="en-US" sz="800" b="0" i="0" dirty="0">
                <a:solidFill>
                  <a:srgbClr val="000000"/>
                </a:solidFill>
                <a:effectLst/>
                <a:latin typeface="Arial" panose="020B0604020202020204" pitchFamily="34" charset="0"/>
                <a:cs typeface="Arial" panose="020B0604020202020204" pitchFamily="34" charset="0"/>
              </a:rPr>
              <a:t> questions with the most ‘thumbs up’, where possible, and, in the even that we’re unable to answer all questions, we will save the questions and address these after the session in the follow-up mailing list emails.</a:t>
            </a:r>
            <a:endParaRPr lang="en-US" sz="800" b="0" i="0" dirty="0">
              <a:solidFill>
                <a:srgbClr val="444444"/>
              </a:solidFill>
              <a:effectLst/>
              <a:latin typeface="Arial" panose="020B0604020202020204" pitchFamily="34" charset="0"/>
              <a:cs typeface="Arial" panose="020B0604020202020204" pitchFamily="34" charset="0"/>
            </a:endParaRPr>
          </a:p>
          <a:p>
            <a:pPr algn="l" rtl="0" fontAlgn="base"/>
            <a:r>
              <a:rPr lang="en-GB" sz="800" b="0" i="0" dirty="0">
                <a:solidFill>
                  <a:srgbClr val="000000"/>
                </a:solidFill>
                <a:effectLst/>
                <a:latin typeface="Arial" panose="020B0604020202020204" pitchFamily="34" charset="0"/>
                <a:cs typeface="Arial" panose="020B0604020202020204" pitchFamily="34" charset="0"/>
              </a:rPr>
              <a:t>​</a:t>
            </a:r>
            <a:endParaRPr lang="en-GB" sz="800" b="0" i="0" dirty="0">
              <a:solidFill>
                <a:srgbClr val="444444"/>
              </a:solidFill>
              <a:effectLst/>
              <a:latin typeface="Arial" panose="020B0604020202020204" pitchFamily="34" charset="0"/>
              <a:cs typeface="Arial" panose="020B0604020202020204" pitchFamily="34" charset="0"/>
            </a:endParaRPr>
          </a:p>
          <a:p>
            <a:pPr>
              <a:lnSpc>
                <a:spcPct val="107000"/>
              </a:lnSpc>
              <a:spcAft>
                <a:spcPts val="800"/>
              </a:spcAft>
            </a:pPr>
            <a:r>
              <a:rPr lang="en-GB" sz="1800" b="1" u="sng" kern="100" dirty="0">
                <a:latin typeface="Arial" panose="020B0604020202020204" pitchFamily="34" charset="0"/>
                <a:ea typeface="Calibri" panose="020F0502020204030204" pitchFamily="34" charset="0"/>
                <a:cs typeface="Arial" panose="020B0604020202020204" pitchFamily="34" charset="0"/>
              </a:rPr>
              <a:t>Notes:</a:t>
            </a:r>
            <a:endParaRPr lang="en-US" sz="1800" u="sng" dirty="0">
              <a:latin typeface="Arial" panose="020B0604020202020204" pitchFamily="34" charset="0"/>
              <a:cs typeface="Arial" panose="020B0604020202020204" pitchFamily="34" charset="0"/>
            </a:endParaRPr>
          </a:p>
          <a:p>
            <a:pPr>
              <a:lnSpc>
                <a:spcPct val="107000"/>
              </a:lnSpc>
              <a:spcAft>
                <a:spcPts val="800"/>
              </a:spcAft>
            </a:pPr>
            <a:r>
              <a:rPr lang="en-GB" sz="1800" b="0" kern="100" dirty="0">
                <a:latin typeface="Arial" panose="020B0604020202020204" pitchFamily="34" charset="0"/>
                <a:ea typeface="Calibri" panose="020F0502020204030204" pitchFamily="34" charset="0"/>
                <a:cs typeface="Arial" panose="020B0604020202020204" pitchFamily="34" charset="0"/>
              </a:rPr>
              <a:t>As</a:t>
            </a:r>
            <a:r>
              <a:rPr lang="en-GB" sz="1800" b="0" kern="100" dirty="0">
                <a:effectLst/>
                <a:latin typeface="Arial" panose="020B0604020202020204" pitchFamily="34" charset="0"/>
                <a:ea typeface="Calibri" panose="020F0502020204030204" pitchFamily="34" charset="0"/>
                <a:cs typeface="Arial" panose="020B0604020202020204" pitchFamily="34" charset="0"/>
              </a:rPr>
              <a:t> students enter the room, encourage them to get set up with </a:t>
            </a:r>
            <a:r>
              <a:rPr lang="en-GB" sz="1800" b="0" kern="100" dirty="0" err="1">
                <a:effectLst/>
                <a:latin typeface="Arial" panose="020B0604020202020204" pitchFamily="34" charset="0"/>
                <a:ea typeface="Calibri" panose="020F0502020204030204" pitchFamily="34" charset="0"/>
                <a:cs typeface="Arial" panose="020B0604020202020204" pitchFamily="34" charset="0"/>
              </a:rPr>
              <a:t>SliDo</a:t>
            </a:r>
            <a:r>
              <a:rPr lang="en-GB" sz="1800" b="0" kern="100" dirty="0">
                <a:effectLst/>
                <a:latin typeface="Arial" panose="020B0604020202020204" pitchFamily="34" charset="0"/>
                <a:ea typeface="Calibri" panose="020F0502020204030204" pitchFamily="34" charset="0"/>
                <a:cs typeface="Arial" panose="020B0604020202020204" pitchFamily="34" charset="0"/>
              </a:rPr>
              <a:t> (using the hashtag displayed).</a:t>
            </a:r>
            <a:endParaRPr lang="en-GB" sz="1800" b="1" kern="1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endParaRPr lang="en-GB" sz="1800" b="0" i="1" kern="100" dirty="0">
              <a:latin typeface="Arial" panose="020B0604020202020204" pitchFamily="34" charset="0"/>
              <a:cs typeface="Arial" panose="020B0604020202020204" pitchFamily="34" charset="0"/>
            </a:endParaRPr>
          </a:p>
          <a:p>
            <a:pPr>
              <a:lnSpc>
                <a:spcPct val="107000"/>
              </a:lnSpc>
              <a:spcAft>
                <a:spcPts val="800"/>
              </a:spcAft>
            </a:pPr>
            <a:r>
              <a:rPr lang="en-GB" sz="1800" b="0" i="1" kern="100" dirty="0">
                <a:highlight>
                  <a:srgbClr val="FFFF00"/>
                </a:highlight>
                <a:latin typeface="Arial" panose="020B0604020202020204" pitchFamily="34" charset="0"/>
                <a:cs typeface="Arial" panose="020B0604020202020204" pitchFamily="34" charset="0"/>
              </a:rPr>
              <a:t>For info only – do not read out loud  </a:t>
            </a:r>
            <a:r>
              <a:rPr lang="en-GB" sz="1800" kern="100" dirty="0" err="1">
                <a:highlight>
                  <a:srgbClr val="FFFF00"/>
                </a:highlight>
                <a:latin typeface="Arial" panose="020B0604020202020204" pitchFamily="34" charset="0"/>
                <a:cs typeface="Arial" panose="020B0604020202020204" pitchFamily="34" charset="0"/>
              </a:rPr>
              <a:t>SliDo</a:t>
            </a:r>
            <a:r>
              <a:rPr lang="en-GB" sz="1800" kern="100" dirty="0">
                <a:highlight>
                  <a:srgbClr val="FFFF00"/>
                </a:highlight>
                <a:latin typeface="Arial" panose="020B0604020202020204" pitchFamily="34" charset="0"/>
                <a:cs typeface="Arial" panose="020B0604020202020204" pitchFamily="34" charset="0"/>
              </a:rPr>
              <a:t> account details: Username: </a:t>
            </a:r>
            <a:r>
              <a:rPr lang="en-GB" sz="1800" kern="100" dirty="0">
                <a:highlight>
                  <a:srgbClr val="FFFF00"/>
                </a:highlight>
                <a:latin typeface="Arial" panose="020B0604020202020204" pitchFamily="34" charset="0"/>
                <a:cs typeface="Arial" panose="020B0604020202020204" pitchFamily="34" charset="0"/>
                <a:hlinkClick r:id="rId3"/>
              </a:rPr>
              <a:t>events@turing.ac.uk</a:t>
            </a:r>
            <a:r>
              <a:rPr lang="en-GB" sz="1800" kern="100" dirty="0">
                <a:highlight>
                  <a:srgbClr val="FFFF00"/>
                </a:highlight>
                <a:latin typeface="Arial" panose="020B0604020202020204" pitchFamily="34" charset="0"/>
                <a:cs typeface="Arial" panose="020B0604020202020204" pitchFamily="34" charset="0"/>
              </a:rPr>
              <a:t> </a:t>
            </a:r>
            <a:r>
              <a:rPr lang="en-GB" sz="1800" kern="100" dirty="0">
                <a:highlight>
                  <a:srgbClr val="FFFF00"/>
                </a:highlight>
                <a:latin typeface="Arial"/>
                <a:cs typeface="Arial"/>
              </a:rPr>
              <a:t>Password: Enigma12</a:t>
            </a:r>
            <a:endParaRPr lang="en-GB" sz="1800" kern="100" dirty="0">
              <a:highlight>
                <a:srgbClr val="FFFF00"/>
              </a:highlight>
              <a:latin typeface="Arial" panose="020B0604020202020204" pitchFamily="34" charset="0"/>
              <a:cs typeface="Arial" panose="020B0604020202020204" pitchFamily="34" charset="0"/>
            </a:endParaRPr>
          </a:p>
          <a:p>
            <a:pPr>
              <a:lnSpc>
                <a:spcPct val="107000"/>
              </a:lnSpc>
              <a:spcAft>
                <a:spcPts val="800"/>
              </a:spcAft>
            </a:pPr>
            <a:endParaRPr lang="en-GB" sz="1800" kern="100" dirty="0">
              <a:latin typeface="Arial" panose="020B0604020202020204" pitchFamily="34" charset="0"/>
              <a:cs typeface="Arial" panose="020B0604020202020204" pitchFamily="34" charset="0"/>
            </a:endParaRPr>
          </a:p>
          <a:p>
            <a:pPr>
              <a:lnSpc>
                <a:spcPct val="107000"/>
              </a:lnSpc>
              <a:spcAft>
                <a:spcPts val="800"/>
              </a:spcAft>
            </a:pPr>
            <a:r>
              <a:rPr lang="en-GB" sz="1800" kern="100" dirty="0" err="1">
                <a:latin typeface="Arial" panose="020B0604020202020204" pitchFamily="34" charset="0"/>
                <a:cs typeface="Arial" panose="020B0604020202020204" pitchFamily="34" charset="0"/>
              </a:rPr>
              <a:t>SliDo</a:t>
            </a:r>
            <a:r>
              <a:rPr lang="en-GB" sz="1800" kern="100" dirty="0">
                <a:latin typeface="Arial" panose="020B0604020202020204" pitchFamily="34" charset="0"/>
                <a:cs typeface="Arial" panose="020B0604020202020204" pitchFamily="34" charset="0"/>
              </a:rPr>
              <a:t> needs polls activating before each session.</a:t>
            </a:r>
          </a:p>
          <a:p>
            <a:pPr>
              <a:lnSpc>
                <a:spcPct val="107000"/>
              </a:lnSpc>
              <a:spcAft>
                <a:spcPts val="800"/>
              </a:spcAft>
            </a:pPr>
            <a:r>
              <a:rPr lang="en-GB" sz="1800" kern="100" dirty="0">
                <a:latin typeface="Arial" panose="020B0604020202020204" pitchFamily="34" charset="0"/>
                <a:cs typeface="Arial" panose="020B0604020202020204" pitchFamily="34" charset="0"/>
              </a:rPr>
              <a:t>During Q&amp;A, or throughout the session, it might be useful to have one facilitator monitoring the Q&amp;A to filter questions.</a:t>
            </a:r>
          </a:p>
          <a:p>
            <a:pPr>
              <a:lnSpc>
                <a:spcPct val="107000"/>
              </a:lnSpc>
              <a:spcAft>
                <a:spcPts val="800"/>
              </a:spcAft>
            </a:pPr>
            <a:endParaRPr lang="en-GB" sz="1800" kern="100" dirty="0">
              <a:latin typeface="Arial" panose="020B0604020202020204" pitchFamily="34" charset="0"/>
              <a:cs typeface="Arial" panose="020B0604020202020204" pitchFamily="34" charset="0"/>
            </a:endParaRPr>
          </a:p>
          <a:p>
            <a:pPr>
              <a:lnSpc>
                <a:spcPct val="107000"/>
              </a:lnSpc>
              <a:spcAft>
                <a:spcPts val="800"/>
              </a:spcAft>
            </a:pPr>
            <a:endParaRPr lang="en-GB" sz="1800" b="1"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a:t>
            </a:fld>
            <a:endParaRPr lang="en-GB" altLang="en-US"/>
          </a:p>
        </p:txBody>
      </p:sp>
    </p:spTree>
    <p:extLst>
      <p:ext uri="{BB962C8B-B14F-4D97-AF65-F5344CB8AC3E}">
        <p14:creationId xmlns:p14="http://schemas.microsoft.com/office/powerpoint/2010/main" val="2190381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b="1" u="sng" kern="100">
                <a:effectLst/>
                <a:latin typeface="Calibri Light"/>
                <a:ea typeface="Calibri"/>
                <a:cs typeface="Calibri Light"/>
              </a:rPr>
              <a:t>Host:</a:t>
            </a:r>
          </a:p>
          <a:p>
            <a:pPr>
              <a:lnSpc>
                <a:spcPct val="107000"/>
              </a:lnSpc>
              <a:spcAft>
                <a:spcPts val="800"/>
              </a:spcAft>
            </a:pPr>
            <a:r>
              <a:rPr lang="en-GB" sz="1800" kern="100">
                <a:effectLst/>
                <a:latin typeface="Calibri Light"/>
                <a:ea typeface="Calibri"/>
                <a:cs typeface="Calibri Light"/>
              </a:rPr>
              <a:t>Welcome.  </a:t>
            </a:r>
            <a:endParaRPr lang="en-GB" sz="1800" kern="100">
              <a:latin typeface="Calibri Light"/>
              <a:ea typeface="Calibri"/>
              <a:cs typeface="Calibri Light"/>
            </a:endParaRPr>
          </a:p>
          <a:p>
            <a:pPr>
              <a:lnSpc>
                <a:spcPct val="107000"/>
              </a:lnSpc>
              <a:spcAft>
                <a:spcPts val="800"/>
              </a:spcAft>
            </a:pPr>
            <a:endParaRPr lang="en-GB" sz="1800" kern="100">
              <a:latin typeface="Calibri Light"/>
              <a:ea typeface="Calibri"/>
              <a:cs typeface="Calibri Light"/>
            </a:endParaRPr>
          </a:p>
          <a:p>
            <a:pPr>
              <a:lnSpc>
                <a:spcPct val="107000"/>
              </a:lnSpc>
              <a:spcAft>
                <a:spcPts val="800"/>
              </a:spcAft>
            </a:pPr>
            <a:r>
              <a:rPr lang="en-GB" sz="1800" kern="100">
                <a:effectLst/>
                <a:latin typeface="Calibri Light"/>
                <a:ea typeface="Calibri"/>
                <a:cs typeface="Calibri Light"/>
              </a:rPr>
              <a:t>Let’s go over our objectives for today. By the end of the session, you will have </a:t>
            </a:r>
            <a:r>
              <a:rPr lang="en-GB" sz="1800" i="1" kern="100">
                <a:effectLst/>
                <a:latin typeface="Calibri Light"/>
                <a:ea typeface="Calibri"/>
                <a:cs typeface="Calibri Light"/>
              </a:rPr>
              <a:t>(read from the screen)</a:t>
            </a:r>
            <a:endParaRPr lang="en-GB" sz="1800" kern="100">
              <a:effectLst/>
              <a:latin typeface="Calibri Light"/>
              <a:ea typeface="Calibri"/>
              <a:cs typeface="Calibri Light"/>
            </a:endParaRPr>
          </a:p>
          <a:p>
            <a:pPr>
              <a:lnSpc>
                <a:spcPct val="107000"/>
              </a:lnSpc>
              <a:spcAft>
                <a:spcPts val="800"/>
              </a:spcAft>
            </a:pPr>
            <a:r>
              <a:rPr lang="en-GB" sz="1800" kern="100">
                <a:effectLst/>
                <a:latin typeface="Calibri Light"/>
                <a:ea typeface="Calibri"/>
                <a:cs typeface="Calibri Light"/>
              </a:rPr>
              <a:t>1. Gained an overview of data science and AI: what it </a:t>
            </a:r>
            <a:r>
              <a:rPr lang="en-GB" sz="1800" i="1" kern="100">
                <a:effectLst/>
                <a:latin typeface="Calibri Light"/>
                <a:ea typeface="Calibri"/>
                <a:cs typeface="Calibri Light"/>
              </a:rPr>
              <a:t>is</a:t>
            </a:r>
            <a:r>
              <a:rPr lang="en-GB" sz="1800" kern="100">
                <a:effectLst/>
                <a:latin typeface="Calibri Light"/>
                <a:ea typeface="Calibri"/>
                <a:cs typeface="Calibri Light"/>
              </a:rPr>
              <a:t> and what it </a:t>
            </a:r>
            <a:r>
              <a:rPr lang="en-GB" sz="1800" i="1" kern="100">
                <a:effectLst/>
                <a:latin typeface="Calibri Light"/>
                <a:ea typeface="Calibri"/>
                <a:cs typeface="Calibri Light"/>
              </a:rPr>
              <a:t>is not</a:t>
            </a:r>
            <a:endParaRPr lang="en-GB" sz="1800" kern="100">
              <a:effectLst/>
              <a:latin typeface="Calibri Light"/>
              <a:ea typeface="Calibri"/>
              <a:cs typeface="Calibri Light"/>
            </a:endParaRPr>
          </a:p>
          <a:p>
            <a:pPr>
              <a:lnSpc>
                <a:spcPct val="107000"/>
              </a:lnSpc>
              <a:spcAft>
                <a:spcPts val="800"/>
              </a:spcAft>
            </a:pPr>
            <a:r>
              <a:rPr lang="en-GB" sz="1800" kern="100">
                <a:latin typeface="Calibri Light"/>
                <a:ea typeface="Calibri"/>
                <a:cs typeface="Calibri Light"/>
              </a:rPr>
              <a:t>2. Learnt what Critical National Infrastructure (CNI) is and why our responses to situations in this field are so important </a:t>
            </a:r>
          </a:p>
          <a:p>
            <a:pPr>
              <a:lnSpc>
                <a:spcPct val="107000"/>
              </a:lnSpc>
              <a:spcAft>
                <a:spcPts val="800"/>
              </a:spcAft>
            </a:pPr>
            <a:r>
              <a:rPr lang="en-GB" sz="1800" kern="100">
                <a:latin typeface="Calibri Light"/>
                <a:ea typeface="Calibri"/>
                <a:cs typeface="Calibri Light"/>
              </a:rPr>
              <a:t>3</a:t>
            </a:r>
            <a:r>
              <a:rPr lang="en-GB" sz="1800" kern="100">
                <a:effectLst/>
                <a:latin typeface="Calibri Light"/>
                <a:ea typeface="Calibri"/>
                <a:cs typeface="Calibri Light"/>
              </a:rPr>
              <a:t>. Considered the importance of diversity in data science</a:t>
            </a:r>
          </a:p>
          <a:p>
            <a:pPr>
              <a:lnSpc>
                <a:spcPct val="107000"/>
              </a:lnSpc>
              <a:spcAft>
                <a:spcPts val="800"/>
              </a:spcAft>
            </a:pPr>
            <a:r>
              <a:rPr lang="en-GB" sz="1800" kern="100">
                <a:latin typeface="Calibri Light"/>
                <a:ea typeface="Calibri"/>
                <a:cs typeface="Calibri Light"/>
              </a:rPr>
              <a:t>4</a:t>
            </a:r>
            <a:r>
              <a:rPr lang="en-GB" sz="1800" kern="100">
                <a:effectLst/>
                <a:latin typeface="Calibri Light"/>
                <a:ea typeface="Calibri"/>
                <a:cs typeface="Calibri Light"/>
              </a:rPr>
              <a:t>. Learnt about some of the different data science roles available in Defence and Security (D&amp;S) and the public sector more widely</a:t>
            </a:r>
          </a:p>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kern="100">
                <a:latin typeface="Calibri Light"/>
                <a:ea typeface="Calibri"/>
                <a:cs typeface="Calibri Light"/>
              </a:rPr>
              <a:t>5</a:t>
            </a:r>
            <a:r>
              <a:rPr lang="en-GB" sz="1800" kern="100">
                <a:effectLst/>
                <a:latin typeface="Calibri Light"/>
                <a:ea typeface="Calibri"/>
                <a:cs typeface="Calibri Light"/>
              </a:rPr>
              <a:t>. Identified a route to useful resources to support a career in this area</a:t>
            </a:r>
          </a:p>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kern="100">
                <a:latin typeface="Calibri Light"/>
                <a:ea typeface="Calibri"/>
                <a:cs typeface="Calibri Light"/>
              </a:rPr>
              <a:t>6</a:t>
            </a:r>
            <a:r>
              <a:rPr lang="en-GB" sz="1800" kern="100">
                <a:effectLst/>
                <a:latin typeface="Calibri Light"/>
                <a:ea typeface="Calibri"/>
                <a:cs typeface="Calibri Light"/>
              </a:rPr>
              <a:t>. Seen an example of a researcher(s) in the spotlight and asked questions</a:t>
            </a:r>
          </a:p>
          <a:p>
            <a:pPr>
              <a:lnSpc>
                <a:spcPct val="107000"/>
              </a:lnSpc>
              <a:spcAft>
                <a:spcPts val="800"/>
              </a:spcAft>
              <a:defRPr/>
            </a:pPr>
            <a:endParaRPr lang="en-GB" sz="1800" kern="100">
              <a:latin typeface="Calibri Light"/>
              <a:ea typeface="Calibri"/>
              <a:cs typeface="Calibri Light"/>
            </a:endParaRPr>
          </a:p>
          <a:p>
            <a:pPr marL="0" marR="0" lvl="0" indent="0" algn="l" defTabSz="914400">
              <a:lnSpc>
                <a:spcPct val="107000"/>
              </a:lnSpc>
              <a:spcBef>
                <a:spcPct val="30000"/>
              </a:spcBef>
              <a:spcAft>
                <a:spcPts val="800"/>
              </a:spcAft>
              <a:buClrTx/>
              <a:buSzTx/>
              <a:buFontTx/>
              <a:buNone/>
              <a:tabLst/>
              <a:defRPr/>
            </a:pPr>
            <a:r>
              <a:rPr lang="en-GB" sz="1800" kern="100">
                <a:effectLst/>
                <a:latin typeface="Calibri Light"/>
                <a:ea typeface="Calibri"/>
                <a:cs typeface="Calibri Light"/>
              </a:rPr>
              <a:t>Because diversity, and diversity of thought is integral to better processes, systems and better data science, we are also going to have a section focussing on </a:t>
            </a:r>
            <a:r>
              <a:rPr lang="en-GB" sz="1800" b="1" kern="100">
                <a:effectLst/>
                <a:latin typeface="Calibri Light"/>
                <a:ea typeface="Calibri"/>
                <a:cs typeface="Calibri Light"/>
              </a:rPr>
              <a:t>diversity</a:t>
            </a:r>
            <a:r>
              <a:rPr lang="en-GB" sz="1800" b="0" kern="100">
                <a:effectLst/>
                <a:latin typeface="Calibri Light"/>
                <a:ea typeface="Calibri"/>
                <a:cs typeface="Calibri Light"/>
              </a:rPr>
              <a:t> during </a:t>
            </a:r>
            <a:r>
              <a:rPr lang="en-GB" sz="1800" kern="100">
                <a:effectLst/>
                <a:latin typeface="Calibri Light"/>
                <a:ea typeface="Calibri"/>
                <a:cs typeface="Calibri Light"/>
              </a:rPr>
              <a:t>this presentation, where we will be encouraging you to think about diversity and why it is so important, how it has already impacted and continues to impact elements of our everyday lives. </a:t>
            </a:r>
            <a:endParaRPr lang="en-GB"/>
          </a:p>
          <a:p>
            <a:pPr marL="0" marR="0" lvl="0" indent="0" algn="l" defTabSz="914400" rtl="0" eaLnBrk="0" fontAlgn="base" latinLnBrk="0" hangingPunct="0">
              <a:lnSpc>
                <a:spcPct val="107000"/>
              </a:lnSpc>
              <a:spcBef>
                <a:spcPct val="30000"/>
              </a:spcBef>
              <a:spcAft>
                <a:spcPts val="800"/>
              </a:spcAft>
              <a:buClrTx/>
              <a:buSzTx/>
              <a:buFontTx/>
              <a:buNone/>
              <a:tabLst/>
              <a:defRPr/>
            </a:pPr>
            <a:endParaRPr lang="en-GB" sz="1800" kern="100">
              <a:effectLst/>
              <a:latin typeface="Calibri Light" panose="020F03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7000"/>
              </a:lnSpc>
              <a:spcBef>
                <a:spcPct val="30000"/>
              </a:spcBef>
              <a:spcAft>
                <a:spcPts val="800"/>
              </a:spcAft>
              <a:buClrTx/>
              <a:buSzTx/>
              <a:buFontTx/>
              <a:buNone/>
              <a:tabLst/>
              <a:defRPr/>
            </a:pPr>
            <a:r>
              <a:rPr lang="en-US" sz="1800" kern="100">
                <a:effectLst/>
                <a:latin typeface="Calibri Light"/>
                <a:ea typeface="Calibri"/>
                <a:cs typeface="Calibri Light"/>
              </a:rPr>
              <a:t>We are also going to think about the impact of not including people from multiple groups in data science and AI-centric roles and how this might affect different groups and society.  </a:t>
            </a:r>
            <a:endParaRPr lang="en-GB" sz="1800" kern="100">
              <a:effectLst/>
              <a:latin typeface="Calibri Light"/>
              <a:ea typeface="Calibri"/>
              <a:cs typeface="Calibri Light"/>
            </a:endParaRPr>
          </a:p>
          <a:p>
            <a:pPr marL="0" marR="0" lvl="0" indent="0" algn="l" defTabSz="914400" rtl="0" eaLnBrk="0" fontAlgn="base" latinLnBrk="0" hangingPunct="0">
              <a:lnSpc>
                <a:spcPct val="107000"/>
              </a:lnSpc>
              <a:spcBef>
                <a:spcPct val="30000"/>
              </a:spcBef>
              <a:spcAft>
                <a:spcPts val="800"/>
              </a:spcAft>
              <a:buClrTx/>
              <a:buSzTx/>
              <a:buFontTx/>
              <a:buNone/>
              <a:tabLst/>
              <a:defRPr/>
            </a:pPr>
            <a:endParaRPr lang="en-GB" sz="1800" b="1" u="sng" kern="100">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kern="100">
                <a:latin typeface="Arial"/>
                <a:ea typeface="Calibri"/>
                <a:cs typeface="Arial"/>
              </a:rPr>
              <a:t>Notes:</a:t>
            </a:r>
          </a:p>
          <a:p>
            <a:pPr>
              <a:lnSpc>
                <a:spcPct val="107000"/>
              </a:lnSpc>
              <a:spcAft>
                <a:spcPts val="800"/>
              </a:spcAft>
            </a:pPr>
            <a:r>
              <a:rPr lang="en-US" sz="1800" b="0" i="0" u="none" kern="1200">
                <a:effectLst/>
                <a:latin typeface="Arial"/>
                <a:cs typeface="Arial"/>
              </a:rPr>
              <a:t>E</a:t>
            </a:r>
            <a:r>
              <a:rPr lang="en-GB" sz="1800" b="0" i="0" u="none" kern="100">
                <a:effectLst/>
                <a:latin typeface="Calibri Light"/>
                <a:ea typeface="Calibri"/>
                <a:cs typeface="Calibri Light"/>
              </a:rPr>
              <a:t>ach </a:t>
            </a:r>
            <a:r>
              <a:rPr lang="en-GB" sz="1800" i="0" kern="100">
                <a:effectLst/>
                <a:latin typeface="Calibri Light"/>
                <a:ea typeface="Calibri"/>
                <a:cs typeface="Calibri Light"/>
              </a:rPr>
              <a:t>objective is animated to come out one-by-one.</a:t>
            </a:r>
          </a:p>
          <a:p>
            <a:pPr>
              <a:lnSpc>
                <a:spcPct val="107000"/>
              </a:lnSpc>
              <a:spcAft>
                <a:spcPts val="800"/>
              </a:spcAft>
            </a:pPr>
            <a:endParaRPr lang="en-GB"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a:t>
            </a:fld>
            <a:endParaRPr lang="en-GB" altLang="en-US"/>
          </a:p>
        </p:txBody>
      </p:sp>
    </p:spTree>
    <p:extLst>
      <p:ext uri="{BB962C8B-B14F-4D97-AF65-F5344CB8AC3E}">
        <p14:creationId xmlns:p14="http://schemas.microsoft.com/office/powerpoint/2010/main" val="1023111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300" b="1" u="sng" dirty="0"/>
              <a:t>Host:</a:t>
            </a:r>
            <a:endParaRPr lang="en-GB" sz="4300" dirty="0"/>
          </a:p>
          <a:p>
            <a:r>
              <a:rPr lang="en-GB" sz="4300" i="1" dirty="0"/>
              <a:t>F</a:t>
            </a:r>
            <a:r>
              <a:rPr lang="en-GB" sz="4300" i="1" dirty="0">
                <a:solidFill>
                  <a:srgbClr val="333333"/>
                </a:solidFill>
                <a:highlight>
                  <a:srgbClr val="FFFFFF"/>
                </a:highlight>
              </a:rPr>
              <a:t>irst ask the audience what they know about data science to gauge the level to pitch the presentation. If they're very knowledgeable then can be quicker through the first half of the slides) e.g.:</a:t>
            </a:r>
            <a:endParaRPr lang="en-GB" sz="4300" i="1" dirty="0">
              <a:solidFill>
                <a:srgbClr val="000000"/>
              </a:solidFill>
            </a:endParaRPr>
          </a:p>
          <a:p>
            <a:pPr marL="285750" indent="-285750">
              <a:buFont typeface="Arial"/>
              <a:buChar char="•"/>
            </a:pPr>
            <a:r>
              <a:rPr lang="en-GB" sz="4300" dirty="0">
                <a:solidFill>
                  <a:srgbClr val="333333"/>
                </a:solidFill>
                <a:highlight>
                  <a:srgbClr val="FFFFFF"/>
                </a:highlight>
              </a:rPr>
              <a:t>What is data science?</a:t>
            </a:r>
            <a:endParaRPr lang="en-GB" sz="4300" dirty="0">
              <a:solidFill>
                <a:srgbClr val="000000"/>
              </a:solidFill>
              <a:ea typeface="Calibri"/>
              <a:cs typeface="Calibri"/>
            </a:endParaRPr>
          </a:p>
          <a:p>
            <a:pPr marL="285750" indent="-285750">
              <a:buFont typeface="Arial"/>
              <a:buChar char="•"/>
            </a:pPr>
            <a:r>
              <a:rPr lang="en-GB" sz="4300" dirty="0">
                <a:solidFill>
                  <a:srgbClr val="333333"/>
                </a:solidFill>
                <a:highlight>
                  <a:srgbClr val="FFFFFF"/>
                </a:highlight>
              </a:rPr>
              <a:t>What do you already know about data science ?</a:t>
            </a:r>
            <a:endParaRPr lang="en-GB" sz="4300" dirty="0">
              <a:solidFill>
                <a:srgbClr val="000000"/>
              </a:solidFill>
              <a:ea typeface="Calibri"/>
              <a:cs typeface="Calibri"/>
            </a:endParaRPr>
          </a:p>
          <a:p>
            <a:pPr marL="285750" indent="-285750">
              <a:buFont typeface="Arial"/>
              <a:buChar char="•"/>
            </a:pPr>
            <a:r>
              <a:rPr lang="en-GB" sz="4300" dirty="0">
                <a:solidFill>
                  <a:srgbClr val="333333"/>
                </a:solidFill>
                <a:highlight>
                  <a:srgbClr val="FFFFFF"/>
                </a:highlight>
                <a:ea typeface="Calibri"/>
                <a:cs typeface="Calibri"/>
              </a:rPr>
              <a:t>How many people feel like they know what data science is? Can do hands for a lot, not much, a reasonable amount etc. </a:t>
            </a:r>
          </a:p>
          <a:p>
            <a:endParaRPr lang="en-GB" sz="4300" dirty="0">
              <a:solidFill>
                <a:srgbClr val="333333"/>
              </a:solidFill>
              <a:highlight>
                <a:srgbClr val="FFFFFF"/>
              </a:highlight>
            </a:endParaRPr>
          </a:p>
          <a:p>
            <a:r>
              <a:rPr lang="en-GB" sz="4300" dirty="0">
                <a:solidFill>
                  <a:srgbClr val="333333"/>
                </a:solidFill>
                <a:highlight>
                  <a:srgbClr val="FFFFFF"/>
                </a:highlight>
              </a:rPr>
              <a:t>Then show short video:</a:t>
            </a:r>
            <a:endParaRPr lang="en-GB" sz="4300" dirty="0">
              <a:ea typeface="Calibri"/>
              <a:cs typeface="Calibri"/>
            </a:endParaRPr>
          </a:p>
          <a:p>
            <a:r>
              <a:rPr lang="en-GB" sz="4300" dirty="0"/>
              <a:t>We are going to show you a short section of a video introducing The Alan Turing Institute, the UK’s national institute for data science and AI, and which addresses what Data Science is. </a:t>
            </a:r>
            <a:endParaRPr lang="en-GB" sz="4300" dirty="0">
              <a:highlight>
                <a:srgbClr val="FFFF00"/>
              </a:highlight>
            </a:endParaRPr>
          </a:p>
          <a:p>
            <a:r>
              <a:rPr lang="en-GB" sz="4300" b="1" dirty="0">
                <a:highlight>
                  <a:srgbClr val="FFFF00"/>
                </a:highlight>
              </a:rPr>
              <a:t>Show to 1:23 </a:t>
            </a:r>
            <a:r>
              <a:rPr lang="en-GB" sz="4300" b="1" dirty="0" err="1">
                <a:highlight>
                  <a:srgbClr val="FFFF00"/>
                </a:highlight>
              </a:rPr>
              <a:t>ie</a:t>
            </a:r>
            <a:r>
              <a:rPr lang="en-GB" sz="4300" b="1" dirty="0">
                <a:highlight>
                  <a:srgbClr val="FFFF00"/>
                </a:highlight>
              </a:rPr>
              <a:t> end of what DS is, stop when talking about Turing Institute </a:t>
            </a:r>
            <a:endParaRPr lang="en-GB" sz="4300" dirty="0">
              <a:highlight>
                <a:srgbClr val="FFFF00"/>
              </a:highlight>
              <a:ea typeface="Calibri"/>
              <a:cs typeface="Calibri"/>
            </a:endParaRPr>
          </a:p>
          <a:p>
            <a:pPr>
              <a:defRPr/>
            </a:pPr>
            <a:endParaRPr lang="en-GB" sz="4300" dirty="0">
              <a:latin typeface="Calibri"/>
              <a:ea typeface="Calibri"/>
              <a:cs typeface="Calibri"/>
            </a:endParaRPr>
          </a:p>
          <a:p>
            <a:pPr>
              <a:defRPr/>
            </a:pPr>
            <a:r>
              <a:rPr lang="en-GB" sz="4300" i="1" dirty="0">
                <a:solidFill>
                  <a:srgbClr val="333333"/>
                </a:solidFill>
                <a:highlight>
                  <a:srgbClr val="FFFFFF"/>
                </a:highlight>
              </a:rPr>
              <a:t>Link to the next few slides:</a:t>
            </a:r>
            <a:endParaRPr lang="en-GB" sz="4300" i="1" dirty="0">
              <a:solidFill>
                <a:srgbClr val="000000"/>
              </a:solidFill>
            </a:endParaRPr>
          </a:p>
          <a:p>
            <a:pPr>
              <a:defRPr/>
            </a:pPr>
            <a:r>
              <a:rPr lang="en-GB" sz="4300" dirty="0">
                <a:solidFill>
                  <a:srgbClr val="333333"/>
                </a:solidFill>
                <a:highlight>
                  <a:srgbClr val="FFFFFF"/>
                </a:highlight>
              </a:rPr>
              <a:t>Let's look at what a typical pipeline might be for problem solving with data</a:t>
            </a:r>
            <a:endParaRPr lang="en-GB" sz="4300" dirty="0">
              <a:ea typeface="Calibri"/>
              <a:cs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4000" b="1" u="sng" kern="100" dirty="0">
                <a:latin typeface="Calibri Light"/>
                <a:ea typeface="Calibri"/>
                <a:cs typeface="Calibri Light"/>
              </a:rPr>
              <a:t>Notes:</a:t>
            </a:r>
            <a:endParaRPr lang="en-GB" sz="4000" b="1" u="sng" kern="100" dirty="0">
              <a:effectLst/>
              <a:latin typeface="Calibri Light"/>
              <a:ea typeface="Calibri"/>
              <a:cs typeface="Calibri Light"/>
            </a:endParaRPr>
          </a:p>
          <a:p>
            <a:r>
              <a:rPr lang="en-GB" sz="1800" dirty="0">
                <a:effectLst/>
                <a:latin typeface="Segoe UI"/>
                <a:cs typeface="Segoe UI"/>
              </a:rPr>
              <a:t>Alternative link here if embedded video doesn’t work: https://www.youtube.com/watch?v=BCbwj5O6g9w</a:t>
            </a:r>
            <a:br>
              <a:rPr lang="en-GB" sz="1800" dirty="0">
                <a:effectLst/>
                <a:latin typeface="Segoe UI" panose="020B0502040204020203" pitchFamily="34" charset="0"/>
                <a:cs typeface="Segoe UI"/>
              </a:rPr>
            </a:br>
            <a:endParaRPr lang="en-GB" sz="4300" b="1" dirty="0">
              <a:highlight>
                <a:srgbClr val="FFFF00"/>
              </a:highlight>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4</a:t>
            </a:fld>
            <a:endParaRPr lang="en-GB" altLang="en-US"/>
          </a:p>
        </p:txBody>
      </p:sp>
    </p:spTree>
    <p:extLst>
      <p:ext uri="{BB962C8B-B14F-4D97-AF65-F5344CB8AC3E}">
        <p14:creationId xmlns:p14="http://schemas.microsoft.com/office/powerpoint/2010/main" val="4123428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A97E3-0119-DF43-A78A-B7CEBECC9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2E5E2-FAF7-D11D-A42A-D06A2BE0F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F8CDF-0636-840C-5339-EE2A8BCD5123}"/>
              </a:ext>
            </a:extLst>
          </p:cNvPr>
          <p:cNvSpPr>
            <a:spLocks noGrp="1"/>
          </p:cNvSpPr>
          <p:nvPr>
            <p:ph type="body" idx="1"/>
          </p:nvPr>
        </p:nvSpPr>
        <p:spPr/>
        <p:txBody>
          <a:bodyPr/>
          <a:lstStyle/>
          <a:p>
            <a:r>
              <a:rPr lang="en-GB" sz="4300" b="1" u="sng" dirty="0">
                <a:cs typeface="Calibri"/>
              </a:rPr>
              <a:t>Host:</a:t>
            </a:r>
          </a:p>
          <a:p>
            <a:endParaRPr lang="en-GB" sz="4300" dirty="0">
              <a:cs typeface="Calibri"/>
            </a:endParaRPr>
          </a:p>
          <a:p>
            <a:r>
              <a:rPr lang="en-GB" sz="4300" dirty="0">
                <a:highlight>
                  <a:srgbClr val="FF00FF"/>
                </a:highlight>
                <a:ea typeface="Calibri"/>
                <a:cs typeface="Calibri"/>
              </a:rPr>
              <a:t>(Added by Rachael)</a:t>
            </a:r>
            <a:endParaRPr lang="en-GB" sz="4300" dirty="0"/>
          </a:p>
          <a:p>
            <a:r>
              <a:rPr lang="en-GB" sz="4300" dirty="0">
                <a:solidFill>
                  <a:srgbClr val="CC00CC"/>
                </a:solidFill>
              </a:rPr>
              <a:t>It is a common misconception that data science is entirely about running algorithms or staring at complex charts. </a:t>
            </a:r>
            <a:r>
              <a:rPr lang="en-GB" sz="4300" dirty="0">
                <a:solidFill>
                  <a:srgbClr val="000000"/>
                </a:solidFill>
              </a:rPr>
              <a:t>Only a small amount of data science is actually about analysing the data, although that is an important step. Here we consider all the steps involved in a typical data analysis task:</a:t>
            </a:r>
            <a:r>
              <a:rPr lang="en-GB" sz="4300" dirty="0">
                <a:solidFill>
                  <a:srgbClr val="CC00CC"/>
                </a:solidFill>
              </a:rPr>
              <a:t> from the moment an idea is formed and how the data is prepared, to our experiments and conclusions and finally what happens after the project is finished.</a:t>
            </a:r>
            <a:endParaRPr lang="en-GB" sz="4300" dirty="0">
              <a:solidFill>
                <a:srgbClr val="CC00CC"/>
              </a:solidFill>
              <a:ea typeface="Calibri"/>
              <a:cs typeface="Calibri"/>
            </a:endParaRPr>
          </a:p>
          <a:p>
            <a:endParaRPr lang="en-GB" sz="4300" dirty="0">
              <a:solidFill>
                <a:srgbClr val="CC00CC"/>
              </a:solidFill>
              <a:ea typeface="Calibri"/>
              <a:cs typeface="Calibri"/>
            </a:endParaRPr>
          </a:p>
          <a:p>
            <a:r>
              <a:rPr lang="en-GB" sz="4300" dirty="0">
                <a:ea typeface="Calibri"/>
                <a:cs typeface="Calibri"/>
              </a:rPr>
              <a:t>This life cycle will generally involve a large team, rather than an individual carrying all these aspects themselves. So a person might become a specialist in one area, but these projects will still require diverse teams </a:t>
            </a:r>
            <a:endParaRPr lang="en-GB" sz="4300" dirty="0">
              <a:solidFill>
                <a:srgbClr val="CC00CC"/>
              </a:solidFill>
              <a:ea typeface="Calibri"/>
              <a:cs typeface="Calibri"/>
            </a:endParaRPr>
          </a:p>
          <a:p>
            <a:endParaRPr lang="en-GB" sz="4300" i="1" dirty="0">
              <a:ea typeface="Calibri"/>
              <a:cs typeface="Calibri"/>
            </a:endParaRPr>
          </a:p>
          <a:p>
            <a:r>
              <a:rPr lang="en-GB" sz="4300" i="1" dirty="0">
                <a:ea typeface="Calibri"/>
                <a:cs typeface="Calibri"/>
              </a:rPr>
              <a:t>(Note: if short on time, highlight the stages that are lesser known, move quickly through/skip the ones it's likely they already have knowledge on them from the gauging question earlier)</a:t>
            </a:r>
          </a:p>
          <a:p>
            <a:endParaRPr lang="en-GB" sz="4300" dirty="0">
              <a:solidFill>
                <a:srgbClr val="FF00FF"/>
              </a:solidFill>
            </a:endParaRPr>
          </a:p>
          <a:p>
            <a:pPr>
              <a:lnSpc>
                <a:spcPts val="10200"/>
              </a:lnSpc>
            </a:pPr>
            <a:r>
              <a:rPr lang="en-GB" sz="4400" dirty="0"/>
              <a:t>1. Identify the research question: </a:t>
            </a:r>
            <a:endParaRPr lang="en-GB" sz="4400" dirty="0">
              <a:ea typeface="Calibri"/>
              <a:cs typeface="Calibri"/>
            </a:endParaRPr>
          </a:p>
          <a:p>
            <a:r>
              <a:rPr lang="en-GB" sz="4300" dirty="0">
                <a:solidFill>
                  <a:srgbClr val="CC00CC"/>
                </a:solidFill>
              </a:rPr>
              <a:t>Everything starts here. We’ve got to be sure to ask the right question and understanding the business problem or scientific hypothesis before even touching the data.</a:t>
            </a:r>
            <a:endParaRPr lang="en-GB" sz="4300" dirty="0">
              <a:solidFill>
                <a:srgbClr val="CC00CC"/>
              </a:solidFill>
              <a:ea typeface="Calibri"/>
              <a:cs typeface="Calibri"/>
            </a:endParaRPr>
          </a:p>
          <a:p>
            <a:pPr>
              <a:lnSpc>
                <a:spcPts val="10200"/>
              </a:lnSpc>
            </a:pPr>
            <a:r>
              <a:rPr lang="en-GB" sz="4400" dirty="0"/>
              <a:t>2. Plan and design the model:</a:t>
            </a:r>
            <a:endParaRPr lang="en-GB" sz="4400" dirty="0">
              <a:ea typeface="Calibri"/>
              <a:cs typeface="Calibri"/>
            </a:endParaRPr>
          </a:p>
          <a:p>
            <a:pPr>
              <a:lnSpc>
                <a:spcPts val="10200"/>
              </a:lnSpc>
            </a:pPr>
            <a:r>
              <a:rPr lang="en-GB" sz="4300" dirty="0">
                <a:solidFill>
                  <a:srgbClr val="CC00CC"/>
                </a:solidFill>
              </a:rPr>
              <a:t>Ahead of any coding, we have to plan. What's our method going to be? Perhaps it's a regression problem or a classification problem. Have we considered our ethical constraints? This is our thinking phase.</a:t>
            </a:r>
            <a:endParaRPr lang="en-GB" sz="4300" dirty="0">
              <a:ea typeface="Calibri"/>
              <a:cs typeface="Calibri"/>
            </a:endParaRPr>
          </a:p>
          <a:p>
            <a:pPr marL="0" indent="0">
              <a:lnSpc>
                <a:spcPts val="10200"/>
              </a:lnSpc>
              <a:buFont typeface="+mj-lt"/>
              <a:buNone/>
            </a:pPr>
            <a:r>
              <a:rPr lang="en-GB" sz="4400" dirty="0"/>
              <a:t>3. Collect the relevant data:</a:t>
            </a:r>
            <a:endParaRPr lang="en-GB" sz="4400" dirty="0">
              <a:ea typeface="Calibri"/>
              <a:cs typeface="Calibri"/>
            </a:endParaRPr>
          </a:p>
          <a:p>
            <a:pPr>
              <a:lnSpc>
                <a:spcPts val="10200"/>
              </a:lnSpc>
            </a:pPr>
            <a:r>
              <a:rPr lang="en-GB" sz="4300" dirty="0">
                <a:solidFill>
                  <a:srgbClr val="CC00CC"/>
                </a:solidFill>
              </a:rPr>
              <a:t>This could be setting up sensors, scraping web data, designing a survey or querying existing databases. The goal is to gather the relevant raw information.</a:t>
            </a:r>
            <a:endParaRPr lang="en-GB" sz="4300" dirty="0">
              <a:ea typeface="Calibri"/>
              <a:cs typeface="Calibri"/>
            </a:endParaRPr>
          </a:p>
          <a:p>
            <a:pPr>
              <a:lnSpc>
                <a:spcPts val="10200"/>
              </a:lnSpc>
            </a:pPr>
            <a:r>
              <a:rPr lang="en-GB" sz="4400" dirty="0"/>
              <a:t>4. Clean and pre-process the data:</a:t>
            </a:r>
            <a:endParaRPr lang="en-GB" sz="4400" dirty="0">
              <a:ea typeface="Calibri"/>
              <a:cs typeface="Calibri"/>
            </a:endParaRPr>
          </a:p>
          <a:p>
            <a:pPr>
              <a:lnSpc>
                <a:spcPts val="10200"/>
              </a:lnSpc>
            </a:pPr>
            <a:r>
              <a:rPr lang="en-GB" sz="4300" dirty="0">
                <a:solidFill>
                  <a:srgbClr val="CC00CC"/>
                </a:solidFill>
              </a:rPr>
              <a:t>We might be handling missing values, fixing formatting errors or normalising the values so that the data is fairly comparable and easily useable. This often takes a long time and can be boring but is necessary work before the interesting part!</a:t>
            </a:r>
            <a:endParaRPr lang="en-GB" sz="4300" dirty="0">
              <a:solidFill>
                <a:srgbClr val="CC00CC"/>
              </a:solidFill>
              <a:ea typeface="Calibri"/>
              <a:cs typeface="Calibri"/>
            </a:endParaRPr>
          </a:p>
          <a:p>
            <a:pPr marL="0" indent="0">
              <a:lnSpc>
                <a:spcPts val="10200"/>
              </a:lnSpc>
              <a:buFont typeface="+mj-lt"/>
              <a:buNone/>
            </a:pPr>
            <a:r>
              <a:rPr lang="en-GB" sz="4400" dirty="0"/>
              <a:t>5. Run analysis:</a:t>
            </a:r>
            <a:endParaRPr lang="en-GB" sz="4400" dirty="0">
              <a:ea typeface="Calibri"/>
              <a:cs typeface="Calibri"/>
            </a:endParaRPr>
          </a:p>
          <a:p>
            <a:pPr>
              <a:lnSpc>
                <a:spcPts val="10200"/>
              </a:lnSpc>
            </a:pPr>
            <a:r>
              <a:rPr lang="en-GB" sz="4300" dirty="0">
                <a:solidFill>
                  <a:srgbClr val="CC00CC"/>
                </a:solidFill>
              </a:rPr>
              <a:t>Here we run algorithms, test our hypotheses, and find useful patterns. As long as we do a good enough job preparing the data in the previous step, this part should run smoothly.</a:t>
            </a:r>
            <a:endParaRPr lang="en-GB" sz="4300" dirty="0">
              <a:ea typeface="Calibri"/>
              <a:cs typeface="Calibri"/>
            </a:endParaRPr>
          </a:p>
          <a:p>
            <a:pPr>
              <a:lnSpc>
                <a:spcPts val="10200"/>
              </a:lnSpc>
            </a:pPr>
            <a:r>
              <a:rPr lang="en-GB" sz="4400" dirty="0"/>
              <a:t>6. Write up the results:</a:t>
            </a:r>
            <a:endParaRPr lang="en-GB" sz="4400" dirty="0">
              <a:ea typeface="Calibri"/>
              <a:cs typeface="Calibri"/>
            </a:endParaRPr>
          </a:p>
          <a:p>
            <a:pPr>
              <a:lnSpc>
                <a:spcPts val="10200"/>
              </a:lnSpc>
            </a:pPr>
            <a:r>
              <a:rPr lang="en-GB" sz="4300" dirty="0">
                <a:solidFill>
                  <a:srgbClr val="CC00CC"/>
                </a:solidFill>
              </a:rPr>
              <a:t>Data is useless if it doesn't persuade or inform so this step is about storytelling. We must translate our data analysis into actionable insight for stakeholders who might not have a technical background.</a:t>
            </a:r>
            <a:endParaRPr lang="en-GB" sz="4400" dirty="0">
              <a:ea typeface="Calibri"/>
              <a:cs typeface="Calibri"/>
            </a:endParaRPr>
          </a:p>
          <a:p>
            <a:pPr marL="0" indent="0">
              <a:lnSpc>
                <a:spcPts val="10200"/>
              </a:lnSpc>
              <a:buFont typeface="+mj-lt"/>
              <a:buNone/>
            </a:pPr>
            <a:r>
              <a:rPr lang="en-GB" sz="4400" dirty="0"/>
              <a:t>7. Store the data:</a:t>
            </a:r>
            <a:endParaRPr lang="en-GB" sz="4400" dirty="0">
              <a:ea typeface="Calibri"/>
              <a:cs typeface="Calibri"/>
            </a:endParaRPr>
          </a:p>
          <a:p>
            <a:pPr>
              <a:lnSpc>
                <a:spcPts val="10200"/>
              </a:lnSpc>
            </a:pPr>
            <a:r>
              <a:rPr lang="en-GB" sz="4300" dirty="0">
                <a:solidFill>
                  <a:srgbClr val="CC00CC"/>
                </a:solidFill>
              </a:rPr>
              <a:t>Once the project is complete, we need to do something with the data. It should be archived for reproducibility purposes and it's important to store it securely, especially if it contains confidential information (i.e., medical records).</a:t>
            </a:r>
            <a:endParaRPr lang="en-GB" sz="4300" dirty="0">
              <a:solidFill>
                <a:srgbClr val="CC00CC"/>
              </a:solidFill>
              <a:ea typeface="Calibri"/>
              <a:cs typeface="Calibri"/>
            </a:endParaRPr>
          </a:p>
          <a:p>
            <a:pPr>
              <a:lnSpc>
                <a:spcPts val="10200"/>
              </a:lnSpc>
            </a:pPr>
            <a:r>
              <a:rPr lang="en-GB" sz="4400" dirty="0"/>
              <a:t>8. Consider future uses of the data:</a:t>
            </a:r>
            <a:endParaRPr lang="en-GB" sz="4400" dirty="0">
              <a:solidFill>
                <a:srgbClr val="CC00CC"/>
              </a:solidFill>
            </a:endParaRPr>
          </a:p>
          <a:p>
            <a:pPr>
              <a:lnSpc>
                <a:spcPts val="10200"/>
              </a:lnSpc>
            </a:pPr>
            <a:r>
              <a:rPr lang="en-GB" sz="4400" dirty="0">
                <a:solidFill>
                  <a:srgbClr val="CC00CC"/>
                </a:solidFill>
              </a:rPr>
              <a:t>Can this dataset be used again to help answer other research questions? We close the lifecycle loop by sparking ideas for the next investigation.</a:t>
            </a:r>
            <a:endParaRPr lang="en-GB" sz="4400" dirty="0">
              <a:solidFill>
                <a:srgbClr val="CC00CC"/>
              </a:solidFill>
              <a:ea typeface="Calibri"/>
              <a:cs typeface="Calibri"/>
            </a:endParaRPr>
          </a:p>
          <a:p>
            <a:endParaRPr lang="en-GB" sz="4300" i="1" dirty="0">
              <a:ea typeface="Calibri"/>
              <a:cs typeface="Calibri"/>
            </a:endParaRPr>
          </a:p>
          <a:p>
            <a:r>
              <a:rPr lang="en-GB" sz="4300" i="1" dirty="0">
                <a:cs typeface="Calibri"/>
              </a:rPr>
              <a:t>Ask the audience to think about the steps in the cycle (optional whether this is reported, or just for personal reflection, depends on time and if they are keen on participating)</a:t>
            </a:r>
            <a:endParaRPr lang="en-GB" sz="4300" i="1" dirty="0">
              <a:ea typeface="Calibri"/>
              <a:cs typeface="Calibri"/>
            </a:endParaRPr>
          </a:p>
          <a:p>
            <a:r>
              <a:rPr lang="en-GB" sz="4300" dirty="0">
                <a:solidFill>
                  <a:srgbClr val="CC00CC"/>
                </a:solidFill>
                <a:cs typeface="Calibri"/>
              </a:rPr>
              <a:t>What data science or AI techniques could be used here (and whereabouts would they be used in the lifecycle)?</a:t>
            </a:r>
            <a:endParaRPr lang="en-GB" sz="4300" dirty="0">
              <a:ea typeface="Calibri"/>
              <a:cs typeface="Calibri"/>
            </a:endParaRPr>
          </a:p>
          <a:p>
            <a:pPr>
              <a:defRPr/>
            </a:pPr>
            <a:endParaRPr lang="en-GB" sz="4400" b="1" u="sng" kern="100" dirty="0">
              <a:latin typeface="Calibri Light"/>
              <a:ea typeface="Calibri"/>
              <a:cs typeface="Calibri Light"/>
            </a:endParaRPr>
          </a:p>
          <a:p>
            <a:pPr>
              <a:defRPr/>
            </a:pPr>
            <a:r>
              <a:rPr lang="en-GB" sz="4400" b="1" u="sng" kern="100" dirty="0">
                <a:effectLst/>
                <a:latin typeface="Calibri Light"/>
                <a:ea typeface="Calibri"/>
                <a:cs typeface="Calibri Light"/>
              </a:rPr>
              <a:t>Notes:</a:t>
            </a:r>
            <a:r>
              <a:rPr lang="en-GB" sz="4400" kern="100" dirty="0">
                <a:latin typeface="Calibri Light"/>
                <a:ea typeface="Calibri Light"/>
                <a:cs typeface="Calibri Light"/>
              </a:rPr>
              <a:t> The</a:t>
            </a:r>
            <a:r>
              <a:rPr lang="en-GB" sz="4400" b="0" u="none" kern="100" dirty="0">
                <a:effectLst/>
                <a:latin typeface="Calibri Light"/>
                <a:ea typeface="Calibri Light"/>
                <a:cs typeface="Calibri Light"/>
              </a:rPr>
              <a:t> steps of the </a:t>
            </a:r>
            <a:r>
              <a:rPr lang="en-GB" sz="4400" kern="100" dirty="0">
                <a:latin typeface="Calibri Light"/>
                <a:ea typeface="Calibri Light"/>
                <a:cs typeface="Calibri Light"/>
              </a:rPr>
              <a:t>lifecycle</a:t>
            </a:r>
            <a:r>
              <a:rPr lang="en-GB" sz="4400" b="0" u="none" kern="100" dirty="0">
                <a:effectLst/>
                <a:latin typeface="Calibri Light"/>
                <a:ea typeface="Calibri Light"/>
                <a:cs typeface="Calibri Light"/>
              </a:rPr>
              <a:t> will animate one-by-one</a:t>
            </a:r>
            <a:endParaRPr lang="en-GB" sz="4300" b="0" u="none" dirty="0">
              <a:latin typeface="Calibri Light"/>
              <a:ea typeface="Calibri Light"/>
              <a:cs typeface="Calibri Light"/>
            </a:endParaRPr>
          </a:p>
        </p:txBody>
      </p:sp>
      <p:sp>
        <p:nvSpPr>
          <p:cNvPr id="4" name="Slide Number Placeholder 3">
            <a:extLst>
              <a:ext uri="{FF2B5EF4-FFF2-40B4-BE49-F238E27FC236}">
                <a16:creationId xmlns:a16="http://schemas.microsoft.com/office/drawing/2014/main" id="{6D04E123-21C5-03C8-83DC-D50CC0D4B707}"/>
              </a:ext>
            </a:extLst>
          </p:cNvPr>
          <p:cNvSpPr>
            <a:spLocks noGrp="1"/>
          </p:cNvSpPr>
          <p:nvPr>
            <p:ph type="sldNum" sz="quarter" idx="5"/>
          </p:nvPr>
        </p:nvSpPr>
        <p:spPr/>
        <p:txBody>
          <a:bodyPr/>
          <a:lstStyle/>
          <a:p>
            <a:pPr>
              <a:defRPr/>
            </a:pPr>
            <a:fld id="{B20FE0A2-34EE-413D-B87D-BE548BE2D9D5}" type="slidenum">
              <a:rPr lang="en-GB" altLang="en-US" smtClean="0"/>
              <a:pPr>
                <a:defRPr/>
              </a:pPr>
              <a:t>5</a:t>
            </a:fld>
            <a:endParaRPr lang="en-GB" altLang="en-US"/>
          </a:p>
        </p:txBody>
      </p:sp>
    </p:spTree>
    <p:extLst>
      <p:ext uri="{BB962C8B-B14F-4D97-AF65-F5344CB8AC3E}">
        <p14:creationId xmlns:p14="http://schemas.microsoft.com/office/powerpoint/2010/main" val="492357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300" b="1" u="sng">
                <a:cs typeface="Calibri"/>
              </a:rPr>
              <a:t>Host:</a:t>
            </a:r>
            <a:endParaRPr lang="en-US"/>
          </a:p>
          <a:p>
            <a:endParaRPr lang="en-GB" sz="4300">
              <a:cs typeface="Calibri"/>
            </a:endParaRPr>
          </a:p>
          <a:p>
            <a:r>
              <a:rPr lang="en-GB" sz="4300">
                <a:highlight>
                  <a:srgbClr val="FF00FF"/>
                </a:highlight>
              </a:rPr>
              <a:t>(Added by Rachael)</a:t>
            </a:r>
            <a:endParaRPr lang="en-GB" sz="4300">
              <a:highlight>
                <a:srgbClr val="FF00FF"/>
              </a:highlight>
              <a:ea typeface="Calibri"/>
              <a:cs typeface="Calibri"/>
            </a:endParaRPr>
          </a:p>
          <a:p>
            <a:endParaRPr lang="en-GB"/>
          </a:p>
          <a:p>
            <a:r>
              <a:rPr lang="en-GB" sz="4300">
                <a:cs typeface="Calibri"/>
              </a:rPr>
              <a:t>Data science involves a range of skills. As a data scientist you will need to be comfortable working in these different areas, and their intersections. </a:t>
            </a:r>
            <a:endParaRPr lang="en-GB" sz="4300">
              <a:ea typeface="Calibri"/>
              <a:cs typeface="Calibri"/>
            </a:endParaRPr>
          </a:p>
          <a:p>
            <a:endParaRPr lang="en-GB" sz="4300">
              <a:cs typeface="Calibri"/>
            </a:endParaRPr>
          </a:p>
          <a:p>
            <a:r>
              <a:rPr lang="en-GB" sz="4300">
                <a:cs typeface="Calibri"/>
              </a:rPr>
              <a:t>The three main areas in which you will need some expertise, in order to make decisions about the analysis of data are:</a:t>
            </a:r>
            <a:endParaRPr lang="en-GB" sz="4300">
              <a:solidFill>
                <a:srgbClr val="CC00CC"/>
              </a:solidFill>
              <a:cs typeface="Calibri"/>
            </a:endParaRPr>
          </a:p>
          <a:p>
            <a:r>
              <a:rPr lang="en-GB" sz="4300" b="1">
                <a:cs typeface="Calibri"/>
              </a:rPr>
              <a:t>1. Computer Science/IT</a:t>
            </a:r>
            <a:r>
              <a:rPr lang="en-GB" sz="4300">
                <a:cs typeface="Calibri"/>
              </a:rPr>
              <a:t> (</a:t>
            </a:r>
            <a:r>
              <a:rPr lang="en-GB" sz="4400"/>
              <a:t>What is the best programming language to use?)</a:t>
            </a:r>
            <a:endParaRPr lang="en-GB" sz="4300">
              <a:solidFill>
                <a:srgbClr val="CC00CC"/>
              </a:solidFill>
              <a:ea typeface="Calibri"/>
              <a:cs typeface="Calibri"/>
            </a:endParaRPr>
          </a:p>
          <a:p>
            <a:r>
              <a:rPr lang="en-GB" sz="4300">
                <a:solidFill>
                  <a:srgbClr val="CC00CC"/>
                </a:solidFill>
              </a:rPr>
              <a:t>We have to make decisions here: are we using Python and its libraries or R for its statistical packages? Do we have the infrastructure to handle the volume of data we have? We might need access to a supercomputer or know about parallel processing.</a:t>
            </a:r>
            <a:endParaRPr lang="en-GB" sz="4300">
              <a:solidFill>
                <a:srgbClr val="CC00CC"/>
              </a:solidFill>
              <a:ea typeface="Calibri"/>
              <a:cs typeface="Calibri"/>
            </a:endParaRPr>
          </a:p>
          <a:p>
            <a:r>
              <a:rPr lang="en-GB" sz="4300" b="1">
                <a:cs typeface="Calibri"/>
              </a:rPr>
              <a:t>2. Statistical Mathematics</a:t>
            </a:r>
            <a:r>
              <a:rPr lang="en-GB" sz="4300">
                <a:cs typeface="Calibri"/>
              </a:rPr>
              <a:t> (</a:t>
            </a:r>
            <a:r>
              <a:rPr lang="en-GB" sz="4400">
                <a:cs typeface="Calibri"/>
              </a:rPr>
              <a:t>What</a:t>
            </a:r>
            <a:r>
              <a:rPr lang="en-GB" sz="4400"/>
              <a:t> sort of data do I have? What kind of methods should I use to analyse it?)</a:t>
            </a:r>
            <a:endParaRPr lang="en-GB" sz="4400">
              <a:cs typeface="Calibri"/>
            </a:endParaRPr>
          </a:p>
          <a:p>
            <a:r>
              <a:rPr lang="en-GB" sz="4300">
                <a:solidFill>
                  <a:srgbClr val="CC00CC"/>
                </a:solidFill>
              </a:rPr>
              <a:t>This is the theoretical foundation where we ask things like: what is the distribution of our data? Is each result actually significant or just a fluke? And it guides us on which methods are mathematically valid for the specific dataset we have when we are planning our approach.</a:t>
            </a:r>
            <a:endParaRPr lang="en-GB" sz="4300">
              <a:solidFill>
                <a:srgbClr val="CC00CC"/>
              </a:solidFill>
              <a:ea typeface="Calibri"/>
              <a:cs typeface="Calibri"/>
            </a:endParaRPr>
          </a:p>
          <a:p>
            <a:r>
              <a:rPr lang="en-GB" sz="4300" b="1">
                <a:cs typeface="Calibri"/>
              </a:rPr>
              <a:t>3. Business/Domain Knowledge </a:t>
            </a:r>
            <a:r>
              <a:rPr lang="en-GB" sz="4300">
                <a:cs typeface="Calibri"/>
              </a:rPr>
              <a:t>(</a:t>
            </a:r>
            <a:r>
              <a:rPr lang="en-GB" sz="4300" b="0">
                <a:cs typeface="Calibri"/>
              </a:rPr>
              <a:t>for example</a:t>
            </a:r>
            <a:r>
              <a:rPr lang="en-GB" sz="4300">
                <a:cs typeface="Calibri"/>
              </a:rPr>
              <a:t>:</a:t>
            </a:r>
            <a:r>
              <a:rPr lang="en-GB" sz="4300" b="0">
                <a:cs typeface="Calibri"/>
              </a:rPr>
              <a:t> </a:t>
            </a:r>
            <a:r>
              <a:rPr lang="en-GB" sz="4400"/>
              <a:t>What are sensible assumptions to make? What are the biases in this sort of data?)</a:t>
            </a:r>
            <a:endParaRPr lang="en-GB" sz="4400">
              <a:ea typeface="Calibri"/>
              <a:cs typeface="Calibri"/>
            </a:endParaRPr>
          </a:p>
          <a:p>
            <a:r>
              <a:rPr lang="en-GB" sz="4300">
                <a:solidFill>
                  <a:srgbClr val="CC00CC"/>
                </a:solidFill>
              </a:rPr>
              <a:t>This is sometimes an overlooked element - you can be a great coder and a great statistician, but if you don't understand the context (the business, the field of science, the market), you may well solve the "wrong" problem.</a:t>
            </a:r>
            <a:endParaRPr lang="en-GB" sz="4300">
              <a:solidFill>
                <a:srgbClr val="CC00CC"/>
              </a:solidFill>
              <a:ea typeface="Calibri"/>
              <a:cs typeface="Calibri"/>
            </a:endParaRPr>
          </a:p>
          <a:p>
            <a:endParaRPr lang="en-GB" sz="4300">
              <a:solidFill>
                <a:srgbClr val="CC00CC"/>
              </a:solidFill>
              <a:cs typeface="Calibri"/>
            </a:endParaRPr>
          </a:p>
          <a:p>
            <a:endParaRPr lang="en-GB" sz="4300">
              <a:solidFill>
                <a:srgbClr val="CC00CC"/>
              </a:solidFill>
              <a:cs typeface="Calibri"/>
            </a:endParaRPr>
          </a:p>
          <a:p>
            <a:pPr marL="0" indent="0">
              <a:buFont typeface="+mj-lt"/>
              <a:buNone/>
            </a:pPr>
            <a:r>
              <a:rPr lang="en-GB" sz="4400" b="0">
                <a:cs typeface="Calibri"/>
              </a:rPr>
              <a:t>These areas also overlap with each other:</a:t>
            </a:r>
            <a:endParaRPr lang="en-GB" sz="4400" b="0">
              <a:ea typeface="Calibri"/>
              <a:cs typeface="Calibri"/>
            </a:endParaRPr>
          </a:p>
          <a:p>
            <a:r>
              <a:rPr lang="en-GB" sz="4400" b="1">
                <a:cs typeface="Calibri"/>
              </a:rPr>
              <a:t>1. Machine learning</a:t>
            </a:r>
            <a:r>
              <a:rPr lang="en-GB" sz="4400" b="0">
                <a:cs typeface="Calibri"/>
              </a:rPr>
              <a:t>. </a:t>
            </a:r>
            <a:r>
              <a:rPr lang="en-GB" sz="4400"/>
              <a:t>Can AI methods help to model this? Is traditional statistics more appropriate?</a:t>
            </a:r>
            <a:endParaRPr lang="en-GB" sz="4400">
              <a:ea typeface="Calibri"/>
              <a:cs typeface="Calibri"/>
            </a:endParaRPr>
          </a:p>
          <a:p>
            <a:r>
              <a:rPr lang="en-GB" sz="4300">
                <a:solidFill>
                  <a:srgbClr val="CC00CC"/>
                </a:solidFill>
              </a:rPr>
              <a:t>When we combine heavy computing power with advanced mathematics, we get Machine Learning, which falls under the AI umbrella... but just because we </a:t>
            </a:r>
            <a:r>
              <a:rPr lang="en-GB" sz="4300" i="1">
                <a:solidFill>
                  <a:srgbClr val="CC00CC"/>
                </a:solidFill>
              </a:rPr>
              <a:t>can</a:t>
            </a:r>
            <a:r>
              <a:rPr lang="en-GB" sz="4300">
                <a:solidFill>
                  <a:srgbClr val="CC00CC"/>
                </a:solidFill>
              </a:rPr>
              <a:t> use a complex AI model, </a:t>
            </a:r>
            <a:r>
              <a:rPr lang="en-GB" sz="4300" i="1">
                <a:solidFill>
                  <a:srgbClr val="CC00CC"/>
                </a:solidFill>
              </a:rPr>
              <a:t>should</a:t>
            </a:r>
            <a:r>
              <a:rPr lang="en-GB" sz="4300">
                <a:solidFill>
                  <a:srgbClr val="CC00CC"/>
                </a:solidFill>
              </a:rPr>
              <a:t> we? Sometimes a simple statistical regression is faster, cheaper and easier to explain - this intersection is therefore about balancing complexity with utility.</a:t>
            </a:r>
            <a:endParaRPr lang="en-GB" sz="4300">
              <a:solidFill>
                <a:srgbClr val="CC00CC"/>
              </a:solidFill>
              <a:ea typeface="Calibri"/>
              <a:cs typeface="Calibri"/>
            </a:endParaRPr>
          </a:p>
          <a:p>
            <a:r>
              <a:rPr lang="en-GB" sz="4400" b="1">
                <a:cs typeface="Calibri"/>
              </a:rPr>
              <a:t>2. Data Analysis</a:t>
            </a:r>
            <a:r>
              <a:rPr lang="en-GB" sz="4400" b="0">
                <a:cs typeface="Calibri"/>
              </a:rPr>
              <a:t>. </a:t>
            </a:r>
            <a:r>
              <a:rPr lang="en-GB" sz="4400"/>
              <a:t>How do I need to transform the data? Do we have missing data to think about?</a:t>
            </a:r>
            <a:endParaRPr lang="en-GB" sz="4400" b="0">
              <a:ea typeface="Calibri"/>
              <a:cs typeface="Calibri"/>
            </a:endParaRPr>
          </a:p>
          <a:p>
            <a:r>
              <a:rPr lang="en-GB" sz="4300">
                <a:solidFill>
                  <a:srgbClr val="CC00CC"/>
                </a:solidFill>
              </a:rPr>
              <a:t>When we apply statistical rigor to business problems, we get Data Analysis. Real-world business data is messy so we have to decide how to manage that: if there are missing values, do we delete those rows or estimate the missing numbers? These decisions require both maths skills (for imputation) and business skills (is it safe to assume this value?).</a:t>
            </a:r>
            <a:endParaRPr lang="en-GB" sz="4300">
              <a:solidFill>
                <a:srgbClr val="CC00CC"/>
              </a:solidFill>
              <a:ea typeface="Calibri"/>
              <a:cs typeface="Calibri"/>
            </a:endParaRPr>
          </a:p>
          <a:p>
            <a:r>
              <a:rPr lang="en-GB" sz="4400" b="1">
                <a:cs typeface="Calibri"/>
              </a:rPr>
              <a:t>3. Software development</a:t>
            </a:r>
            <a:r>
              <a:rPr lang="en-GB" sz="4400" b="0">
                <a:cs typeface="Calibri"/>
              </a:rPr>
              <a:t>. </a:t>
            </a:r>
            <a:r>
              <a:rPr lang="en-GB" sz="4400"/>
              <a:t>Have we done something like this before? What additional software do I need to create?</a:t>
            </a:r>
            <a:endParaRPr lang="en-GB" sz="4400">
              <a:ea typeface="Calibri"/>
              <a:cs typeface="Calibri"/>
            </a:endParaRPr>
          </a:p>
          <a:p>
            <a:r>
              <a:rPr lang="en-GB" sz="4300">
                <a:solidFill>
                  <a:srgbClr val="CC00CC"/>
                </a:solidFill>
              </a:rPr>
              <a:t>Finally, when Computer Science meets a Business need, we get Software Development. This is about operationalising our work. We don't want to reinvent the wheel - can we make use of something pre-existing (even just as a starting point)? And can we package our analysis into a repeatable piece of software for future use or even a dashboard that the business can use every day without calling a data science expert?</a:t>
            </a:r>
            <a:endParaRPr lang="en-GB" sz="4300">
              <a:solidFill>
                <a:srgbClr val="CC00CC"/>
              </a:solidFill>
              <a:ea typeface="Calibri"/>
              <a:cs typeface="Calibri"/>
            </a:endParaRPr>
          </a:p>
          <a:p>
            <a:pPr marL="742950" indent="-742950">
              <a:buAutoNum type="arabicPeriod"/>
            </a:pPr>
            <a:endParaRPr lang="en-GB" sz="4400">
              <a:solidFill>
                <a:srgbClr val="CC00CC"/>
              </a:solidFill>
              <a:ea typeface="Calibri"/>
              <a:cs typeface="Calibri"/>
            </a:endParaRPr>
          </a:p>
          <a:p>
            <a:r>
              <a:rPr lang="en-GB" sz="4300">
                <a:cs typeface="Calibri"/>
              </a:rPr>
              <a:t>As a junior data scientist, you would not be expected to be equally good in all these areas, but you will need to be good at picking up skills on the job and learning from the experts you work with,</a:t>
            </a:r>
            <a:r>
              <a:rPr lang="en-GB" sz="4300">
                <a:solidFill>
                  <a:srgbClr val="CC00CC"/>
                </a:solidFill>
                <a:cs typeface="Calibri"/>
              </a:rPr>
              <a:t> which means (so-called) soft skills are also really important and we'll talk more about those later.</a:t>
            </a:r>
            <a:endParaRPr lang="en-GB" sz="4300">
              <a:solidFill>
                <a:srgbClr val="CC00CC"/>
              </a:solidFill>
              <a:ea typeface="Calibri"/>
              <a:cs typeface="Calibri"/>
            </a:endParaRPr>
          </a:p>
          <a:p>
            <a:endParaRPr lang="en-GB" sz="4300">
              <a:solidFill>
                <a:srgbClr val="CC00CC"/>
              </a:solidFill>
              <a:ea typeface="Calibri"/>
              <a:cs typeface="Calibri"/>
            </a:endParaRPr>
          </a:p>
          <a:p>
            <a:r>
              <a:rPr lang="en-GB" sz="4300">
                <a:solidFill>
                  <a:srgbClr val="CC00CC"/>
                </a:solidFill>
                <a:ea typeface="Calibri"/>
                <a:cs typeface="Calibri"/>
              </a:rPr>
              <a:t>The variety of questions asked on this slide reflect the variety of skills that are required for the success of any project. This is highlighting the need for diverse teams and good collaboration for the best results and most efficient processes.</a:t>
            </a:r>
          </a:p>
          <a:p>
            <a:endParaRPr lang="en-GB" sz="4300">
              <a:solidFill>
                <a:srgbClr val="CC00CC"/>
              </a:solidFill>
              <a:ea typeface="Calibri"/>
              <a:cs typeface="Calibri"/>
            </a:endParaRPr>
          </a:p>
          <a:p>
            <a:r>
              <a:rPr lang="en-GB" sz="4300" i="1">
                <a:ea typeface="Calibri"/>
                <a:cs typeface="Calibri"/>
              </a:rPr>
              <a:t>Before moving on to the next section, if there's time, can ask if these questions and ideas resonate with them and take a couple of their thoughts e.g. answering the question on programming languages, any biases they have seen, the similarities and differences between data science, stats, ML etc. </a:t>
            </a:r>
          </a:p>
          <a:p>
            <a:endParaRPr lang="en-GB" sz="4300" i="1">
              <a:ea typeface="Calibri"/>
              <a:cs typeface="Calibri"/>
            </a:endParaRPr>
          </a:p>
          <a:p>
            <a:endParaRPr lang="en-GB" sz="4300" i="1">
              <a:solidFill>
                <a:srgbClr val="CC00CC"/>
              </a:solidFill>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6</a:t>
            </a:fld>
            <a:endParaRPr lang="en-GB" altLang="en-US"/>
          </a:p>
        </p:txBody>
      </p:sp>
    </p:spTree>
    <p:extLst>
      <p:ext uri="{BB962C8B-B14F-4D97-AF65-F5344CB8AC3E}">
        <p14:creationId xmlns:p14="http://schemas.microsoft.com/office/powerpoint/2010/main" val="2666191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62B9-9796-DFD9-3ADD-7C1613F1E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C8994-355D-8C9C-C69A-EB0FE061A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09FEB-CA2F-A831-07D0-CC358E08A65C}"/>
              </a:ext>
            </a:extLst>
          </p:cNvPr>
          <p:cNvSpPr>
            <a:spLocks noGrp="1"/>
          </p:cNvSpPr>
          <p:nvPr>
            <p:ph type="body" idx="1"/>
          </p:nvPr>
        </p:nvSpPr>
        <p:spPr/>
        <p:txBody>
          <a:bodyPr/>
          <a:lstStyle/>
          <a:p>
            <a:r>
              <a:rPr lang="en-GB" sz="4300" b="1" u="sng" dirty="0"/>
              <a:t>Host: </a:t>
            </a:r>
            <a:endParaRPr lang="en-GB" sz="4300" dirty="0"/>
          </a:p>
          <a:p>
            <a:endParaRPr lang="en-GB" sz="4300" b="1" u="sng" dirty="0">
              <a:ea typeface="Calibri"/>
              <a:cs typeface="Calibri"/>
            </a:endParaRPr>
          </a:p>
          <a:p>
            <a:r>
              <a:rPr lang="en-GB" sz="4300" dirty="0">
                <a:ea typeface="Calibri"/>
                <a:cs typeface="Calibri"/>
              </a:rPr>
              <a:t>Now that we've set the stage with what data science is and how your skills might be applied, we'll look at one of the vital government applications </a:t>
            </a:r>
            <a:r>
              <a:rPr lang="en-GB" sz="4300" dirty="0"/>
              <a:t>of these skills:</a:t>
            </a:r>
            <a:endParaRPr lang="en-GB" sz="4400" dirty="0"/>
          </a:p>
          <a:p>
            <a:endParaRPr lang="en-GB" sz="4400" b="1" dirty="0"/>
          </a:p>
          <a:p>
            <a:r>
              <a:rPr lang="en-GB" sz="4400" b="1" dirty="0"/>
              <a:t>Critical</a:t>
            </a:r>
            <a:r>
              <a:rPr lang="en-GB" sz="4400" b="1" kern="1200" dirty="0">
                <a:solidFill>
                  <a:schemeClr val="tx1"/>
                </a:solidFill>
                <a:effectLst/>
                <a:latin typeface="+mn-lt"/>
                <a:ea typeface="+mn-ea"/>
                <a:cs typeface="+mn-cs"/>
              </a:rPr>
              <a:t> National Infrastructure (CNI</a:t>
            </a:r>
            <a:r>
              <a:rPr lang="en-GB" sz="4400" b="1" dirty="0"/>
              <a:t>)  </a:t>
            </a:r>
            <a:endParaRPr lang="en-GB" sz="4400" kern="1200" dirty="0">
              <a:solidFill>
                <a:schemeClr val="tx1"/>
              </a:solidFill>
              <a:effectLst/>
              <a:latin typeface="+mn-lt"/>
              <a:ea typeface="Calibri"/>
              <a:cs typeface="Calibri"/>
            </a:endParaRPr>
          </a:p>
          <a:p>
            <a:endParaRPr lang="en-GB" sz="4400" b="1" dirty="0"/>
          </a:p>
          <a:p>
            <a:r>
              <a:rPr lang="en-GB" sz="4400" b="1" kern="1200" dirty="0">
                <a:solidFill>
                  <a:schemeClr val="tx1"/>
                </a:solidFill>
                <a:effectLst/>
                <a:latin typeface="+mn-lt"/>
                <a:ea typeface="+mn-ea"/>
                <a:cs typeface="+mn-cs"/>
              </a:rPr>
              <a:t>What Is It? </a:t>
            </a:r>
            <a:endParaRPr lang="en-GB" sz="4400" kern="1200" dirty="0">
              <a:solidFill>
                <a:schemeClr val="tx1"/>
              </a:solidFill>
              <a:effectLst/>
              <a:latin typeface="+mn-lt"/>
              <a:ea typeface="+mn-ea"/>
              <a:cs typeface="+mn-cs"/>
            </a:endParaRPr>
          </a:p>
          <a:p>
            <a:r>
              <a:rPr lang="en-GB" sz="4400" kern="1200" dirty="0">
                <a:solidFill>
                  <a:schemeClr val="tx1"/>
                </a:solidFill>
                <a:effectLst/>
                <a:latin typeface="+mn-lt"/>
                <a:ea typeface="+mn-ea"/>
                <a:cs typeface="+mn-cs"/>
              </a:rPr>
              <a:t>Critical National Infrastructure is </a:t>
            </a:r>
            <a:r>
              <a:rPr lang="en-GB" sz="4400" dirty="0"/>
              <a:t>how we describe the</a:t>
            </a:r>
            <a:r>
              <a:rPr lang="en-GB" sz="4400" kern="1200" dirty="0">
                <a:solidFill>
                  <a:schemeClr val="tx1"/>
                </a:solidFill>
                <a:effectLst/>
                <a:latin typeface="+mn-lt"/>
                <a:ea typeface="+mn-ea"/>
                <a:cs typeface="+mn-cs"/>
              </a:rPr>
              <a:t> essential systems and assets that a modern </a:t>
            </a:r>
            <a:r>
              <a:rPr lang="en-GB" sz="4400" b="1" kern="1200" dirty="0">
                <a:solidFill>
                  <a:schemeClr val="tx1"/>
                </a:solidFill>
                <a:effectLst/>
                <a:latin typeface="+mn-lt"/>
                <a:ea typeface="+mn-ea"/>
                <a:cs typeface="+mn-cs"/>
              </a:rPr>
              <a:t>country</a:t>
            </a:r>
            <a:r>
              <a:rPr lang="en-GB" sz="4400" kern="1200" dirty="0">
                <a:solidFill>
                  <a:schemeClr val="tx1"/>
                </a:solidFill>
                <a:effectLst/>
                <a:latin typeface="+mn-lt"/>
                <a:ea typeface="+mn-ea"/>
                <a:cs typeface="+mn-cs"/>
              </a:rPr>
              <a:t> absolutely needs to function. Think of it as the "vital organs" of a nation - if any of these stops working, society faces serious consequences very quickly.</a:t>
            </a:r>
            <a:endParaRPr lang="en-GB" sz="4400" kern="1200" dirty="0">
              <a:solidFill>
                <a:schemeClr val="tx1"/>
              </a:solidFill>
              <a:effectLst/>
              <a:latin typeface="+mn-lt"/>
              <a:ea typeface="Calibri"/>
              <a:cs typeface="Calibri"/>
            </a:endParaRPr>
          </a:p>
          <a:p>
            <a:r>
              <a:rPr lang="en-GB" sz="4400" kern="1200" dirty="0">
                <a:solidFill>
                  <a:schemeClr val="tx1"/>
                </a:solidFill>
                <a:effectLst/>
                <a:latin typeface="+mn-lt"/>
                <a:ea typeface="+mn-ea"/>
                <a:cs typeface="+mn-cs"/>
              </a:rPr>
              <a:t>In the UK, there are </a:t>
            </a:r>
            <a:r>
              <a:rPr lang="en-GB" sz="4400" b="1" kern="1200" dirty="0">
                <a:solidFill>
                  <a:schemeClr val="tx1"/>
                </a:solidFill>
                <a:effectLst/>
                <a:latin typeface="+mn-lt"/>
                <a:ea typeface="+mn-ea"/>
                <a:cs typeface="+mn-cs"/>
              </a:rPr>
              <a:t>13 sectors</a:t>
            </a:r>
            <a:r>
              <a:rPr lang="en-GB" sz="4400" kern="1200" dirty="0">
                <a:solidFill>
                  <a:schemeClr val="tx1"/>
                </a:solidFill>
                <a:effectLst/>
                <a:latin typeface="+mn-lt"/>
                <a:ea typeface="+mn-ea"/>
                <a:cs typeface="+mn-cs"/>
              </a:rPr>
              <a:t> classified as CNI </a:t>
            </a:r>
            <a:endParaRPr lang="en-GB" sz="4400" b="1" dirty="0"/>
          </a:p>
          <a:p>
            <a:endParaRPr lang="en-GB" sz="4400" b="1" dirty="0"/>
          </a:p>
          <a:p>
            <a:r>
              <a:rPr lang="en-GB" sz="4400" b="1" kern="1200" dirty="0">
                <a:solidFill>
                  <a:schemeClr val="tx1"/>
                </a:solidFill>
                <a:effectLst/>
                <a:latin typeface="+mn-lt"/>
                <a:ea typeface="+mn-ea"/>
                <a:cs typeface="+mn-cs"/>
              </a:rPr>
              <a:t>Can they guess them? </a:t>
            </a:r>
            <a:r>
              <a:rPr lang="en-GB" sz="4400" b="1" dirty="0"/>
              <a:t>- take 20 seconds to take any responses if possible</a:t>
            </a:r>
            <a:endParaRPr lang="en-GB" sz="4400" b="1" dirty="0">
              <a:ea typeface="Calibri"/>
              <a:cs typeface="Calibri"/>
            </a:endParaRPr>
          </a:p>
          <a:p>
            <a:r>
              <a:rPr lang="en-GB" sz="4400" b="1" kern="1200" dirty="0">
                <a:solidFill>
                  <a:schemeClr val="tx1"/>
                </a:solidFill>
                <a:effectLst/>
                <a:latin typeface="+mn-lt"/>
                <a:ea typeface="+mn-ea"/>
                <a:cs typeface="+mn-cs"/>
              </a:rPr>
              <a:t>Note them down, then see how many </a:t>
            </a:r>
            <a:r>
              <a:rPr lang="en-GB" sz="4400" b="1" dirty="0"/>
              <a:t>match. No need to read all the answers, can just reveal them and highlight the more unlikely ones </a:t>
            </a:r>
            <a:endParaRPr lang="en-GB" sz="4400" b="1" dirty="0">
              <a:ea typeface="Calibri"/>
              <a:cs typeface="Calibri"/>
            </a:endParaRPr>
          </a:p>
          <a:p>
            <a:endParaRPr lang="en-GB" sz="4400" b="1" dirty="0"/>
          </a:p>
          <a:p>
            <a:pPr marL="228600" lvl="0" indent="-228600">
              <a:buFont typeface="+mj-lt"/>
              <a:buAutoNum type="arabicPeriod"/>
            </a:pPr>
            <a:r>
              <a:rPr lang="en-GB" sz="4400" kern="1200" dirty="0">
                <a:solidFill>
                  <a:schemeClr val="tx1"/>
                </a:solidFill>
                <a:effectLst/>
                <a:latin typeface="+mn-lt"/>
                <a:ea typeface="+mn-ea"/>
                <a:cs typeface="+mn-cs"/>
              </a:rPr>
              <a:t>Energy (electricity, gas, oil)</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Civil nuclear (power stations)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Chemical and nuclear sites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Water supply</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Transport (roads, rail, airports, ports)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Communications (internet, phones, mobile networks) </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Space (satellites for GPS, communications)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Health (hospitals, NHS systems)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Food supply chains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Financial services (banks, stock exchange)</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Government functions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Emergency services</a:t>
            </a:r>
            <a:endParaRPr lang="en-GB" sz="4400" kern="1200" dirty="0">
              <a:solidFill>
                <a:schemeClr val="tx1"/>
              </a:solidFill>
              <a:effectLst/>
              <a:latin typeface="+mn-lt"/>
              <a:ea typeface="Calibri"/>
              <a:cs typeface="Calibri"/>
            </a:endParaRPr>
          </a:p>
          <a:p>
            <a:pPr marL="228600" lvl="0" indent="-228600">
              <a:buFont typeface="+mj-lt"/>
              <a:buAutoNum type="arabicPeriod"/>
            </a:pPr>
            <a:r>
              <a:rPr lang="en-GB" sz="4400" kern="1200" dirty="0">
                <a:solidFill>
                  <a:schemeClr val="tx1"/>
                </a:solidFill>
                <a:effectLst/>
                <a:latin typeface="+mn-lt"/>
                <a:ea typeface="+mn-ea"/>
                <a:cs typeface="+mn-cs"/>
              </a:rPr>
              <a:t>Defence </a:t>
            </a:r>
            <a:endParaRPr lang="en-GB" sz="4400" kern="1200" dirty="0">
              <a:solidFill>
                <a:schemeClr val="tx1"/>
              </a:solidFill>
              <a:effectLst/>
              <a:latin typeface="+mn-lt"/>
              <a:ea typeface="Calibri"/>
              <a:cs typeface="Calibri"/>
            </a:endParaRPr>
          </a:p>
          <a:p>
            <a:pPr marL="228600" lvl="0" indent="-228600">
              <a:buFont typeface="+mj-lt"/>
              <a:buAutoNum type="arabicPeriod"/>
            </a:pPr>
            <a:endParaRPr lang="en-GB" sz="4400" kern="1200" dirty="0">
              <a:solidFill>
                <a:schemeClr val="tx1"/>
              </a:solidFill>
              <a:effectLst/>
              <a:latin typeface="+mn-lt"/>
              <a:ea typeface="+mn-ea"/>
              <a:cs typeface="+mn-cs"/>
            </a:endParaRPr>
          </a:p>
          <a:p>
            <a:r>
              <a:rPr lang="en-GB" sz="4400" b="1" kern="1200" dirty="0">
                <a:solidFill>
                  <a:schemeClr val="tx1"/>
                </a:solidFill>
                <a:effectLst/>
                <a:latin typeface="+mn-lt"/>
                <a:ea typeface="+mn-ea"/>
                <a:cs typeface="+mn-cs"/>
              </a:rPr>
              <a:t>Why Should You Care? (45 seconds) </a:t>
            </a:r>
            <a:endParaRPr lang="en-GB" sz="4400" dirty="0"/>
          </a:p>
          <a:p>
            <a:r>
              <a:rPr lang="en-GB" sz="4400" b="1" kern="1200" dirty="0">
                <a:solidFill>
                  <a:schemeClr val="tx1"/>
                </a:solidFill>
                <a:effectLst/>
                <a:latin typeface="+mn-lt"/>
                <a:ea typeface="+mn-ea"/>
                <a:cs typeface="+mn-cs"/>
              </a:rPr>
              <a:t>You depend on CNI every second without realising it:</a:t>
            </a:r>
            <a:endParaRPr lang="en-GB" sz="4400" kern="1200" dirty="0">
              <a:solidFill>
                <a:schemeClr val="tx1"/>
              </a:solidFill>
              <a:effectLst/>
              <a:latin typeface="+mn-lt"/>
              <a:ea typeface="Calibri"/>
              <a:cs typeface="Calibri"/>
            </a:endParaRPr>
          </a:p>
          <a:p>
            <a:r>
              <a:rPr lang="en-GB" sz="4400" kern="1200" dirty="0">
                <a:solidFill>
                  <a:schemeClr val="tx1"/>
                </a:solidFill>
                <a:effectLst/>
                <a:latin typeface="+mn-lt"/>
                <a:ea typeface="+mn-ea"/>
                <a:cs typeface="+mn-cs"/>
              </a:rPr>
              <a:t>Ask </a:t>
            </a:r>
            <a:r>
              <a:rPr lang="en-GB" sz="4400" dirty="0"/>
              <a:t>(or highlight) </a:t>
            </a:r>
            <a:r>
              <a:rPr lang="en-GB" sz="4400" kern="1200" dirty="0">
                <a:solidFill>
                  <a:schemeClr val="tx1"/>
                </a:solidFill>
                <a:effectLst/>
                <a:latin typeface="+mn-lt"/>
                <a:ea typeface="+mn-ea"/>
                <a:cs typeface="+mn-cs"/>
              </a:rPr>
              <a:t>what would life be like if you wake up tomorrow and:</a:t>
            </a:r>
            <a:endParaRPr lang="en-GB" sz="4400" kern="1200" dirty="0">
              <a:solidFill>
                <a:schemeClr val="tx1"/>
              </a:solidFill>
              <a:effectLst/>
              <a:latin typeface="+mn-lt"/>
              <a:ea typeface="Calibri"/>
              <a:cs typeface="Calibri"/>
            </a:endParaRPr>
          </a:p>
          <a:p>
            <a:pPr lvl="0"/>
            <a:r>
              <a:rPr lang="en-GB" sz="4400" b="1" kern="1200" dirty="0">
                <a:solidFill>
                  <a:schemeClr val="tx1"/>
                </a:solidFill>
                <a:effectLst/>
                <a:latin typeface="+mn-lt"/>
                <a:ea typeface="+mn-ea"/>
                <a:cs typeface="+mn-cs"/>
              </a:rPr>
              <a:t>There is No electricity? </a:t>
            </a:r>
            <a:r>
              <a:rPr lang="en-GB" sz="4400" kern="1200" dirty="0">
                <a:solidFill>
                  <a:schemeClr val="tx1"/>
                </a:solidFill>
                <a:effectLst/>
                <a:latin typeface="+mn-lt"/>
                <a:ea typeface="+mn-ea"/>
                <a:cs typeface="+mn-cs"/>
              </a:rPr>
              <a:t>→ No heating, no lights, no charging your phone, food in freezers spoiling</a:t>
            </a:r>
            <a:endParaRPr lang="en-GB" sz="4400" kern="1200" dirty="0">
              <a:solidFill>
                <a:schemeClr val="tx1"/>
              </a:solidFill>
              <a:effectLst/>
              <a:latin typeface="+mn-lt"/>
              <a:ea typeface="Calibri"/>
              <a:cs typeface="Calibri"/>
            </a:endParaRPr>
          </a:p>
          <a:p>
            <a:pPr lvl="0"/>
            <a:r>
              <a:rPr lang="en-GB" sz="4400" b="1" kern="1200" dirty="0">
                <a:solidFill>
                  <a:schemeClr val="tx1"/>
                </a:solidFill>
                <a:effectLst/>
                <a:latin typeface="+mn-lt"/>
                <a:ea typeface="+mn-ea"/>
                <a:cs typeface="+mn-cs"/>
              </a:rPr>
              <a:t>No water?</a:t>
            </a:r>
            <a:r>
              <a:rPr lang="en-GB" sz="4400" kern="1200" dirty="0">
                <a:solidFill>
                  <a:schemeClr val="tx1"/>
                </a:solidFill>
                <a:effectLst/>
                <a:latin typeface="+mn-lt"/>
                <a:ea typeface="+mn-ea"/>
                <a:cs typeface="+mn-cs"/>
              </a:rPr>
              <a:t> → Taps run dry, toilets don't flush, hospitals can't operate</a:t>
            </a:r>
            <a:endParaRPr lang="en-GB" sz="4400" kern="1200" dirty="0">
              <a:solidFill>
                <a:schemeClr val="tx1"/>
              </a:solidFill>
              <a:effectLst/>
              <a:latin typeface="+mn-lt"/>
              <a:ea typeface="Calibri"/>
              <a:cs typeface="Calibri"/>
            </a:endParaRPr>
          </a:p>
          <a:p>
            <a:pPr lvl="0"/>
            <a:r>
              <a:rPr lang="en-GB" sz="4400" b="1" kern="1200" dirty="0">
                <a:solidFill>
                  <a:schemeClr val="tx1"/>
                </a:solidFill>
                <a:effectLst/>
                <a:latin typeface="+mn-lt"/>
                <a:ea typeface="+mn-ea"/>
                <a:cs typeface="+mn-cs"/>
              </a:rPr>
              <a:t>No internet/mobile?</a:t>
            </a:r>
            <a:r>
              <a:rPr lang="en-GB" sz="4400" kern="1200" dirty="0">
                <a:solidFill>
                  <a:schemeClr val="tx1"/>
                </a:solidFill>
                <a:effectLst/>
                <a:latin typeface="+mn-lt"/>
                <a:ea typeface="+mn-ea"/>
                <a:cs typeface="+mn-cs"/>
              </a:rPr>
              <a:t> → Can't contact anyone, no online banking, no GPS, businesses halt</a:t>
            </a:r>
            <a:endParaRPr lang="en-GB" sz="4400" kern="1200" dirty="0">
              <a:solidFill>
                <a:schemeClr val="tx1"/>
              </a:solidFill>
              <a:effectLst/>
              <a:latin typeface="+mn-lt"/>
              <a:ea typeface="Calibri"/>
              <a:cs typeface="Calibri"/>
            </a:endParaRPr>
          </a:p>
          <a:p>
            <a:pPr lvl="0"/>
            <a:r>
              <a:rPr lang="en-GB" sz="4400" b="1" kern="1200" dirty="0">
                <a:solidFill>
                  <a:schemeClr val="tx1"/>
                </a:solidFill>
                <a:effectLst/>
                <a:latin typeface="+mn-lt"/>
                <a:ea typeface="+mn-ea"/>
                <a:cs typeface="+mn-cs"/>
              </a:rPr>
              <a:t>No transport?</a:t>
            </a:r>
            <a:r>
              <a:rPr lang="en-GB" sz="4400" kern="1200" dirty="0">
                <a:solidFill>
                  <a:schemeClr val="tx1"/>
                </a:solidFill>
                <a:effectLst/>
                <a:latin typeface="+mn-lt"/>
                <a:ea typeface="+mn-ea"/>
                <a:cs typeface="+mn-cs"/>
              </a:rPr>
              <a:t> → Food doesn't reach supermarkets, you can't get to school/work</a:t>
            </a:r>
            <a:endParaRPr lang="en-GB" sz="4400" kern="1200" dirty="0">
              <a:solidFill>
                <a:schemeClr val="tx1"/>
              </a:solidFill>
              <a:effectLst/>
              <a:latin typeface="+mn-lt"/>
              <a:ea typeface="Calibri"/>
              <a:cs typeface="Calibri"/>
            </a:endParaRPr>
          </a:p>
          <a:p>
            <a:pPr lvl="0"/>
            <a:r>
              <a:rPr lang="en-GB" sz="4400" b="1" kern="1200" dirty="0">
                <a:solidFill>
                  <a:schemeClr val="tx1"/>
                </a:solidFill>
                <a:effectLst/>
                <a:latin typeface="+mn-lt"/>
                <a:ea typeface="+mn-ea"/>
                <a:cs typeface="+mn-cs"/>
              </a:rPr>
              <a:t>No financial systems?</a:t>
            </a:r>
            <a:r>
              <a:rPr lang="en-GB" sz="4400" kern="1200" dirty="0">
                <a:solidFill>
                  <a:schemeClr val="tx1"/>
                </a:solidFill>
                <a:effectLst/>
                <a:latin typeface="+mn-lt"/>
                <a:ea typeface="+mn-ea"/>
                <a:cs typeface="+mn-cs"/>
              </a:rPr>
              <a:t> → Can't withdraw cash, cards don't work, economy freezes</a:t>
            </a:r>
            <a:endParaRPr lang="en-GB" sz="4400" kern="1200" dirty="0">
              <a:solidFill>
                <a:schemeClr val="tx1"/>
              </a:solidFill>
              <a:effectLst/>
              <a:latin typeface="+mn-lt"/>
              <a:ea typeface="Calibri"/>
              <a:cs typeface="Calibri"/>
            </a:endParaRPr>
          </a:p>
          <a:p>
            <a:endParaRPr lang="en-GB" sz="4400" dirty="0">
              <a:solidFill>
                <a:srgbClr val="000000"/>
              </a:solidFill>
              <a:ea typeface="Calibri"/>
              <a:cs typeface="Calibri"/>
            </a:endParaRPr>
          </a:p>
          <a:p>
            <a:endParaRPr lang="en-GB" sz="4400" dirty="0">
              <a:solidFill>
                <a:srgbClr val="000000"/>
              </a:solidFill>
              <a:ea typeface="Calibri"/>
              <a:cs typeface="Calibri"/>
            </a:endParaRPr>
          </a:p>
          <a:p>
            <a:r>
              <a:rPr lang="en-GB" sz="4300" dirty="0"/>
              <a:t>These areas are so embedded into the fabric of our day-to-day and cover so many entities that it relies on the public services and govt management to coordinate and monitor for abnormalities. </a:t>
            </a:r>
            <a:endParaRPr lang="en-GB" sz="4300" dirty="0">
              <a:solidFill>
                <a:srgbClr val="000000"/>
              </a:solidFill>
              <a:ea typeface="Calibri"/>
              <a:cs typeface="Calibri"/>
            </a:endParaRPr>
          </a:p>
          <a:p>
            <a:r>
              <a:rPr lang="en-GB" sz="4300" dirty="0">
                <a:ea typeface="Calibri"/>
                <a:cs typeface="Calibri"/>
              </a:rPr>
              <a:t>The interconnected nature of our world might improve efficiency generally, but means there will be serious failure points that have to be kept secure.</a:t>
            </a:r>
          </a:p>
          <a:p>
            <a:r>
              <a:rPr lang="en-GB" sz="4300" dirty="0">
                <a:ea typeface="Calibri"/>
                <a:cs typeface="Calibri"/>
              </a:rPr>
              <a:t>A problem might occur, but it might affect multiple companies directly, which then has knock-on effects to others and because we're so used to these systems functioning as they should, any issues can rapidly create widespread damage. </a:t>
            </a:r>
            <a:endParaRPr lang="en-GB" sz="4300" dirty="0">
              <a:solidFill>
                <a:srgbClr val="000000"/>
              </a:solidFill>
              <a:ea typeface="Calibri"/>
              <a:cs typeface="Calibri"/>
            </a:endParaRPr>
          </a:p>
          <a:p>
            <a:endParaRPr lang="en-GB" sz="4300" b="1" dirty="0">
              <a:ea typeface="Calibri"/>
              <a:cs typeface="Calibri"/>
            </a:endParaRPr>
          </a:p>
          <a:p>
            <a:r>
              <a:rPr lang="en-GB" sz="4300" dirty="0">
                <a:solidFill>
                  <a:srgbClr val="000000"/>
                </a:solidFill>
                <a:latin typeface="Calibri"/>
                <a:ea typeface="Calibri"/>
                <a:cs typeface="Calibri"/>
              </a:rPr>
              <a:t>Examples on the next slide</a:t>
            </a:r>
          </a:p>
          <a:p>
            <a:endParaRPr lang="en-GB" b="1" dirty="0">
              <a:solidFill>
                <a:srgbClr val="333333"/>
              </a:solidFill>
              <a:latin typeface="Merriweather" panose="00000500000000000000" pitchFamily="2" charset="0"/>
              <a:ea typeface="Calibri"/>
              <a:cs typeface="Calibri"/>
            </a:endParaRPr>
          </a:p>
          <a:p>
            <a:endParaRPr lang="en-GB" b="1" dirty="0">
              <a:ea typeface="Calibri"/>
              <a:cs typeface="Calibri"/>
            </a:endParaRPr>
          </a:p>
          <a:p>
            <a:pPr marL="571500" indent="-571500">
              <a:buFontTx/>
              <a:buChar char="-"/>
            </a:pPr>
            <a:endParaRPr lang="en-GB" b="1" dirty="0">
              <a:ea typeface="Calibri"/>
              <a:cs typeface="Calibri"/>
            </a:endParaRPr>
          </a:p>
        </p:txBody>
      </p:sp>
      <p:sp>
        <p:nvSpPr>
          <p:cNvPr id="4" name="Slide Number Placeholder 3">
            <a:extLst>
              <a:ext uri="{FF2B5EF4-FFF2-40B4-BE49-F238E27FC236}">
                <a16:creationId xmlns:a16="http://schemas.microsoft.com/office/drawing/2014/main" id="{BAFC7799-113F-E9D8-43B6-31663FAE8282}"/>
              </a:ext>
            </a:extLst>
          </p:cNvPr>
          <p:cNvSpPr>
            <a:spLocks noGrp="1"/>
          </p:cNvSpPr>
          <p:nvPr>
            <p:ph type="sldNum" sz="quarter" idx="5"/>
          </p:nvPr>
        </p:nvSpPr>
        <p:spPr/>
        <p:txBody>
          <a:bodyPr/>
          <a:lstStyle/>
          <a:p>
            <a:pPr>
              <a:defRPr/>
            </a:pPr>
            <a:fld id="{B20FE0A2-34EE-413D-B87D-BE548BE2D9D5}" type="slidenum">
              <a:rPr lang="en-GB" altLang="en-US" smtClean="0"/>
              <a:pPr>
                <a:defRPr/>
              </a:pPr>
              <a:t>8</a:t>
            </a:fld>
            <a:endParaRPr lang="en-GB" altLang="en-US"/>
          </a:p>
        </p:txBody>
      </p:sp>
    </p:spTree>
    <p:extLst>
      <p:ext uri="{BB962C8B-B14F-4D97-AF65-F5344CB8AC3E}">
        <p14:creationId xmlns:p14="http://schemas.microsoft.com/office/powerpoint/2010/main" val="488667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300" b="1" u="sng"/>
              <a:t>Host:  </a:t>
            </a:r>
            <a:endParaRPr lang="en-US" dirty="0"/>
          </a:p>
          <a:p>
            <a:r>
              <a:rPr lang="en-GB" sz="4300" dirty="0"/>
              <a:t>You may recognise some of these recent incidents having a large effect on your own day-to-day life</a:t>
            </a:r>
            <a:endParaRPr lang="en-GB" dirty="0"/>
          </a:p>
          <a:p>
            <a:endParaRPr lang="en-GB" sz="4300" dirty="0">
              <a:ea typeface="Calibri"/>
              <a:cs typeface="Calibri"/>
            </a:endParaRPr>
          </a:p>
          <a:p>
            <a:r>
              <a:rPr lang="en-GB" sz="4300" dirty="0">
                <a:ea typeface="Calibri"/>
                <a:cs typeface="Calibri"/>
              </a:rPr>
              <a:t>(summarise if there's not enough time to go through them and focus on the Turing's mission at the end)</a:t>
            </a:r>
            <a:endParaRPr lang="en-GB" sz="4300" dirty="0"/>
          </a:p>
          <a:p>
            <a:endParaRPr lang="en-GB" dirty="0">
              <a:solidFill>
                <a:srgbClr val="444444"/>
              </a:solidFill>
            </a:endParaRPr>
          </a:p>
          <a:p>
            <a:endParaRPr lang="en-GB" dirty="0">
              <a:solidFill>
                <a:srgbClr val="444444"/>
              </a:solidFill>
            </a:endParaRPr>
          </a:p>
          <a:p>
            <a:r>
              <a:rPr lang="en-GB" sz="4300" b="1" dirty="0"/>
              <a:t>1. NHS </a:t>
            </a:r>
            <a:r>
              <a:rPr lang="en-GB" sz="4300" b="1" dirty="0" err="1"/>
              <a:t>Synnovis</a:t>
            </a:r>
            <a:r>
              <a:rPr lang="en-GB" sz="4300" b="1" dirty="0"/>
              <a:t> Ransomware Attack (June 2024)</a:t>
            </a:r>
            <a:endParaRPr lang="en-GB" sz="4300" dirty="0">
              <a:solidFill>
                <a:srgbClr val="444444"/>
              </a:solidFill>
              <a:ea typeface="Calibri"/>
              <a:cs typeface="Calibri"/>
            </a:endParaRPr>
          </a:p>
          <a:p>
            <a:r>
              <a:rPr lang="en-GB" sz="4300" dirty="0"/>
              <a:t>On June 3, 2024, </a:t>
            </a:r>
            <a:r>
              <a:rPr lang="en-GB" sz="4300" dirty="0" err="1"/>
              <a:t>Synnovis</a:t>
            </a:r>
            <a:r>
              <a:rPr lang="en-GB" sz="4300" dirty="0"/>
              <a:t>, a pathology laboratory processing blood tests for NHS organizations in south-east London, suffered a ransomware attack( </a:t>
            </a:r>
            <a:r>
              <a:rPr lang="en-GB" sz="4300" dirty="0">
                <a:solidFill>
                  <a:srgbClr val="444444"/>
                </a:solidFill>
                <a:hlinkClick r:id="rId3"/>
              </a:rPr>
              <a:t>NHS England</a:t>
            </a:r>
            <a:r>
              <a:rPr lang="en-GB" sz="4300" dirty="0"/>
              <a:t>.)</a:t>
            </a:r>
            <a:endParaRPr lang="en-GB" sz="4300" dirty="0">
              <a:solidFill>
                <a:srgbClr val="444444"/>
              </a:solidFill>
            </a:endParaRPr>
          </a:p>
          <a:p>
            <a:endParaRPr lang="en-GB" sz="4300" dirty="0"/>
          </a:p>
          <a:p>
            <a:r>
              <a:rPr lang="en-GB" sz="4300" b="1" dirty="0"/>
              <a:t>Impact:</a:t>
            </a:r>
            <a:endParaRPr lang="en-GB" sz="4300" dirty="0">
              <a:solidFill>
                <a:srgbClr val="444444"/>
              </a:solidFill>
            </a:endParaRPr>
          </a:p>
          <a:p>
            <a:pPr marL="285750" indent="-285750">
              <a:buFont typeface="Arial"/>
              <a:buChar char="•"/>
            </a:pPr>
            <a:r>
              <a:rPr lang="en-GB" sz="4300" dirty="0">
                <a:ea typeface="Calibri"/>
                <a:cs typeface="Calibri"/>
              </a:rPr>
              <a:t>Widespread interruptions to pathology services with delays to over 11,000 outpatient and elective appointments</a:t>
            </a:r>
            <a:endParaRPr lang="en-GB" sz="4300" dirty="0">
              <a:solidFill>
                <a:srgbClr val="444444"/>
              </a:solidFill>
              <a:ea typeface="Calibri"/>
              <a:cs typeface="Calibri"/>
            </a:endParaRPr>
          </a:p>
          <a:p>
            <a:pPr marL="1938020" lvl="1" indent="-285750">
              <a:buFont typeface="Courier New"/>
              <a:buChar char="o"/>
            </a:pPr>
            <a:r>
              <a:rPr lang="en-GB" sz="4300" dirty="0">
                <a:ea typeface="Calibri"/>
                <a:cs typeface="Calibri"/>
              </a:rPr>
              <a:t>In</a:t>
            </a:r>
            <a:r>
              <a:rPr lang="en-GB" sz="4300" dirty="0"/>
              <a:t> just the first week, over 800 planned operations and 700 outpatient appointments had to be rearranged at two NHS trusts </a:t>
            </a:r>
            <a:r>
              <a:rPr lang="en-GB" sz="4300" dirty="0">
                <a:solidFill>
                  <a:srgbClr val="444444"/>
                </a:solidFill>
                <a:hlinkClick r:id="rId4"/>
              </a:rPr>
              <a:t>NHS England</a:t>
            </a:r>
            <a:endParaRPr lang="en-GB" sz="4300" dirty="0">
              <a:solidFill>
                <a:srgbClr val="444444"/>
              </a:solidFill>
              <a:ea typeface="Calibri"/>
              <a:cs typeface="Calibri"/>
            </a:endParaRPr>
          </a:p>
          <a:p>
            <a:pPr marL="1938020" lvl="1" indent="-285750">
              <a:buFont typeface="Courier New"/>
              <a:buChar char="o"/>
            </a:pPr>
            <a:r>
              <a:rPr lang="en-GB" sz="4300" dirty="0"/>
              <a:t>Blood testing operated at only 10% of normal capacity </a:t>
            </a:r>
            <a:r>
              <a:rPr lang="en-GB" sz="4300" dirty="0">
                <a:solidFill>
                  <a:srgbClr val="444444"/>
                </a:solidFill>
                <a:hlinkClick r:id="rId5"/>
              </a:rPr>
              <a:t>HIPAA Journal</a:t>
            </a:r>
            <a:endParaRPr lang="en-GB" sz="4300" dirty="0">
              <a:solidFill>
                <a:srgbClr val="444444"/>
              </a:solidFill>
              <a:ea typeface="Calibri"/>
              <a:cs typeface="Calibri"/>
            </a:endParaRPr>
          </a:p>
          <a:p>
            <a:pPr marL="285750" indent="-285750">
              <a:buFont typeface="Arial"/>
              <a:buChar char="•"/>
            </a:pPr>
            <a:r>
              <a:rPr lang="en-GB" sz="4300" dirty="0"/>
              <a:t>NHS had to urgently call for O Negative and O Positive blood donations because they couldn't do blood-matching tests </a:t>
            </a:r>
            <a:r>
              <a:rPr lang="en-GB" sz="4300" dirty="0">
                <a:solidFill>
                  <a:srgbClr val="444444"/>
                </a:solidFill>
                <a:hlinkClick r:id="rId5"/>
              </a:rPr>
              <a:t>HIPAA Journal</a:t>
            </a:r>
            <a:endParaRPr lang="en-GB" sz="4300" dirty="0">
              <a:solidFill>
                <a:srgbClr val="444444"/>
              </a:solidFill>
              <a:ea typeface="Calibri"/>
              <a:cs typeface="Calibri"/>
            </a:endParaRPr>
          </a:p>
          <a:p>
            <a:pPr marL="285750" indent="-285750">
              <a:buFont typeface="Arial"/>
              <a:buChar char="•"/>
            </a:pPr>
            <a:r>
              <a:rPr lang="en-GB" sz="4300" dirty="0"/>
              <a:t>The attack cost </a:t>
            </a:r>
            <a:r>
              <a:rPr lang="en-GB" sz="4300" dirty="0" err="1"/>
              <a:t>Synnovis</a:t>
            </a:r>
            <a:r>
              <a:rPr lang="en-GB" sz="4300" dirty="0"/>
              <a:t> £32.7 million and recovery took over 16 months </a:t>
            </a:r>
            <a:r>
              <a:rPr lang="en-GB" sz="4300" dirty="0" err="1">
                <a:solidFill>
                  <a:srgbClr val="444444"/>
                </a:solidFill>
                <a:hlinkClick r:id="rId6"/>
              </a:rPr>
              <a:t>PublicTechnology</a:t>
            </a:r>
            <a:endParaRPr lang="en-GB" sz="4300" dirty="0">
              <a:solidFill>
                <a:srgbClr val="444444"/>
              </a:solidFill>
              <a:ea typeface="Calibri"/>
              <a:cs typeface="Calibri"/>
            </a:endParaRPr>
          </a:p>
          <a:p>
            <a:pPr marL="285750" indent="-285750">
              <a:buFont typeface="Arial"/>
              <a:buChar char="•"/>
            </a:pPr>
            <a:endParaRPr lang="en-GB" dirty="0">
              <a:solidFill>
                <a:srgbClr val="444444"/>
              </a:solidFill>
              <a:ea typeface="Calibri"/>
              <a:cs typeface="Calibri"/>
            </a:endParaRPr>
          </a:p>
          <a:p>
            <a:r>
              <a:rPr lang="en-GB" sz="4300" b="1" dirty="0"/>
              <a:t>Conclusion:</a:t>
            </a:r>
            <a:endParaRPr lang="en-GB" sz="4300" dirty="0"/>
          </a:p>
          <a:p>
            <a:r>
              <a:rPr lang="en-GB" sz="4300" dirty="0"/>
              <a:t>Highlights the vulnerability of critical healthcare infrastructure to cyberattacks and the cascading effects such breaches can have on patient care.</a:t>
            </a:r>
            <a:endParaRPr lang="en-GB" sz="4300" dirty="0">
              <a:ea typeface="Calibri"/>
              <a:cs typeface="Calibri"/>
            </a:endParaRPr>
          </a:p>
          <a:p>
            <a:endParaRPr lang="en-GB" sz="4300" dirty="0">
              <a:ea typeface="Calibri"/>
              <a:cs typeface="Calibri"/>
            </a:endParaRPr>
          </a:p>
          <a:p>
            <a:r>
              <a:rPr lang="en-GB" sz="4300" b="1" dirty="0">
                <a:ea typeface="Calibri"/>
                <a:cs typeface="Calibri"/>
              </a:rPr>
              <a:t>2. Cyber attacks on UK retailers and brands (April - September 2025)</a:t>
            </a:r>
          </a:p>
          <a:p>
            <a:endParaRPr lang="en-GB" sz="4300" b="1" dirty="0">
              <a:ea typeface="Calibri"/>
              <a:cs typeface="Calibri"/>
            </a:endParaRPr>
          </a:p>
          <a:p>
            <a:r>
              <a:rPr lang="en-GB" sz="4300" dirty="0"/>
              <a:t>Between April and September 2025, major UK retailers and brands suffered a series of devastating cyber attacks. </a:t>
            </a:r>
          </a:p>
          <a:p>
            <a:r>
              <a:rPr lang="en-GB" sz="4300" b="1" dirty="0">
                <a:ea typeface="Calibri"/>
                <a:cs typeface="Calibri"/>
              </a:rPr>
              <a:t>Impact:</a:t>
            </a:r>
            <a:endParaRPr lang="en-GB" dirty="0"/>
          </a:p>
          <a:p>
            <a:pPr marL="285750" indent="-285750">
              <a:buFont typeface="Arial"/>
              <a:buChar char="•"/>
            </a:pPr>
            <a:r>
              <a:rPr lang="en-GB" sz="4300" dirty="0"/>
              <a:t>Over 10 days in April and early May, Marks and Spencer, the Co-operative Group, and Harrods were hit by attacks affecting ecommerce and payment processing, with H&amp;M also experiencing an IT outage in June that took down in-store payment systems. </a:t>
            </a:r>
            <a:endParaRPr lang="en-GB" sz="4300" dirty="0">
              <a:ea typeface="Calibri"/>
              <a:cs typeface="Calibri"/>
            </a:endParaRPr>
          </a:p>
          <a:p>
            <a:pPr marL="285750" indent="-285750">
              <a:buFont typeface="Arial"/>
              <a:buChar char="•"/>
            </a:pPr>
            <a:r>
              <a:rPr lang="en-GB" sz="4300" dirty="0"/>
              <a:t>Jaguar Land Rover faced a major cyber incident in September causing supply chain disruptions,</a:t>
            </a:r>
            <a:endParaRPr lang="en-GB" sz="4300" dirty="0">
              <a:ea typeface="Calibri"/>
              <a:cs typeface="Calibri"/>
            </a:endParaRPr>
          </a:p>
          <a:p>
            <a:pPr marL="285750" indent="-285750">
              <a:buFont typeface="Arial"/>
              <a:buChar char="•"/>
            </a:pPr>
            <a:r>
              <a:rPr lang="en-GB" sz="4300" dirty="0"/>
              <a:t>Heathrow travellers experienced delays from an attack on a supplier later that month.</a:t>
            </a:r>
            <a:endParaRPr lang="en-GB" sz="4300" dirty="0">
              <a:ea typeface="Calibri"/>
              <a:cs typeface="Calibri"/>
            </a:endParaRPr>
          </a:p>
          <a:p>
            <a:r>
              <a:rPr lang="en-GB" sz="4300" b="1" dirty="0"/>
              <a:t>Conclusion:</a:t>
            </a:r>
            <a:endParaRPr lang="en-GB" sz="4300" dirty="0"/>
          </a:p>
          <a:p>
            <a:r>
              <a:rPr lang="en-GB" sz="4300" dirty="0"/>
              <a:t>This is a wide-range of domains and consequences impacting the day to day life and the wider economy.</a:t>
            </a:r>
            <a:endParaRPr lang="en-GB" sz="4300" dirty="0">
              <a:ea typeface="Calibri"/>
              <a:cs typeface="Calibri"/>
            </a:endParaRPr>
          </a:p>
          <a:p>
            <a:r>
              <a:rPr lang="en-GB" sz="4300" dirty="0"/>
              <a:t>The financial toll is severe—research shows companies can lose up to £73 million per minute in the first 10 minutes when payment systems go offline.</a:t>
            </a:r>
          </a:p>
          <a:p>
            <a:endParaRPr lang="en-GB" sz="4300" dirty="0">
              <a:ea typeface="Calibri"/>
              <a:cs typeface="Calibri"/>
            </a:endParaRPr>
          </a:p>
          <a:p>
            <a:endParaRPr lang="en-GB" sz="4300" dirty="0">
              <a:ea typeface="Calibri"/>
              <a:cs typeface="Calibri"/>
            </a:endParaRPr>
          </a:p>
          <a:p>
            <a:r>
              <a:rPr lang="en-GB" sz="4300" b="1" dirty="0">
                <a:ea typeface="Calibri"/>
                <a:cs typeface="Calibri"/>
              </a:rPr>
              <a:t>Turing mission:</a:t>
            </a:r>
          </a:p>
          <a:p>
            <a:pPr marL="285750" indent="-285750">
              <a:buFont typeface="Arial"/>
              <a:buChar char="•"/>
            </a:pPr>
            <a:r>
              <a:rPr lang="en-GB" sz="4300" dirty="0">
                <a:ea typeface="Calibri"/>
                <a:cs typeface="Calibri"/>
              </a:rPr>
              <a:t>CNI threat response is something the Turing is very involved in </a:t>
            </a:r>
          </a:p>
          <a:p>
            <a:pPr marL="285750" indent="-285750">
              <a:buFont typeface="Arial,Sans-Serif"/>
              <a:buChar char="•"/>
            </a:pPr>
            <a:r>
              <a:rPr lang="en-GB" dirty="0"/>
              <a:t>A core ambition of the Turing's CNI mission is to shift the balance of power towards defenders. </a:t>
            </a:r>
            <a:endParaRPr lang="en-US" dirty="0">
              <a:solidFill>
                <a:srgbClr val="444444"/>
              </a:solidFill>
            </a:endParaRPr>
          </a:p>
          <a:p>
            <a:pPr marL="285750" indent="-285750">
              <a:buFont typeface="Arial,Sans-Serif"/>
              <a:buChar char="•"/>
            </a:pPr>
            <a:r>
              <a:rPr lang="en-GB" sz="4300" dirty="0"/>
              <a:t>Instead of reactive fixes, the shift is to build systems that anticipate and absorb attacks.</a:t>
            </a:r>
            <a:endParaRPr lang="en-GB" sz="4300" dirty="0">
              <a:solidFill>
                <a:srgbClr val="444444"/>
              </a:solidFill>
            </a:endParaRPr>
          </a:p>
          <a:p>
            <a:pPr marL="1938020" lvl="1" indent="-285750">
              <a:buFont typeface="Courier New"/>
              <a:buChar char="o"/>
            </a:pPr>
            <a:r>
              <a:rPr lang="en-GB" sz="4300" dirty="0">
                <a:ea typeface="Calibri"/>
                <a:cs typeface="Calibri"/>
              </a:rPr>
              <a:t>Threats to UK infrastructure are growing in </a:t>
            </a:r>
            <a:r>
              <a:rPr lang="en-GB" sz="4300" b="0" i="0" kern="1200" dirty="0">
                <a:solidFill>
                  <a:schemeClr val="tx1"/>
                </a:solidFill>
                <a:effectLst/>
                <a:latin typeface="+mn-lt"/>
                <a:ea typeface="+mn-ea"/>
                <a:cs typeface="+mn-cs"/>
              </a:rPr>
              <a:t>scale and complexity, </a:t>
            </a:r>
            <a:r>
              <a:rPr lang="en-GB" sz="4300" dirty="0"/>
              <a:t>which means responses have to as well. </a:t>
            </a:r>
            <a:endParaRPr lang="en-GB" sz="4300" dirty="0">
              <a:ea typeface="Calibri"/>
              <a:cs typeface="+mn-lt"/>
            </a:endParaRPr>
          </a:p>
          <a:p>
            <a:pPr marL="285750" indent="-285750">
              <a:buFont typeface="Arial"/>
              <a:buChar char="•"/>
            </a:pPr>
            <a:endParaRPr lang="en-GB" sz="4300" dirty="0">
              <a:ea typeface="Calibri"/>
              <a:cs typeface="Calibri"/>
            </a:endParaRPr>
          </a:p>
          <a:p>
            <a:pPr marL="285750" indent="-285750">
              <a:buFont typeface="Arial"/>
              <a:buChar char="•"/>
            </a:pPr>
            <a:r>
              <a:rPr lang="en-GB" sz="4300" dirty="0"/>
              <a:t>The Turing is collaborating with its partners in the hopes of providing a new baseline for national cyber resilience.</a:t>
            </a:r>
            <a:endParaRPr lang="en-GB" dirty="0"/>
          </a:p>
          <a:p>
            <a:pPr marL="1938020" lvl="1" indent="-285750">
              <a:buFont typeface="Courier New"/>
              <a:buChar char="o"/>
            </a:pPr>
            <a:r>
              <a:rPr lang="en-GB" sz="4300" dirty="0"/>
              <a:t>This is to help ensure the systems we all depend on remain safe, stable, and secure. </a:t>
            </a:r>
            <a:endParaRPr lang="en-GB" sz="4300" dirty="0">
              <a:ea typeface="Calibri"/>
              <a:cs typeface="Calibri"/>
            </a:endParaRPr>
          </a:p>
          <a:p>
            <a:pPr marL="285750" indent="-285750">
              <a:buFont typeface="Arial"/>
              <a:buChar char="•"/>
            </a:pPr>
            <a:r>
              <a:rPr lang="en-GB" sz="4300" dirty="0"/>
              <a:t>The aim is to design intelligent and flexible tools that can be deployed in the most fragile and sensitive environments. </a:t>
            </a:r>
          </a:p>
          <a:p>
            <a:pPr marL="285750" indent="-285750">
              <a:buFont typeface="Arial"/>
              <a:buChar char="•"/>
            </a:pPr>
            <a:r>
              <a:rPr lang="en-GB" sz="4300" dirty="0"/>
              <a:t>The Turing is bringing together a diverse range of stakeholders: researchers, govt bodies, infrastructure operators, and industry partners to try and create a shared space for experimentation and rapid learning. </a:t>
            </a:r>
            <a:endParaRPr lang="en-GB" sz="4300" dirty="0">
              <a:ea typeface="Calibri"/>
              <a:cs typeface="Calibri"/>
            </a:endParaRPr>
          </a:p>
          <a:p>
            <a:endParaRPr lang="en-GB" sz="4300" dirty="0">
              <a:ea typeface="Calibri"/>
              <a:cs typeface="Calibri"/>
            </a:endParaRPr>
          </a:p>
          <a:p>
            <a:r>
              <a:rPr lang="en-GB" sz="4300" dirty="0">
                <a:ea typeface="Calibri"/>
                <a:cs typeface="Calibri"/>
              </a:rPr>
              <a:t>------------------</a:t>
            </a:r>
            <a:endParaRPr lang="en-GB" sz="4300" dirty="0"/>
          </a:p>
          <a:p>
            <a:endParaRPr lang="en-GB" sz="4300" dirty="0"/>
          </a:p>
          <a:p>
            <a:r>
              <a:rPr lang="en-GB" sz="4300" dirty="0"/>
              <a:t> </a:t>
            </a:r>
            <a:r>
              <a:rPr lang="en-GB" sz="4300" b="0" i="0" kern="1200" dirty="0">
                <a:solidFill>
                  <a:schemeClr val="tx1"/>
                </a:solidFill>
                <a:effectLst/>
                <a:latin typeface="+mn-lt"/>
                <a:ea typeface="+mn-ea"/>
                <a:cs typeface="+mn-cs"/>
              </a:rPr>
              <a:t>– much like a biological immune system detects, isolates and neutralises infections. </a:t>
            </a:r>
            <a:endParaRPr lang="en-GB" sz="4300" b="0" i="0" kern="1200" dirty="0">
              <a:solidFill>
                <a:schemeClr val="tx1"/>
              </a:solidFill>
              <a:effectLst/>
              <a:latin typeface="+mn-lt"/>
              <a:ea typeface="Calibri"/>
              <a:cs typeface="Calibri"/>
            </a:endParaRPr>
          </a:p>
          <a:p>
            <a:r>
              <a:rPr lang="en-GB" sz="4300" dirty="0">
                <a:hlinkClick r:id="rId7"/>
              </a:rPr>
              <a:t>The UK’s critical infrastructure is at risk from cyber-attacks. Our AI tools will provide a new line of defence | The Alan Turing Institute</a:t>
            </a:r>
            <a:endParaRPr lang="en-GB" sz="4300" b="0" i="0" kern="1200" dirty="0">
              <a:solidFill>
                <a:schemeClr val="tx1"/>
              </a:solidFill>
              <a:effectLst/>
              <a:latin typeface="+mn-lt"/>
              <a:ea typeface="+mn-ea"/>
              <a:cs typeface="+mn-cs"/>
            </a:endParaRPr>
          </a:p>
          <a:p>
            <a:r>
              <a:rPr lang="en-GB" sz="4300" dirty="0"/>
              <a:t>   </a:t>
            </a:r>
            <a:endParaRPr lang="en-GB" sz="4300" b="1" i="0" dirty="0">
              <a:solidFill>
                <a:srgbClr val="333333"/>
              </a:solidFill>
              <a:effectLst/>
              <a:latin typeface="Merriweather" panose="00000500000000000000" pitchFamily="2" charset="0"/>
            </a:endParaRPr>
          </a:p>
          <a:p>
            <a:pPr marL="571500" indent="-571500">
              <a:buFont typeface="Arial"/>
              <a:buChar char="•"/>
            </a:pPr>
            <a:endParaRPr lang="en-GB" b="1" dirty="0">
              <a:ea typeface="Calibri"/>
              <a:cs typeface="Calibri"/>
            </a:endParaRPr>
          </a:p>
          <a:p>
            <a:pPr marL="571500" indent="-571500">
              <a:buFont typeface="Arial"/>
              <a:buChar char="•"/>
            </a:pPr>
            <a:endParaRPr lang="en-GB" b="1" dirty="0">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9</a:t>
            </a:fld>
            <a:endParaRPr lang="en-GB" altLang="en-US"/>
          </a:p>
        </p:txBody>
      </p:sp>
    </p:spTree>
    <p:extLst>
      <p:ext uri="{BB962C8B-B14F-4D97-AF65-F5344CB8AC3E}">
        <p14:creationId xmlns:p14="http://schemas.microsoft.com/office/powerpoint/2010/main" val="2268997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a:t>Host:</a:t>
            </a:r>
          </a:p>
          <a:p>
            <a:pPr>
              <a:lnSpc>
                <a:spcPct val="107000"/>
              </a:lnSpc>
              <a:spcAft>
                <a:spcPts val="800"/>
              </a:spcAft>
            </a:pPr>
            <a:r>
              <a:rPr lang="en-GB" sz="1800" i="1" kern="100">
                <a:effectLst/>
                <a:latin typeface="Calibri Light"/>
                <a:ea typeface="Calibri"/>
                <a:cs typeface="Calibri Light"/>
              </a:rPr>
              <a:t>Read the slide </a:t>
            </a:r>
            <a:r>
              <a:rPr lang="en-GB" sz="1800" i="1" kern="100">
                <a:latin typeface="Calibri Light"/>
                <a:ea typeface="Calibri"/>
                <a:cs typeface="Calibri Light"/>
              </a:rPr>
              <a:t>(if there is time)</a:t>
            </a:r>
            <a:endParaRPr lang="en-GB" sz="1800" b="1" kern="100">
              <a:latin typeface="Calibri Light"/>
              <a:ea typeface="Calibri" panose="020F0502020204030204" pitchFamily="34" charset="0"/>
              <a:cs typeface="Calibri Light"/>
            </a:endParaRPr>
          </a:p>
          <a:p>
            <a:pPr>
              <a:lnSpc>
                <a:spcPct val="107000"/>
              </a:lnSpc>
              <a:spcAft>
                <a:spcPts val="800"/>
              </a:spcAft>
            </a:pPr>
            <a:endParaRPr lang="en-GB" sz="1800" b="1" kern="100">
              <a:latin typeface="Calibri Light"/>
              <a:ea typeface="Calibri"/>
              <a:cs typeface="Calibri Light"/>
            </a:endParaRPr>
          </a:p>
          <a:p>
            <a:pPr>
              <a:lnSpc>
                <a:spcPct val="107000"/>
              </a:lnSpc>
              <a:spcAft>
                <a:spcPts val="800"/>
              </a:spcAft>
            </a:pPr>
            <a:r>
              <a:rPr lang="en-GB" sz="1800" b="1" kern="100">
                <a:effectLst/>
                <a:latin typeface="Calibri Light"/>
                <a:ea typeface="Calibri"/>
                <a:cs typeface="Calibri Light"/>
              </a:rPr>
              <a:t>Until 2016, the code that formed most of our (now old-fashioned) emojis generated gender-biased images. For example, the code for a ‘runner’ would depict a white, male runner and, similarly, the code for a ‘police officer’ depicted a white, male policeman. In 2016, Unicode developed code to exist for male and female options, which has since evolved to capture a much more diverse representation of society. This quote was taken from a book called Invisible Women by Caroline Criado Perez. </a:t>
            </a:r>
            <a:endParaRPr lang="en-GB" sz="1800" b="1" kern="100">
              <a:effectLst/>
              <a:latin typeface="Calibri Light"/>
              <a:ea typeface="Calibri" panose="020F0502020204030204" pitchFamily="34" charset="0"/>
              <a:cs typeface="Calibri Light"/>
            </a:endParaRPr>
          </a:p>
          <a:p>
            <a:pPr>
              <a:lnSpc>
                <a:spcPct val="107000"/>
              </a:lnSpc>
              <a:spcAft>
                <a:spcPts val="800"/>
              </a:spcAft>
            </a:pPr>
            <a:endParaRPr lang="en-GB" sz="1800" b="1" kern="100">
              <a:latin typeface="Calibri Light"/>
              <a:ea typeface="Calibri"/>
              <a:cs typeface="Calibri Light"/>
            </a:endParaRPr>
          </a:p>
          <a:p>
            <a:pPr>
              <a:lnSpc>
                <a:spcPct val="107000"/>
              </a:lnSpc>
              <a:spcAft>
                <a:spcPts val="800"/>
              </a:spcAft>
            </a:pPr>
            <a:endParaRPr lang="en-GB" sz="1800" b="1" kern="100">
              <a:highlight>
                <a:srgbClr val="FFFF00"/>
              </a:highlight>
              <a:latin typeface="Calibri Light"/>
              <a:ea typeface="Calibri"/>
              <a:cs typeface="Calibri Light"/>
            </a:endParaRPr>
          </a:p>
          <a:p>
            <a:pPr>
              <a:lnSpc>
                <a:spcPct val="107000"/>
              </a:lnSpc>
              <a:spcAft>
                <a:spcPts val="800"/>
              </a:spcAft>
            </a:pPr>
            <a:r>
              <a:rPr lang="en-GB" sz="1800" b="1" kern="100">
                <a:highlight>
                  <a:srgbClr val="FFFF00"/>
                </a:highlight>
                <a:latin typeface="Calibri Light"/>
                <a:ea typeface="Calibri"/>
                <a:cs typeface="Calibri Light"/>
              </a:rPr>
              <a:t>Take answers via </a:t>
            </a:r>
            <a:r>
              <a:rPr lang="en-GB" sz="1800" b="1" kern="100" err="1">
                <a:highlight>
                  <a:srgbClr val="FFFF00"/>
                </a:highlight>
                <a:latin typeface="Calibri Light"/>
                <a:ea typeface="Calibri"/>
                <a:cs typeface="Calibri Light"/>
              </a:rPr>
              <a:t>Slido</a:t>
            </a:r>
            <a:r>
              <a:rPr lang="en-GB" sz="1800" b="1" kern="100">
                <a:highlight>
                  <a:srgbClr val="FFFF00"/>
                </a:highlight>
                <a:latin typeface="Calibri Light"/>
                <a:ea typeface="Calibri"/>
                <a:cs typeface="Calibri Light"/>
              </a:rPr>
              <a:t> if this embedding works, hands and noting answers is another option</a:t>
            </a:r>
          </a:p>
          <a:p>
            <a:pPr>
              <a:lnSpc>
                <a:spcPct val="107000"/>
              </a:lnSpc>
              <a:spcAft>
                <a:spcPts val="800"/>
              </a:spcAft>
            </a:pPr>
            <a:endParaRPr lang="en-GB" sz="1800" b="1" kern="100">
              <a:latin typeface="Calibri Light"/>
              <a:ea typeface="Calibri"/>
              <a:cs typeface="Calibri Light"/>
            </a:endParaRPr>
          </a:p>
          <a:p>
            <a:pPr>
              <a:lnSpc>
                <a:spcPct val="107000"/>
              </a:lnSpc>
              <a:spcAft>
                <a:spcPts val="800"/>
              </a:spcAft>
            </a:pPr>
            <a:endParaRPr lang="en-GB" sz="1800" b="1" kern="100">
              <a:latin typeface="Calibri Light"/>
              <a:ea typeface="Calibri"/>
              <a:cs typeface="Calibri Light"/>
            </a:endParaRPr>
          </a:p>
          <a:p>
            <a:r>
              <a:rPr lang="en-GB" sz="1800" b="1" i="0" u="sng">
                <a:effectLst/>
                <a:latin typeface="Calibri Light"/>
                <a:ea typeface="Calibri"/>
                <a:cs typeface="Calibri Light"/>
              </a:rPr>
              <a:t>Notes: </a:t>
            </a:r>
            <a:r>
              <a:rPr lang="en-GB" sz="1800" i="0">
                <a:effectLst/>
                <a:latin typeface="Calibri Light"/>
                <a:ea typeface="Calibri"/>
                <a:cs typeface="Calibri Light"/>
              </a:rPr>
              <a:t>Caroline Criado Perez’s book, Invisible Women: </a:t>
            </a:r>
            <a:br>
              <a:rPr lang="en-GB" sz="1800" i="1">
                <a:effectLst/>
                <a:latin typeface="Calibri Light" panose="020F0302020204030204" pitchFamily="34" charset="0"/>
                <a:ea typeface="Calibri" panose="020F0502020204030204" pitchFamily="34" charset="0"/>
                <a:cs typeface="Calibri Light"/>
              </a:rPr>
            </a:br>
            <a:br>
              <a:rPr lang="en-GB" sz="1800">
                <a:effectLst/>
                <a:latin typeface="Calibri Light" panose="020F0302020204030204" pitchFamily="34" charset="0"/>
                <a:ea typeface="Calibri" panose="020F0502020204030204" pitchFamily="34" charset="0"/>
                <a:cs typeface="Calibri Light"/>
              </a:rPr>
            </a:br>
            <a:r>
              <a:rPr lang="en-GB" sz="1800">
                <a:effectLst/>
                <a:latin typeface="Calibri Light"/>
                <a:ea typeface="Calibri"/>
                <a:cs typeface="Calibri Light"/>
              </a:rPr>
              <a:t>https://www.shortform.com/summary/invisible-women-summary-caroline-criado-perez?utm_source=bing&amp;utm_medium=cpc&amp;utm_campaign=Book%20-%20Invisible%20Women%20-%20Broad%20-%</a:t>
            </a:r>
            <a:endParaRPr lang="en-GB" sz="1800" kern="100">
              <a:effectLst/>
              <a:latin typeface="Calibri Light"/>
              <a:ea typeface="Calibri"/>
              <a:cs typeface="Calibri Light"/>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11</a:t>
            </a:fld>
            <a:endParaRPr lang="en-GB" altLang="en-US"/>
          </a:p>
        </p:txBody>
      </p:sp>
    </p:spTree>
    <p:extLst>
      <p:ext uri="{BB962C8B-B14F-4D97-AF65-F5344CB8AC3E}">
        <p14:creationId xmlns:p14="http://schemas.microsoft.com/office/powerpoint/2010/main" val="688201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a:t>Host:</a:t>
            </a:r>
          </a:p>
          <a:p>
            <a:pPr>
              <a:lnSpc>
                <a:spcPct val="107000"/>
              </a:lnSpc>
              <a:spcAft>
                <a:spcPts val="800"/>
              </a:spcAft>
              <a:defRPr/>
            </a:pPr>
            <a:r>
              <a:rPr lang="en-US" sz="1800" kern="100" dirty="0">
                <a:effectLst/>
                <a:latin typeface="Calibri Light"/>
                <a:ea typeface="Calibri"/>
                <a:cs typeface="Calibri Light"/>
              </a:rPr>
              <a:t>Diversity in the science(s) is an area for improvement across the sector. </a:t>
            </a:r>
            <a:endParaRPr lang="en-GB" sz="1800" kern="100" dirty="0">
              <a:latin typeface="Calibri Light"/>
              <a:ea typeface="Calibri"/>
              <a:cs typeface="Calibri Light"/>
            </a:endParaRPr>
          </a:p>
          <a:p>
            <a:pPr marL="0" marR="0" lvl="0" indent="0" algn="l" defTabSz="914400">
              <a:lnSpc>
                <a:spcPct val="107000"/>
              </a:lnSpc>
              <a:spcBef>
                <a:spcPct val="30000"/>
              </a:spcBef>
              <a:spcAft>
                <a:spcPts val="800"/>
              </a:spcAft>
              <a:buClrTx/>
              <a:buSzTx/>
              <a:buFontTx/>
              <a:buNone/>
              <a:tabLst/>
              <a:defRPr/>
            </a:pPr>
            <a:r>
              <a:rPr lang="en-US" sz="1800" kern="100" dirty="0">
                <a:effectLst/>
                <a:latin typeface="Calibri Light"/>
                <a:ea typeface="Calibri"/>
                <a:cs typeface="Calibri Light"/>
              </a:rPr>
              <a:t>We have sourced some quotes for this presentation to really highlight both the need for greater diversity </a:t>
            </a:r>
            <a:r>
              <a:rPr lang="en-US" sz="1800" i="1" kern="100" dirty="0">
                <a:effectLst/>
                <a:latin typeface="Calibri Light"/>
                <a:ea typeface="Calibri"/>
                <a:cs typeface="Calibri Light"/>
              </a:rPr>
              <a:t>and </a:t>
            </a:r>
            <a:r>
              <a:rPr lang="en-US" sz="1800" i="0" kern="100" dirty="0">
                <a:effectLst/>
                <a:latin typeface="Calibri Light"/>
                <a:ea typeface="Calibri"/>
                <a:cs typeface="Calibri Light"/>
              </a:rPr>
              <a:t>what diversity currently looks like within the sector. This first quote is from the Royal Society and relates to the relationship between socio-economic background and studying science. We will give you a minute to just read it. </a:t>
            </a:r>
            <a:r>
              <a:rPr lang="en-US" sz="1800" kern="100" dirty="0">
                <a:effectLst/>
                <a:latin typeface="Calibri Light"/>
                <a:ea typeface="Calibri"/>
                <a:cs typeface="Calibri Light"/>
              </a:rPr>
              <a:t>The statistics and quotes we show in this presentation will change year-by-year, but it is important to note that having this awareness and bringing about change (i.e. diversifying our workforces) will have positive impacts on multiple individuals and groups.</a:t>
            </a:r>
            <a:endParaRPr lang="en-GB" sz="1800" kern="100" dirty="0">
              <a:effectLst/>
              <a:latin typeface="Calibri Light"/>
              <a:ea typeface="Calibri"/>
              <a:cs typeface="Calibri Light"/>
            </a:endParaRPr>
          </a:p>
          <a:p>
            <a:pPr>
              <a:lnSpc>
                <a:spcPct val="107000"/>
              </a:lnSpc>
              <a:spcAft>
                <a:spcPts val="800"/>
              </a:spcAft>
            </a:pPr>
            <a:endParaRPr lang="en-US" sz="1800" kern="100" dirty="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kern="100" dirty="0">
                <a:effectLst/>
                <a:latin typeface="Calibri Light"/>
                <a:ea typeface="Calibri"/>
                <a:cs typeface="Calibri Light"/>
              </a:rPr>
              <a:t>Our aim with this presentation is to encourage those from currently underrepresented groups, such as lower socioeconomic background and diverse ethnic groups, into careers in data science and AI. We believe that everyone, regardless of gender, socioeconomic background, race, disability, illness etc. has something to bring to </a:t>
            </a:r>
            <a:r>
              <a:rPr lang="en-US" sz="1800" b="1" kern="100" dirty="0">
                <a:effectLst/>
                <a:latin typeface="Calibri Light"/>
                <a:ea typeface="Calibri"/>
                <a:cs typeface="Calibri Light"/>
              </a:rPr>
              <a:t>every</a:t>
            </a:r>
            <a:r>
              <a:rPr lang="en-US" sz="1800" kern="100" dirty="0">
                <a:effectLst/>
                <a:latin typeface="Calibri Light"/>
                <a:ea typeface="Calibri"/>
                <a:cs typeface="Calibri Light"/>
              </a:rPr>
              <a:t> table and it is important that multiple voices are heard across this sector to ensure that multiple groups are catered to.</a:t>
            </a:r>
            <a:endParaRPr lang="en-GB" sz="1800" kern="100" dirty="0">
              <a:effectLst/>
              <a:latin typeface="Calibri Light"/>
              <a:ea typeface="Calibri"/>
              <a:cs typeface="Calibri Light"/>
            </a:endParaRPr>
          </a:p>
          <a:p>
            <a:pPr>
              <a:lnSpc>
                <a:spcPct val="107000"/>
              </a:lnSpc>
              <a:spcAft>
                <a:spcPts val="800"/>
              </a:spcAft>
            </a:pPr>
            <a:r>
              <a:rPr lang="en-US" sz="1800" kern="100" dirty="0">
                <a:effectLst/>
                <a:latin typeface="Calibri Light"/>
                <a:ea typeface="Calibri"/>
                <a:cs typeface="Calibri Light"/>
              </a:rPr>
              <a:t> </a:t>
            </a:r>
            <a:r>
              <a:rPr lang="en-GB" sz="1800" kern="100" dirty="0">
                <a:effectLst/>
                <a:latin typeface="Calibri Light"/>
                <a:ea typeface="Calibri"/>
                <a:cs typeface="Calibri Light"/>
              </a:rPr>
              <a:t> </a:t>
            </a:r>
          </a:p>
          <a:p>
            <a:pPr>
              <a:lnSpc>
                <a:spcPct val="107000"/>
              </a:lnSpc>
              <a:spcAft>
                <a:spcPts val="800"/>
              </a:spcAft>
            </a:pPr>
            <a:r>
              <a:rPr lang="en-US" sz="1800" b="1" i="1" kern="100" dirty="0">
                <a:effectLst/>
                <a:latin typeface="Calibri Light"/>
                <a:ea typeface="Calibri"/>
                <a:cs typeface="Calibri Light"/>
              </a:rPr>
              <a:t>Read the slide out loud</a:t>
            </a:r>
            <a:r>
              <a:rPr lang="en-US" sz="1800" b="1" i="1" kern="100" dirty="0">
                <a:latin typeface="Calibri Light"/>
                <a:ea typeface="Calibri"/>
                <a:cs typeface="Calibri Light"/>
              </a:rPr>
              <a:t> (if there's time)</a:t>
            </a:r>
            <a:br>
              <a:rPr lang="en-US" sz="1800" b="1" i="1" kern="100" dirty="0">
                <a:latin typeface="Calibri Light"/>
                <a:ea typeface="Calibri"/>
                <a:cs typeface="Calibri Light"/>
              </a:rPr>
            </a:br>
            <a:endParaRPr lang="en-US" sz="1800" b="1" i="1" kern="100" dirty="0">
              <a:latin typeface="Calibri Light"/>
              <a:ea typeface="Calibri"/>
              <a:cs typeface="Calibri Light"/>
            </a:endParaRPr>
          </a:p>
          <a:p>
            <a:pPr>
              <a:lnSpc>
                <a:spcPct val="107000"/>
              </a:lnSpc>
              <a:spcAft>
                <a:spcPts val="800"/>
              </a:spcAft>
            </a:pPr>
            <a:r>
              <a:rPr lang="en-GB" sz="1800" b="1" kern="100" dirty="0">
                <a:effectLst/>
                <a:latin typeface="Calibri Light"/>
                <a:ea typeface="Calibri"/>
                <a:cs typeface="Calibri Light"/>
              </a:rPr>
              <a:t>Socio-economic background has a strong effect on an individual’s likelihood of entering the scientific workforce. One study, conducted by The Royal Society, found that the higher an individual’s socioeconomic background (measured in terms of parental social class or parental education), the more likely they were to work in science. </a:t>
            </a:r>
            <a:r>
              <a:rPr lang="en-GB" sz="1800" b="1" i="1" kern="100" dirty="0">
                <a:effectLst/>
                <a:latin typeface="Calibri Light"/>
                <a:ea typeface="Calibri"/>
                <a:cs typeface="Calibri Light"/>
              </a:rPr>
              <a:t>- The Royal Society</a:t>
            </a:r>
            <a:endParaRPr lang="en-GB" sz="1800" kern="100" dirty="0">
              <a:effectLst/>
              <a:latin typeface="Calibri Light"/>
              <a:ea typeface="Calibri"/>
              <a:cs typeface="Calibri Light"/>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12</a:t>
            </a:fld>
            <a:endParaRPr lang="en-GB" altLang="en-US"/>
          </a:p>
        </p:txBody>
      </p:sp>
    </p:spTree>
    <p:extLst>
      <p:ext uri="{BB962C8B-B14F-4D97-AF65-F5344CB8AC3E}">
        <p14:creationId xmlns:p14="http://schemas.microsoft.com/office/powerpoint/2010/main" val="4117140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4400" b="1" u="sng" dirty="0"/>
              <a:t>Host:</a:t>
            </a:r>
          </a:p>
          <a:p>
            <a:pPr>
              <a:lnSpc>
                <a:spcPct val="107000"/>
              </a:lnSpc>
              <a:spcAft>
                <a:spcPts val="800"/>
              </a:spcAft>
            </a:pPr>
            <a:r>
              <a:rPr lang="en-US" sz="4300" kern="100" dirty="0"/>
              <a:t>Socio-economic background is not the only underrepresented group. Women are heavily underrepresented. </a:t>
            </a:r>
            <a:r>
              <a:rPr lang="en-GB" sz="4300" kern="100" dirty="0"/>
              <a:t>According to research from</a:t>
            </a:r>
            <a:r>
              <a:rPr lang="en-GB" sz="4300" i="1" kern="100" dirty="0"/>
              <a:t> The Alan Turing Institute,</a:t>
            </a:r>
            <a:r>
              <a:rPr lang="en-US" sz="4300" kern="100" dirty="0"/>
              <a:t> </a:t>
            </a:r>
            <a:r>
              <a:rPr lang="en-GB" sz="4300" kern="100" dirty="0"/>
              <a:t>only 20% of AI and data professionals and 18% of users across the largest online global data science platforms are women, despite the fact that women make up half of the UK population.</a:t>
            </a:r>
            <a:endParaRPr lang="en-GB" sz="4300" kern="100" dirty="0">
              <a:solidFill>
                <a:srgbClr val="444444"/>
              </a:solidFill>
            </a:endParaRPr>
          </a:p>
          <a:p>
            <a:pPr>
              <a:lnSpc>
                <a:spcPct val="107000"/>
              </a:lnSpc>
              <a:spcAft>
                <a:spcPts val="800"/>
              </a:spcAft>
            </a:pPr>
            <a:endParaRPr lang="en-GB" sz="4300" kern="100" dirty="0"/>
          </a:p>
          <a:p>
            <a:pPr>
              <a:lnSpc>
                <a:spcPct val="107000"/>
              </a:lnSpc>
              <a:spcAft>
                <a:spcPts val="800"/>
              </a:spcAft>
            </a:pPr>
            <a:r>
              <a:rPr lang="en-GB" sz="4300" kern="100" dirty="0"/>
              <a:t>Those from a black ethnic background are also underrepresented. In 2019, the Guardian reported that only 2.5% of Google’s workforce identifies as black, whilst Facebook and Microsoft state they have a 4% black workforce. You can access Google’s workforce diversity data online – we found that, as of 2024, the percentage of the tech workforce that identifies as black has increased to 4.2%, though this is still low. Do bear in mind that this includes Google’s entire tech workforce, and is not specific to data science and AI roles.</a:t>
            </a:r>
            <a:endParaRPr lang="en-US" sz="4300" kern="100" dirty="0">
              <a:solidFill>
                <a:srgbClr val="444444"/>
              </a:solidFill>
            </a:endParaRPr>
          </a:p>
          <a:p>
            <a:pPr>
              <a:lnSpc>
                <a:spcPct val="107000"/>
              </a:lnSpc>
              <a:spcAft>
                <a:spcPts val="800"/>
              </a:spcAft>
            </a:pPr>
            <a:endParaRPr lang="en-GB" sz="4300" kern="100" dirty="0">
              <a:solidFill>
                <a:srgbClr val="000000"/>
              </a:solidFill>
              <a:ea typeface="Calibri"/>
              <a:cs typeface="Calibri"/>
            </a:endParaRPr>
          </a:p>
          <a:p>
            <a:pPr>
              <a:lnSpc>
                <a:spcPct val="107000"/>
              </a:lnSpc>
              <a:spcAft>
                <a:spcPts val="800"/>
              </a:spcAft>
            </a:pPr>
            <a:r>
              <a:rPr lang="en-GB" sz="4300" kern="100" dirty="0"/>
              <a:t>Little data exists on trans workers or other gender minorities in the AI field.</a:t>
            </a:r>
            <a:endParaRPr lang="en-GB" sz="4300" dirty="0"/>
          </a:p>
          <a:p>
            <a:pPr>
              <a:lnSpc>
                <a:spcPct val="107000"/>
              </a:lnSpc>
              <a:spcAft>
                <a:spcPts val="800"/>
              </a:spcAft>
            </a:pPr>
            <a:endParaRPr lang="en-GB" sz="4300" kern="100" dirty="0"/>
          </a:p>
          <a:p>
            <a:r>
              <a:rPr lang="en-GB" sz="4300" i="1" kern="100" dirty="0"/>
              <a:t>Ask students to read the slide </a:t>
            </a:r>
            <a:endParaRPr lang="en-GB" sz="4300" kern="100" dirty="0">
              <a:solidFill>
                <a:srgbClr val="444444"/>
              </a:solidFill>
            </a:endParaRPr>
          </a:p>
          <a:p>
            <a:r>
              <a:rPr lang="en-GB" sz="4300" i="1" kern="100" dirty="0"/>
              <a:t>Ask them the question on the slide about the consequences of having a similar workforce // the impact of having a diverse workforce on society. Take notes of their ideas.</a:t>
            </a:r>
            <a:endParaRPr lang="en-GB" sz="4300" kern="100" dirty="0">
              <a:solidFill>
                <a:srgbClr val="444444"/>
              </a:solidFill>
              <a:ea typeface="Calibri"/>
              <a:cs typeface="Calibri"/>
            </a:endParaRPr>
          </a:p>
          <a:p>
            <a:endParaRPr lang="en-GB" kern="100" dirty="0">
              <a:solidFill>
                <a:srgbClr val="444444"/>
              </a:solidFill>
            </a:endParaRPr>
          </a:p>
          <a:p>
            <a:pPr>
              <a:lnSpc>
                <a:spcPct val="107000"/>
              </a:lnSpc>
              <a:spcAft>
                <a:spcPts val="800"/>
              </a:spcAft>
            </a:pPr>
            <a:endParaRPr lang="en-GB" sz="4300" kern="100" dirty="0">
              <a:ea typeface="Calibri"/>
              <a:cs typeface="+mn-lt"/>
            </a:endParaRPr>
          </a:p>
          <a:p>
            <a:pPr>
              <a:lnSpc>
                <a:spcPct val="107000"/>
              </a:lnSpc>
              <a:spcAft>
                <a:spcPts val="800"/>
              </a:spcAft>
            </a:pPr>
            <a:br>
              <a:rPr lang="en-GB" sz="4300" kern="100" dirty="0">
                <a:cs typeface="+mn-lt"/>
              </a:rPr>
            </a:br>
            <a:endParaRPr lang="en-GB" sz="4300" kern="100" dirty="0">
              <a:solidFill>
                <a:srgbClr val="444444"/>
              </a:solidFill>
              <a:ea typeface="Calibri"/>
              <a:cs typeface="Calibri"/>
            </a:endParaRPr>
          </a:p>
          <a:p>
            <a:pPr>
              <a:lnSpc>
                <a:spcPct val="107000"/>
              </a:lnSpc>
              <a:spcAft>
                <a:spcPts val="800"/>
              </a:spcAft>
            </a:pPr>
            <a:r>
              <a:rPr lang="en-GB" sz="4300" b="1" u="sng" kern="100" dirty="0"/>
              <a:t>Notes:</a:t>
            </a:r>
            <a:endParaRPr lang="en-GB" sz="4300" kern="100" dirty="0">
              <a:solidFill>
                <a:srgbClr val="444444"/>
              </a:solidFill>
            </a:endParaRPr>
          </a:p>
          <a:p>
            <a:pPr>
              <a:lnSpc>
                <a:spcPct val="107000"/>
              </a:lnSpc>
              <a:spcAft>
                <a:spcPts val="800"/>
              </a:spcAft>
            </a:pPr>
            <a:r>
              <a:rPr lang="en-US" sz="4300" kern="100" dirty="0">
                <a:hlinkClick r:id="rId3"/>
              </a:rPr>
              <a:t>https://royalsociety.org/topics-policy/diversity-in-science/uk-scientific-workforce-report/</a:t>
            </a:r>
            <a:endParaRPr lang="en-GB" sz="4300" kern="100" dirty="0">
              <a:solidFill>
                <a:srgbClr val="444444"/>
              </a:solidFill>
            </a:endParaRPr>
          </a:p>
          <a:p>
            <a:pPr>
              <a:lnSpc>
                <a:spcPct val="107000"/>
              </a:lnSpc>
              <a:spcAft>
                <a:spcPts val="800"/>
              </a:spcAft>
            </a:pPr>
            <a:r>
              <a:rPr lang="en-US" sz="4300" kern="100" dirty="0">
                <a:hlinkClick r:id="rId4"/>
              </a:rPr>
              <a:t>https://www.theguardian.com/technology/2019/apr/16/artificial-intelligence-lack-diversity-new-york-university-study</a:t>
            </a:r>
            <a:endParaRPr lang="en-GB" sz="4300" kern="100" dirty="0">
              <a:solidFill>
                <a:srgbClr val="444444"/>
              </a:solidFill>
            </a:endParaRPr>
          </a:p>
          <a:p>
            <a:pPr>
              <a:lnSpc>
                <a:spcPct val="107000"/>
              </a:lnSpc>
              <a:spcAft>
                <a:spcPts val="800"/>
              </a:spcAft>
            </a:pPr>
            <a:r>
              <a:rPr lang="en-US" sz="4300" kern="100" dirty="0">
                <a:solidFill>
                  <a:srgbClr val="444444"/>
                </a:solidFill>
                <a:hlinkClick r:id="rId5"/>
              </a:rPr>
              <a:t>https://www.turing.ac.uk/research/research-projects/women-data-science-and-ai-new</a:t>
            </a:r>
            <a:endParaRPr lang="en-US" sz="4300" kern="100" dirty="0">
              <a:solidFill>
                <a:srgbClr val="444444"/>
              </a:solidFill>
            </a:endParaRPr>
          </a:p>
          <a:p>
            <a:pPr>
              <a:lnSpc>
                <a:spcPct val="107000"/>
              </a:lnSpc>
              <a:spcAft>
                <a:spcPts val="800"/>
              </a:spcAft>
            </a:pPr>
            <a:r>
              <a:rPr lang="en-GB" sz="4300" kern="100" dirty="0">
                <a:solidFill>
                  <a:srgbClr val="444444"/>
                </a:solidFill>
                <a:hlinkClick r:id="rId6"/>
              </a:rPr>
              <a:t>Google 2021 Diversity Annual Report (googleusercontent.com)</a:t>
            </a:r>
            <a:endParaRPr lang="en-GB" sz="4300" kern="100" dirty="0">
              <a:solidFill>
                <a:srgbClr val="444444"/>
              </a:solidFill>
            </a:endParaRPr>
          </a:p>
          <a:p>
            <a:pPr>
              <a:lnSpc>
                <a:spcPct val="107000"/>
              </a:lnSpc>
              <a:spcAft>
                <a:spcPts val="800"/>
              </a:spcAft>
            </a:pPr>
            <a:r>
              <a:rPr lang="en-GB" sz="4300" kern="100" dirty="0"/>
              <a:t> </a:t>
            </a:r>
            <a:endParaRPr lang="en-GB" sz="4300" kern="100" dirty="0">
              <a:solidFill>
                <a:srgbClr val="444444"/>
              </a:solidFill>
            </a:endParaRPr>
          </a:p>
          <a:p>
            <a:endParaRPr lang="en-GB" sz="4400" b="1" u="sng" kern="100" dirty="0">
              <a:latin typeface="Calibri"/>
              <a:ea typeface="Calibri"/>
              <a:cs typeface="Calibri"/>
            </a:endParaRPr>
          </a:p>
          <a:p>
            <a:endParaRPr lang="en-GB" sz="4400" b="1" u="sng" kern="100" dirty="0">
              <a:latin typeface="Calibri"/>
              <a:ea typeface="Calibri"/>
              <a:cs typeface="Calibri"/>
            </a:endParaRPr>
          </a:p>
          <a:p>
            <a:endParaRPr lang="en-GB" sz="4400" b="1" u="sng" kern="100" dirty="0">
              <a:latin typeface="Calibri"/>
              <a:ea typeface="Calibri"/>
              <a:cs typeface="Calibri"/>
            </a:endParaRPr>
          </a:p>
          <a:p>
            <a:r>
              <a:rPr lang="en-GB" sz="4400" b="1" u="sng" kern="100" dirty="0">
                <a:effectLst/>
                <a:latin typeface="Calibri Light"/>
                <a:ea typeface="Calibri"/>
                <a:cs typeface="Calibri Light"/>
              </a:rPr>
              <a:t>Notes:</a:t>
            </a:r>
            <a:endParaRPr lang="en-GB" sz="4400" b="1" u="sng" dirty="0">
              <a:latin typeface="Calibri Light"/>
              <a:ea typeface="Calibri"/>
              <a:cs typeface="Calibri Light"/>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4400" dirty="0"/>
              <a:t>Caroline Criado Perez’s book, Invisible Women: </a:t>
            </a:r>
            <a:br>
              <a:rPr lang="en-GB" sz="4400" dirty="0">
                <a:cs typeface="+mn-lt"/>
              </a:rPr>
            </a:br>
            <a:r>
              <a:rPr lang="en-GB" sz="4400" dirty="0"/>
              <a:t>https://www.shortform.com/summary/invisible-women-summary-caroline-criado-perez?utm_source=bing&amp;utm_medium=cpc&amp;utm_campaign=Book%20-%20Invisible%20Women%20-%20Broad%20-%20Intl&amp;utm_term=invisible%20women&amp;utm_content=84869082580160&amp;msclkid=975162abde701f3105ee06ccab309bd9</a:t>
            </a:r>
            <a:endParaRPr lang="en-GB" sz="4400" dirty="0">
              <a:ea typeface="Calibri"/>
              <a:cs typeface="Calibri"/>
            </a:endParaRPr>
          </a:p>
          <a:p>
            <a:pPr marL="0" indent="0">
              <a:buFont typeface="Arial" panose="020B0604020202020204" pitchFamily="34" charset="0"/>
              <a:buNone/>
            </a:pPr>
            <a:endParaRPr lang="en-GB" sz="4400" dirty="0"/>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13</a:t>
            </a:fld>
            <a:endParaRPr lang="en-GB" altLang="en-US"/>
          </a:p>
        </p:txBody>
      </p:sp>
    </p:spTree>
    <p:extLst>
      <p:ext uri="{BB962C8B-B14F-4D97-AF65-F5344CB8AC3E}">
        <p14:creationId xmlns:p14="http://schemas.microsoft.com/office/powerpoint/2010/main" val="416593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4400" b="1" u="sng" kern="100">
                <a:effectLst/>
                <a:latin typeface="Calibri Light"/>
                <a:ea typeface="Calibri"/>
                <a:cs typeface="Calibri Light"/>
              </a:rPr>
              <a:t>Host:</a:t>
            </a:r>
          </a:p>
          <a:p>
            <a:pPr>
              <a:defRPr/>
            </a:pPr>
            <a:r>
              <a:rPr lang="en-GB" sz="4400" kern="100">
                <a:latin typeface="Calibri Light"/>
                <a:ea typeface="Calibri Light"/>
                <a:cs typeface="Calibri Light"/>
              </a:rPr>
              <a:t>Another did you know</a:t>
            </a:r>
            <a:endParaRPr lang="en-GB" sz="4400">
              <a:latin typeface="Calibri"/>
              <a:ea typeface="Calibri"/>
              <a:cs typeface="Calibri"/>
            </a:endParaRPr>
          </a:p>
          <a:p>
            <a:pPr>
              <a:defRPr/>
            </a:pPr>
            <a:endParaRPr lang="en-GB" sz="4400">
              <a:latin typeface="Calibri"/>
              <a:ea typeface="Calibri"/>
              <a:cs typeface="Calibri"/>
            </a:endParaRPr>
          </a:p>
          <a:p>
            <a:pPr>
              <a:defRPr/>
            </a:pPr>
            <a:r>
              <a:rPr lang="en-GB" sz="4400">
                <a:latin typeface="Calibri"/>
                <a:ea typeface="Calibri"/>
                <a:cs typeface="Calibri"/>
              </a:rPr>
              <a:t>To</a:t>
            </a:r>
            <a:r>
              <a:rPr lang="en-GB" sz="4400"/>
              <a:t> add to the information presented here (taken from an article published by Harvard), in the landmark 2018 “Gender Shades” project, an intersectional approach was applied to appraise three gender classification algorithms, including those developed by IBM and Microsoft. Subjects were grouped into four categories: darker-skinned females, darker-skinned males, lighter-skinned females, and lighter-skinned males. All three algorithms performed the worst on darker-skinned females, with error rates up to 34% higher than for lighter-skinned males (Figure 1). Independent assessment by the National Institute of Standards and Technology (NIST) has confirmed these studies, finding that face recognition technologies across 189 algorithms are least accurate on women of colour.</a:t>
            </a:r>
            <a:endParaRPr lang="en-GB" sz="4400">
              <a:ea typeface="Calibri"/>
              <a:cs typeface="Calibri"/>
            </a:endParaRPr>
          </a:p>
          <a:p>
            <a:endParaRPr lang="en-GB" sz="4300" i="1"/>
          </a:p>
          <a:p>
            <a:r>
              <a:rPr lang="en-GB" sz="4300" i="1"/>
              <a:t>Ask students to read the slide and think about the consequences of having a similar workforce // the impact of having a diverse workforce will impact the products a company produces. Take notes of their ideas. </a:t>
            </a:r>
            <a:endParaRPr lang="en-GB" sz="4300">
              <a:solidFill>
                <a:srgbClr val="444444"/>
              </a:solidFill>
              <a:ea typeface="Calibri"/>
              <a:cs typeface="Calibri"/>
            </a:endParaRPr>
          </a:p>
          <a:p>
            <a:r>
              <a:rPr lang="en-GB" sz="4300"/>
              <a:t> </a:t>
            </a:r>
            <a:endParaRPr lang="en-GB" sz="4300">
              <a:solidFill>
                <a:srgbClr val="444444"/>
              </a:solidFill>
            </a:endParaRPr>
          </a:p>
          <a:p>
            <a:r>
              <a:rPr lang="en-GB" sz="4300" i="1">
                <a:ea typeface="Calibri"/>
                <a:cs typeface="Calibri"/>
              </a:rPr>
              <a:t>1-2 mins for hands and experiences of when they've seen this occur and what they thought about it i.e. a moment for them to share experiences</a:t>
            </a:r>
            <a:endParaRPr lang="en-GB" sz="4300" i="1"/>
          </a:p>
          <a:p>
            <a:endParaRPr lang="en-GB" sz="4300" i="1"/>
          </a:p>
          <a:p>
            <a:r>
              <a:rPr lang="en-GB" sz="4400" i="1"/>
              <a:t>Remind students that they can have access to all of the links and reading via the mailing list.</a:t>
            </a:r>
            <a:endParaRPr lang="en-GB" sz="4400" i="1">
              <a:ea typeface="Calibri"/>
              <a:cs typeface="Calibri"/>
            </a:endParaRPr>
          </a:p>
          <a:p>
            <a:r>
              <a:rPr lang="en-GB" sz="4400" b="1" u="sng"/>
              <a:t>Notes:  </a:t>
            </a:r>
            <a:r>
              <a:rPr lang="en-GB" sz="4400"/>
              <a:t>This information is taken from on article on Harvard University website: https://sitn.hms.harvard.edu/flash/2020/racial-discrimination-in-face-recognition-technology/</a:t>
            </a:r>
            <a:endParaRPr lang="en-GB" sz="2000"/>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15</a:t>
            </a:fld>
            <a:endParaRPr lang="en-GB" altLang="en-US"/>
          </a:p>
        </p:txBody>
      </p:sp>
    </p:spTree>
    <p:extLst>
      <p:ext uri="{BB962C8B-B14F-4D97-AF65-F5344CB8AC3E}">
        <p14:creationId xmlns:p14="http://schemas.microsoft.com/office/powerpoint/2010/main" val="3000438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200000"/>
              </a:lnSpc>
              <a:buFont typeface="Arial" panose="020B0604020202020204" pitchFamily="34" charset="0"/>
              <a:buNone/>
            </a:pPr>
            <a:r>
              <a:rPr lang="en-GB" sz="4400" b="1" u="sng">
                <a:latin typeface="Arial"/>
                <a:cs typeface="Arial"/>
              </a:rPr>
              <a:t>Host:</a:t>
            </a:r>
          </a:p>
          <a:p>
            <a:pPr>
              <a:lnSpc>
                <a:spcPct val="200000"/>
              </a:lnSpc>
            </a:pPr>
            <a:r>
              <a:rPr lang="en-GB" sz="4400">
                <a:latin typeface="Arial"/>
                <a:cs typeface="Arial"/>
              </a:rPr>
              <a:t>Lets move on the careers-focussed portion of the talk</a:t>
            </a:r>
          </a:p>
          <a:p>
            <a:pPr>
              <a:lnSpc>
                <a:spcPct val="200000"/>
              </a:lnSpc>
            </a:pPr>
            <a:endParaRPr lang="en-GB" sz="4400">
              <a:latin typeface="Arial"/>
              <a:cs typeface="Arial"/>
            </a:endParaRPr>
          </a:p>
          <a:p>
            <a:pPr>
              <a:lnSpc>
                <a:spcPct val="200000"/>
              </a:lnSpc>
            </a:pPr>
            <a:r>
              <a:rPr lang="en-GB" sz="4400">
                <a:latin typeface="Arial"/>
                <a:cs typeface="Arial"/>
              </a:rPr>
              <a:t>There are several myths about working in this sector, here are a few things that may or may not surprise you </a:t>
            </a:r>
          </a:p>
          <a:p>
            <a:pPr>
              <a:lnSpc>
                <a:spcPct val="200000"/>
              </a:lnSpc>
            </a:pPr>
            <a:endParaRPr lang="en-GB" sz="4300">
              <a:ea typeface="Calibri"/>
              <a:cs typeface="Calibri"/>
            </a:endParaRPr>
          </a:p>
          <a:p>
            <a:pPr marL="571500" indent="-571500">
              <a:lnSpc>
                <a:spcPct val="200000"/>
              </a:lnSpc>
              <a:buFont typeface="Arial" panose="020B0604020202020204" pitchFamily="34" charset="0"/>
              <a:buChar char="•"/>
            </a:pPr>
            <a:r>
              <a:rPr lang="en-GB" sz="4400" b="1">
                <a:latin typeface="Arial"/>
                <a:cs typeface="Arial"/>
              </a:rPr>
              <a:t>You don’t have to work at a big name tech firm</a:t>
            </a:r>
          </a:p>
          <a:p>
            <a:pPr marL="0" indent="0">
              <a:lnSpc>
                <a:spcPct val="200000"/>
              </a:lnSpc>
              <a:buFont typeface="Arial" panose="020B0604020202020204" pitchFamily="34" charset="0"/>
              <a:buNone/>
            </a:pPr>
            <a:r>
              <a:rPr lang="en-GB" sz="4400">
                <a:latin typeface="Arial"/>
                <a:cs typeface="Arial"/>
              </a:rPr>
              <a:t>It might sound obvious but data science roles exist in many different types of organisations. Today we are going to deep dive into a few of these but it’s really worth thinking about your passions and motivations and looking at an organisation that will let you harness these. If having an impact is important to you, then finding a company that reflects this is essential. The great thing about data science skills is they can be applied to anything!</a:t>
            </a:r>
          </a:p>
          <a:p>
            <a:pPr marL="1143000" indent="-1143000">
              <a:lnSpc>
                <a:spcPct val="200000"/>
              </a:lnSpc>
              <a:buFont typeface="Arial" panose="020B0604020202020204" pitchFamily="34" charset="0"/>
              <a:buChar char="•"/>
            </a:pPr>
            <a:r>
              <a:rPr lang="en-GB" sz="4400" b="1">
                <a:latin typeface="Arial"/>
                <a:cs typeface="Arial"/>
              </a:rPr>
              <a:t>You can use your skills to solve important real-world problems</a:t>
            </a:r>
          </a:p>
          <a:p>
            <a:pPr marL="0" indent="0">
              <a:lnSpc>
                <a:spcPct val="200000"/>
              </a:lnSpc>
              <a:buFont typeface="Arial" panose="020B0604020202020204" pitchFamily="34" charset="0"/>
              <a:buNone/>
            </a:pPr>
            <a:r>
              <a:rPr lang="en-GB" sz="4400">
                <a:latin typeface="Arial"/>
                <a:cs typeface="Arial"/>
              </a:rPr>
              <a:t>Choosing to work in a public sector or government organisation will allow you to work on real world problems and make a real difference through your skills. If you are someone who is motivated to use your skills to make a difference this can be a really rewarding part of work in this area. </a:t>
            </a:r>
          </a:p>
          <a:p>
            <a:pPr marL="1143000" indent="-1143000">
              <a:lnSpc>
                <a:spcPct val="200000"/>
              </a:lnSpc>
              <a:buFont typeface="Arial" panose="020B0604020202020204" pitchFamily="34" charset="0"/>
              <a:buChar char="•"/>
            </a:pPr>
            <a:r>
              <a:rPr lang="en-GB" sz="4400" b="1">
                <a:latin typeface="Arial"/>
                <a:cs typeface="Arial"/>
              </a:rPr>
              <a:t>You can move between academia, government and industry </a:t>
            </a:r>
          </a:p>
          <a:p>
            <a:pPr marL="0" indent="0">
              <a:lnSpc>
                <a:spcPct val="200000"/>
              </a:lnSpc>
              <a:buFont typeface="Arial" panose="020B0604020202020204" pitchFamily="34" charset="0"/>
              <a:buNone/>
            </a:pPr>
            <a:r>
              <a:rPr lang="en-GB" sz="4400">
                <a:latin typeface="Arial"/>
                <a:cs typeface="Arial"/>
              </a:rPr>
              <a:t>Many people prefer flexible careers and choose to work for a variety of different types of employers. Choosing a career in one sector increasingly doesn’t bar you from exploring other options later. There are also often opportunities to collaborate or take on secondments where you work for a different organisation within your role. </a:t>
            </a:r>
          </a:p>
          <a:p>
            <a:pPr marL="1143000" indent="-1143000">
              <a:lnSpc>
                <a:spcPct val="200000"/>
              </a:lnSpc>
              <a:buFont typeface="Arial" panose="020B0604020202020204" pitchFamily="34" charset="0"/>
              <a:buChar char="•"/>
            </a:pPr>
            <a:r>
              <a:rPr lang="en-GB" sz="4400" b="1">
                <a:latin typeface="Arial"/>
                <a:cs typeface="Arial"/>
              </a:rPr>
              <a:t>Applicants from a wide variety of backgrounds are welcome</a:t>
            </a:r>
          </a:p>
          <a:p>
            <a:pPr marL="0" indent="0">
              <a:lnSpc>
                <a:spcPct val="200000"/>
              </a:lnSpc>
              <a:buFont typeface="Arial" panose="020B0604020202020204" pitchFamily="34" charset="0"/>
              <a:buNone/>
            </a:pPr>
            <a:r>
              <a:rPr lang="en-GB" sz="4400">
                <a:latin typeface="Arial"/>
                <a:cs typeface="Arial"/>
              </a:rPr>
              <a:t>While we may have an idea of a data scientist there really is no set type of person. A huge variety of backgrounds and skills are needed in data science particularly for roles in government.  </a:t>
            </a:r>
          </a:p>
          <a:p>
            <a:pPr marL="1143000" indent="-1143000">
              <a:lnSpc>
                <a:spcPct val="200000"/>
              </a:lnSpc>
              <a:buFont typeface="Arial" panose="020B0604020202020204" pitchFamily="34" charset="0"/>
              <a:buChar char="•"/>
            </a:pPr>
            <a:r>
              <a:rPr lang="en-GB" sz="4400" b="1">
                <a:latin typeface="Arial"/>
                <a:cs typeface="Arial"/>
              </a:rPr>
              <a:t>You don’t have to do a PhD for many roles  </a:t>
            </a:r>
          </a:p>
          <a:p>
            <a:pPr>
              <a:lnSpc>
                <a:spcPct val="200000"/>
              </a:lnSpc>
            </a:pPr>
            <a:r>
              <a:rPr lang="en-GB" sz="4400">
                <a:latin typeface="Arial"/>
                <a:cs typeface="Arial"/>
              </a:rPr>
              <a:t>It’s true that to progress in academia and research a PhD is usually needed but for many government roles you won’t necessarily need a PhD or even a masters! There are graduate options for many government data science roles and many research institutes will offer positions from masters onwards (or internships from earlier to try things out).</a:t>
            </a:r>
            <a:endParaRPr lang="en-GB" sz="4400">
              <a:latin typeface="Calibri"/>
              <a:ea typeface="Calibri"/>
              <a:cs typeface="Calibri"/>
            </a:endParaRPr>
          </a:p>
          <a:p>
            <a:pPr>
              <a:lnSpc>
                <a:spcPct val="200000"/>
              </a:lnSpc>
            </a:pPr>
            <a:endParaRPr lang="en-GB" sz="4400">
              <a:latin typeface="Arial"/>
              <a:cs typeface="Arial"/>
            </a:endParaRPr>
          </a:p>
          <a:p>
            <a:pPr>
              <a:lnSpc>
                <a:spcPct val="200000"/>
              </a:lnSpc>
              <a:buFont typeface="Arial" panose="020B0604020202020204" pitchFamily="34" charset="0"/>
            </a:pPr>
            <a:r>
              <a:rPr lang="en-GB" sz="4400">
                <a:latin typeface="Arial"/>
                <a:cs typeface="Arial"/>
              </a:rPr>
              <a:t>We're going to showcase some potential data science and AI-related careers. These lists/examples are not exhaustive, but merely a taster of potential careers available</a:t>
            </a:r>
            <a:endParaRPr lang="en-GB" sz="4400">
              <a:latin typeface="Calibri"/>
              <a:ea typeface="Calibri"/>
              <a:cs typeface="Calibri"/>
            </a:endParaRPr>
          </a:p>
          <a:p>
            <a:pPr>
              <a:lnSpc>
                <a:spcPct val="200000"/>
              </a:lnSpc>
              <a:buFont typeface="Arial" panose="020B0604020202020204" pitchFamily="34" charset="0"/>
            </a:pPr>
            <a:endParaRPr lang="en-GB" sz="4400" i="1">
              <a:latin typeface="Arial"/>
              <a:ea typeface="Calibri"/>
              <a:cs typeface="Arial"/>
            </a:endParaRPr>
          </a:p>
          <a:p>
            <a:pPr>
              <a:lnSpc>
                <a:spcPct val="200000"/>
              </a:lnSpc>
              <a:buFont typeface="Arial" panose="020B0604020202020204" pitchFamily="34" charset="0"/>
            </a:pPr>
            <a:r>
              <a:rPr lang="en-GB" sz="4400" i="1">
                <a:latin typeface="Arial"/>
                <a:ea typeface="Calibri"/>
                <a:cs typeface="Arial"/>
              </a:rPr>
              <a:t>Can share some personal reflections on our path to how we got to where we are now</a:t>
            </a:r>
          </a:p>
          <a:p>
            <a:endParaRPr lang="en-GB" sz="4400">
              <a:ea typeface="Calibri"/>
              <a:cs typeface="Calibri"/>
            </a:endParaRPr>
          </a:p>
          <a:p>
            <a:pPr>
              <a:lnSpc>
                <a:spcPct val="200000"/>
              </a:lnSpc>
            </a:pPr>
            <a:r>
              <a:rPr lang="en-GB" sz="4400">
                <a:ea typeface="Calibri"/>
                <a:cs typeface="Calibri"/>
              </a:rPr>
              <a:t>----------------------------</a:t>
            </a:r>
          </a:p>
          <a:p>
            <a:pPr>
              <a:lnSpc>
                <a:spcPct val="200000"/>
              </a:lnSpc>
            </a:pPr>
            <a:endParaRPr lang="en-GB">
              <a:solidFill>
                <a:srgbClr val="444444"/>
              </a:solidFill>
            </a:endParaRPr>
          </a:p>
          <a:p>
            <a:pPr>
              <a:lnSpc>
                <a:spcPct val="200000"/>
              </a:lnSpc>
            </a:pPr>
            <a:r>
              <a:rPr lang="en-GB" sz="4300"/>
              <a:t>As well as general myths about AI and data science, there are several myths about working in this sector as well! A few things that may or may not surprise you</a:t>
            </a:r>
            <a:endParaRPr lang="en-GB" sz="4300">
              <a:ea typeface="Calibri"/>
              <a:cs typeface="Calibri"/>
            </a:endParaRPr>
          </a:p>
          <a:p>
            <a:endParaRPr lang="en-GB">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17</a:t>
            </a:fld>
            <a:endParaRPr lang="en-GB" altLang="en-US"/>
          </a:p>
        </p:txBody>
      </p:sp>
    </p:spTree>
    <p:extLst>
      <p:ext uri="{BB962C8B-B14F-4D97-AF65-F5344CB8AC3E}">
        <p14:creationId xmlns:p14="http://schemas.microsoft.com/office/powerpoint/2010/main" val="2722430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300" b="1" u="sng" dirty="0"/>
              <a:t>Host: </a:t>
            </a:r>
            <a:endParaRPr lang="en-US" dirty="0"/>
          </a:p>
          <a:p>
            <a:pPr marL="0" indent="0">
              <a:buFont typeface="Arial" panose="020B0604020202020204" pitchFamily="34" charset="0"/>
              <a:buNone/>
            </a:pPr>
            <a:r>
              <a:rPr lang="en-GB" sz="4300" dirty="0"/>
              <a:t>As we’ve said there is no ‘perfect’ data scientist, and employers are looking for a range of team members to collaborate and complement each other. Some of the skills you will see valued in these professions include … [the listed skills are set to animate one-by-one].</a:t>
            </a:r>
            <a:endParaRPr lang="en-GB" dirty="0"/>
          </a:p>
          <a:p>
            <a:pPr>
              <a:defRPr/>
            </a:pPr>
            <a:endParaRPr lang="en-GB" sz="4300" dirty="0"/>
          </a:p>
          <a:p>
            <a:pPr marL="0" marR="0" lvl="0" indent="0" algn="l" defTabSz="914400">
              <a:lnSpc>
                <a:spcPct val="100000"/>
              </a:lnSpc>
              <a:spcBef>
                <a:spcPct val="30000"/>
              </a:spcBef>
              <a:spcAft>
                <a:spcPct val="0"/>
              </a:spcAft>
              <a:buClrTx/>
              <a:buSzTx/>
              <a:buFont typeface="Arial" panose="020B0604020202020204" pitchFamily="34" charset="0"/>
              <a:buNone/>
              <a:tabLst/>
              <a:defRPr/>
            </a:pPr>
            <a:r>
              <a:rPr lang="en-GB" sz="4300" dirty="0"/>
              <a:t>Some roles may require transferable skills, but will support you to develop subject-specific skills on the job or via apprenticeships and internships etc.</a:t>
            </a:r>
            <a:endParaRPr lang="en-GB" sz="4300" dirty="0">
              <a:ea typeface="Calibri"/>
              <a:cs typeface="Calibri"/>
            </a:endParaRPr>
          </a:p>
          <a:p>
            <a:endParaRPr lang="en-GB" sz="4300" dirty="0"/>
          </a:p>
          <a:p>
            <a:pPr marL="0" indent="0">
              <a:buFont typeface="Arial" panose="020B0604020202020204" pitchFamily="34" charset="0"/>
              <a:buNone/>
            </a:pPr>
            <a:r>
              <a:rPr lang="en-GB" sz="4300" dirty="0"/>
              <a:t>It is worth noting that this list is not exhaustive, and you don’t have to have equal abilities in all these skills. </a:t>
            </a:r>
            <a:endParaRPr lang="en-GB" sz="4300" dirty="0">
              <a:ea typeface="Calibri"/>
              <a:cs typeface="Calibri"/>
            </a:endParaRPr>
          </a:p>
          <a:p>
            <a:endParaRPr lang="en-GB" sz="4300" dirty="0">
              <a:ea typeface="Calibri"/>
              <a:cs typeface="Calibri"/>
            </a:endParaRPr>
          </a:p>
          <a:p>
            <a:r>
              <a:rPr lang="en-GB" sz="4300" dirty="0">
                <a:ea typeface="Calibri"/>
                <a:cs typeface="Calibri"/>
              </a:rPr>
              <a:t>Some questions useful to reflect on later are: </a:t>
            </a:r>
            <a:r>
              <a:rPr lang="en-GB" sz="4300" i="1" dirty="0">
                <a:ea typeface="Calibri"/>
                <a:cs typeface="Calibri"/>
              </a:rPr>
              <a:t>(not sharing in the session, but option to come and chat to host after the talk)</a:t>
            </a:r>
          </a:p>
          <a:p>
            <a:pPr marL="285750" indent="-285750">
              <a:buFont typeface="Arial" panose="020B0604020202020204" pitchFamily="34" charset="0"/>
              <a:buChar char="•"/>
            </a:pPr>
            <a:r>
              <a:rPr lang="en-GB" sz="4300" dirty="0"/>
              <a:t>What transferable skills do you think you have already?</a:t>
            </a:r>
            <a:endParaRPr lang="en-GB" sz="4300" dirty="0">
              <a:ea typeface="Calibri"/>
              <a:cs typeface="Calibri"/>
            </a:endParaRPr>
          </a:p>
          <a:p>
            <a:pPr marL="285750" indent="-285750">
              <a:buFont typeface="Arial" panose="020B0604020202020204" pitchFamily="34" charset="0"/>
              <a:buChar char="•"/>
            </a:pPr>
            <a:r>
              <a:rPr lang="en-GB" sz="4300" dirty="0"/>
              <a:t>How did you get these skills? Any specific examples/things you're proud of?</a:t>
            </a:r>
            <a:endParaRPr lang="en-GB" sz="4300" dirty="0">
              <a:ea typeface="Calibri"/>
              <a:cs typeface="Calibri"/>
            </a:endParaRPr>
          </a:p>
          <a:p>
            <a:pPr marL="285750" indent="-285750">
              <a:buFont typeface="Arial" panose="020B0604020202020204" pitchFamily="34" charset="0"/>
              <a:buChar char="•"/>
            </a:pPr>
            <a:r>
              <a:rPr lang="en-GB" sz="4300" dirty="0"/>
              <a:t>How can you continue to improve these skills?</a:t>
            </a:r>
            <a:endParaRPr lang="en-GB" sz="4300" dirty="0">
              <a:ea typeface="Calibri"/>
              <a:cs typeface="Calibri"/>
            </a:endParaRPr>
          </a:p>
          <a:p>
            <a:endParaRPr lang="en-GB" sz="4300" dirty="0"/>
          </a:p>
          <a:p>
            <a:endParaRPr lang="en-GB" sz="4300" dirty="0"/>
          </a:p>
          <a:p>
            <a:pPr marL="0" indent="0">
              <a:buFont typeface="Arial" panose="020B0604020202020204" pitchFamily="34" charset="0"/>
              <a:buNone/>
            </a:pPr>
            <a:r>
              <a:rPr lang="en-GB" sz="4300" b="1" u="sng" dirty="0"/>
              <a:t>Notes:  </a:t>
            </a:r>
            <a:r>
              <a:rPr lang="en-GB" sz="4300" b="0" u="none" dirty="0"/>
              <a:t>Each skill is animated to come out one-by-one.</a:t>
            </a:r>
            <a:endParaRPr lang="en-GB" sz="4300" b="0" u="none" dirty="0">
              <a:ea typeface="Calibri"/>
              <a:cs typeface="Calibri"/>
            </a:endParaRPr>
          </a:p>
          <a:p>
            <a:pPr marL="0" indent="0">
              <a:buFont typeface="Arial" panose="020B0604020202020204" pitchFamily="34" charset="0"/>
              <a:buNone/>
            </a:pPr>
            <a:r>
              <a:rPr lang="en-GB" sz="4300" b="0" u="none" dirty="0"/>
              <a:t>If time is tight, you can cut the questions from the host script – instead, pose them as hypothetical questions e.g. We’d like you to go away and think about what skills you already have, how you got them and how you can continue to improve them.</a:t>
            </a:r>
            <a:endParaRPr lang="en-GB" sz="4300" b="0" u="none" dirty="0">
              <a:ea typeface="Calibri"/>
              <a:cs typeface="Calibri"/>
            </a:endParaRPr>
          </a:p>
          <a:p>
            <a:pPr marL="0" indent="0">
              <a:buFont typeface="Arial" panose="020B0604020202020204" pitchFamily="34" charset="0"/>
              <a:buNone/>
            </a:pPr>
            <a:endParaRPr lang="en-GB" b="0" u="none" dirty="0"/>
          </a:p>
          <a:p>
            <a:pPr marL="0" indent="0">
              <a:buFont typeface="Arial" panose="020B0604020202020204" pitchFamily="34" charset="0"/>
              <a:buNone/>
            </a:pPr>
            <a:r>
              <a:rPr lang="en-GB" sz="4300" b="0" u="none" dirty="0"/>
              <a:t>The subject-specific skills relate to STEM and non-STEM skills.</a:t>
            </a:r>
            <a:endParaRPr lang="en-GB" sz="4300" b="0" u="none" dirty="0">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18</a:t>
            </a:fld>
            <a:endParaRPr lang="en-GB" altLang="en-US"/>
          </a:p>
        </p:txBody>
      </p:sp>
    </p:spTree>
    <p:extLst>
      <p:ext uri="{BB962C8B-B14F-4D97-AF65-F5344CB8AC3E}">
        <p14:creationId xmlns:p14="http://schemas.microsoft.com/office/powerpoint/2010/main" val="1028080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defRPr/>
            </a:pPr>
            <a:r>
              <a:rPr lang="en-GB" sz="1800" b="1" u="sng"/>
              <a:t>Host: </a:t>
            </a:r>
            <a:endParaRPr lang="en-GB" sz="1800" kern="10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a:lnSpc>
                <a:spcPct val="107000"/>
              </a:lnSpc>
              <a:spcBef>
                <a:spcPct val="30000"/>
              </a:spcBef>
              <a:spcAft>
                <a:spcPts val="800"/>
              </a:spcAft>
              <a:buClrTx/>
              <a:buSzTx/>
              <a:buFontTx/>
              <a:buNone/>
              <a:tabLst/>
              <a:defRPr/>
            </a:pPr>
            <a:r>
              <a:rPr lang="en-GB" sz="1800" kern="100">
                <a:effectLst/>
                <a:latin typeface="Calibri Light"/>
                <a:ea typeface="Calibri"/>
                <a:cs typeface="Calibri Light"/>
              </a:rPr>
              <a:t>When applying for roles in data science and AI, you may come across some of these roles and titles. While this list is not exhaustive, it gives a taster of what you might come across. </a:t>
            </a:r>
          </a:p>
          <a:p>
            <a:pPr>
              <a:lnSpc>
                <a:spcPct val="107000"/>
              </a:lnSpc>
              <a:spcAft>
                <a:spcPts val="800"/>
              </a:spcAft>
            </a:pPr>
            <a:r>
              <a:rPr lang="en-GB" sz="1800" i="1" kern="100">
                <a:effectLst/>
                <a:latin typeface="Calibri Light"/>
                <a:ea typeface="Calibri"/>
                <a:cs typeface="Calibri Light"/>
              </a:rPr>
              <a:t>Allow each role to transition in one-by-one and read aloud</a:t>
            </a:r>
            <a:r>
              <a:rPr lang="en-GB" sz="1800" i="1" kern="100">
                <a:latin typeface="Calibri Light"/>
                <a:ea typeface="Calibri"/>
                <a:cs typeface="Calibri Light"/>
              </a:rPr>
              <a:t> if there's time (last one to appear is Programme/Project manager on the right hand side)</a:t>
            </a:r>
            <a:endParaRPr lang="en-GB" sz="1800" kern="100">
              <a:effectLst/>
              <a:latin typeface="Calibri Light"/>
              <a:ea typeface="Calibri"/>
              <a:cs typeface="Calibri Light"/>
            </a:endParaRPr>
          </a:p>
          <a:p>
            <a:pPr>
              <a:lnSpc>
                <a:spcPct val="107000"/>
              </a:lnSpc>
              <a:spcAft>
                <a:spcPts val="800"/>
              </a:spcAft>
            </a:pPr>
            <a:r>
              <a:rPr lang="en-GB" sz="1800" i="1" kern="100">
                <a:effectLst/>
                <a:latin typeface="Calibri Light"/>
                <a:ea typeface="Calibri"/>
                <a:cs typeface="Calibri Light"/>
              </a:rPr>
              <a:t> </a:t>
            </a:r>
            <a:endParaRPr lang="en-GB" sz="1800" kern="100">
              <a:effectLst/>
              <a:latin typeface="Calibri Light"/>
              <a:ea typeface="Calibri"/>
              <a:cs typeface="Calibri Light"/>
            </a:endParaRPr>
          </a:p>
          <a:p>
            <a:pPr>
              <a:lnSpc>
                <a:spcPct val="107000"/>
              </a:lnSpc>
              <a:spcAft>
                <a:spcPts val="800"/>
              </a:spcAft>
            </a:pPr>
            <a:r>
              <a:rPr lang="en-GB" sz="1800" kern="100">
                <a:effectLst/>
                <a:latin typeface="Calibri Light"/>
                <a:ea typeface="Calibri"/>
                <a:cs typeface="Calibri Light"/>
              </a:rPr>
              <a:t>Some roles, such as data scientists, data engineers, research scientists, research engineers, different officers and project manager roles are likely to be advertised across multiple organisations looking for data science and AI-specific applicants. Other roles, such as cyber architects or cyber security engineers are more likely to be found in defence and security organisations.</a:t>
            </a:r>
          </a:p>
          <a:p>
            <a:pPr>
              <a:lnSpc>
                <a:spcPct val="107000"/>
              </a:lnSpc>
              <a:spcAft>
                <a:spcPts val="800"/>
              </a:spcAft>
            </a:pPr>
            <a:r>
              <a:rPr lang="en-GB" sz="1800" i="1" kern="100">
                <a:effectLst/>
                <a:latin typeface="Calibri Light"/>
                <a:ea typeface="Calibri"/>
                <a:cs typeface="Calibri Light"/>
              </a:rPr>
              <a:t> </a:t>
            </a:r>
          </a:p>
          <a:p>
            <a:pPr>
              <a:lnSpc>
                <a:spcPct val="107000"/>
              </a:lnSpc>
              <a:spcAft>
                <a:spcPts val="800"/>
              </a:spcAft>
            </a:pPr>
            <a:r>
              <a:rPr lang="en-GB" sz="1800" i="1" kern="100">
                <a:latin typeface="Calibri Light"/>
                <a:ea typeface="Calibri"/>
                <a:cs typeface="Calibri Light"/>
              </a:rPr>
              <a:t>If there's time, ask</a:t>
            </a:r>
            <a:r>
              <a:rPr lang="en-GB" sz="1800" i="1" kern="100">
                <a:effectLst/>
                <a:latin typeface="Calibri Light"/>
                <a:ea typeface="Calibri"/>
                <a:cs typeface="Calibri Light"/>
              </a:rPr>
              <a:t> students if any of these roles and titles are familiar and if they know what the role entails</a:t>
            </a:r>
            <a:r>
              <a:rPr lang="en-GB" sz="1800" i="1" kern="100">
                <a:latin typeface="Calibri Light"/>
                <a:ea typeface="Calibri"/>
                <a:cs typeface="Calibri Light"/>
              </a:rPr>
              <a:t> (elicit answers)</a:t>
            </a:r>
            <a:endParaRPr lang="en-GB" sz="1800" b="0" i="1" kern="100">
              <a:effectLst/>
              <a:latin typeface="Calibri Light"/>
              <a:ea typeface="Calibri"/>
              <a:cs typeface="Calibri Light"/>
            </a:endParaRPr>
          </a:p>
          <a:p>
            <a:pPr>
              <a:lnSpc>
                <a:spcPct val="107000"/>
              </a:lnSpc>
              <a:spcAft>
                <a:spcPts val="800"/>
              </a:spcAft>
            </a:pPr>
            <a:endParaRPr lang="en-GB" sz="1800" i="1" kern="100">
              <a:effectLst/>
              <a:latin typeface="Calibri Light" panose="020F0302020204030204" pitchFamily="34" charset="0"/>
              <a:ea typeface="Calibri" panose="020F0502020204030204" pitchFamily="34" charset="0"/>
              <a:cs typeface="Calibri Light"/>
            </a:endParaRPr>
          </a:p>
          <a:p>
            <a:r>
              <a:rPr lang="en-GB" kern="100"/>
              <a:t>To find out more about working in the data science and AI sector, you can access a free bank of short films on podcasts on the Turing website. We have interviewed people from various roles and across the sector about their day to day, what skills they use, what they wish they’d known before entering the field, what misconceptions there are about working in the sector and what their roles entail, as well as a whole lot more.</a:t>
            </a:r>
            <a:endParaRPr lang="en-GB" kern="100">
              <a:solidFill>
                <a:srgbClr val="444444"/>
              </a:solidFill>
            </a:endParaRPr>
          </a:p>
          <a:p>
            <a:endParaRPr lang="en-GB" kern="100">
              <a:solidFill>
                <a:srgbClr val="444444"/>
              </a:solidFill>
            </a:endParaRPr>
          </a:p>
          <a:p>
            <a:r>
              <a:rPr lang="en-GB" sz="4300" kern="100"/>
              <a:t>Just type into google: The Alan Turing Institute’s Spotlight Series on data science and AI.</a:t>
            </a:r>
            <a:endParaRPr lang="en-GB" sz="4300"/>
          </a:p>
          <a:p>
            <a:pPr>
              <a:lnSpc>
                <a:spcPct val="107000"/>
              </a:lnSpc>
              <a:spcAft>
                <a:spcPts val="800"/>
              </a:spcAft>
            </a:pPr>
            <a:endParaRPr lang="en-GB" sz="1800" i="1" kern="100">
              <a:latin typeface="Calibri Light" panose="020F0302020204030204" pitchFamily="34" charset="0"/>
              <a:ea typeface="Calibri" panose="020F0502020204030204" pitchFamily="34" charset="0"/>
              <a:cs typeface="Calibri Light"/>
            </a:endParaRPr>
          </a:p>
          <a:p>
            <a:pPr>
              <a:lnSpc>
                <a:spcPct val="107000"/>
              </a:lnSpc>
              <a:spcAft>
                <a:spcPts val="800"/>
              </a:spcAft>
            </a:pPr>
            <a:endParaRPr lang="en-GB" sz="1800" i="1" kern="100">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i="0" u="sng" kern="100">
                <a:effectLst/>
                <a:latin typeface="Calibri Light"/>
                <a:ea typeface="Calibri"/>
                <a:cs typeface="Calibri Light"/>
              </a:rPr>
              <a:t>Notes:  </a:t>
            </a:r>
            <a:r>
              <a:rPr lang="en-GB" sz="1800" b="0" i="0" u="none" kern="100">
                <a:effectLst/>
                <a:latin typeface="Calibri Light"/>
                <a:ea typeface="Calibri"/>
                <a:cs typeface="Calibri Light"/>
              </a:rPr>
              <a:t>Time-depending, it might be worth talking through a selection of the roles displayed, a summary of which can be found below.</a:t>
            </a:r>
          </a:p>
          <a:p>
            <a:pPr>
              <a:lnSpc>
                <a:spcPct val="107000"/>
              </a:lnSpc>
              <a:spcAft>
                <a:spcPts val="800"/>
              </a:spcAft>
            </a:pPr>
            <a:r>
              <a:rPr lang="en-GB" sz="1800" b="0" i="0" u="none" kern="100">
                <a:effectLst/>
                <a:latin typeface="Calibri Light"/>
                <a:ea typeface="Calibri"/>
                <a:cs typeface="Calibri Light"/>
              </a:rPr>
              <a:t>If a student asks a question clarifying the difference between certain roles, don’t be afraid to come back to them at the end (in the interest of time) and use the notes below to support an answer. Equally, students can take note of different roles and do their own research – really, this is to showcase how many different role titles are out there. Some companies will use different title names even if the JD is the same, too.</a:t>
            </a:r>
            <a:br>
              <a:rPr lang="en-GB" sz="1800" b="0" i="0" u="none" kern="100">
                <a:effectLst/>
                <a:latin typeface="Calibri Light" panose="020F0302020204030204" pitchFamily="34" charset="0"/>
                <a:ea typeface="Calibri" panose="020F0502020204030204" pitchFamily="34" charset="0"/>
                <a:cs typeface="Calibri Light"/>
              </a:rPr>
            </a:br>
            <a:endParaRPr lang="en-GB" sz="1800" b="0" i="0" u="none"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kern="100">
                <a:effectLst/>
                <a:latin typeface="Calibri Light"/>
                <a:ea typeface="Calibri"/>
                <a:cs typeface="Calibri Light"/>
              </a:rPr>
              <a:t>Cyber architect: </a:t>
            </a:r>
            <a:r>
              <a:rPr lang="en-GB" sz="1800" kern="100">
                <a:effectLst/>
                <a:latin typeface="Calibri Light"/>
                <a:ea typeface="Calibri"/>
                <a:cs typeface="Calibri Light"/>
              </a:rPr>
              <a:t>The job of cybersecurity architect is a senior-level position responsible for planning, designing, testing, implementing and maintaining an organisation's computer and network security infrastructure.</a:t>
            </a:r>
          </a:p>
          <a:p>
            <a:pPr>
              <a:lnSpc>
                <a:spcPct val="107000"/>
              </a:lnSpc>
              <a:spcAft>
                <a:spcPts val="800"/>
              </a:spcAft>
            </a:pPr>
            <a:r>
              <a:rPr lang="en-GB" sz="1800" b="1" kern="100">
                <a:effectLst/>
                <a:latin typeface="Calibri Light"/>
                <a:ea typeface="Calibri"/>
                <a:cs typeface="Calibri Light"/>
              </a:rPr>
              <a:t>Cyber Security Engineer: </a:t>
            </a:r>
            <a:r>
              <a:rPr lang="en-GB" sz="1800" kern="100">
                <a:effectLst/>
                <a:latin typeface="Calibri Light"/>
                <a:ea typeface="Calibri"/>
                <a:cs typeface="Calibri Light"/>
              </a:rPr>
              <a:t>Cybersecurity engineers — also known as information security engineers, data security engineers or similar titles — are responsible for putting in place the security and protection features that guard against cyberattacks and other digital threats.</a:t>
            </a:r>
          </a:p>
          <a:p>
            <a:pPr>
              <a:lnSpc>
                <a:spcPct val="107000"/>
              </a:lnSpc>
              <a:spcAft>
                <a:spcPts val="800"/>
              </a:spcAft>
            </a:pPr>
            <a:r>
              <a:rPr lang="en-GB" sz="1800" b="1" kern="100">
                <a:effectLst/>
                <a:latin typeface="Calibri Light"/>
                <a:ea typeface="Calibri"/>
                <a:cs typeface="Calibri Light"/>
              </a:rPr>
              <a:t>Cyber Operations Centre: </a:t>
            </a:r>
            <a:r>
              <a:rPr lang="en-GB" sz="1800" kern="100">
                <a:effectLst/>
                <a:latin typeface="Calibri Light"/>
                <a:ea typeface="Calibri"/>
                <a:cs typeface="Calibri Light"/>
              </a:rPr>
              <a:t>The function of the security operations </a:t>
            </a:r>
            <a:r>
              <a:rPr lang="en-GB" sz="1800" kern="100" err="1">
                <a:effectLst/>
                <a:latin typeface="Calibri Light"/>
                <a:ea typeface="Calibri"/>
                <a:cs typeface="Calibri Light"/>
              </a:rPr>
              <a:t>center</a:t>
            </a:r>
            <a:r>
              <a:rPr lang="en-GB" sz="1800" kern="100">
                <a:effectLst/>
                <a:latin typeface="Calibri Light"/>
                <a:ea typeface="Calibri"/>
                <a:cs typeface="Calibri Light"/>
              </a:rPr>
              <a:t> (SOC) is to monitor, prevent, detect, investigate, and respond to cyber threats around the clock.</a:t>
            </a:r>
          </a:p>
          <a:p>
            <a:pPr>
              <a:lnSpc>
                <a:spcPct val="107000"/>
              </a:lnSpc>
              <a:spcAft>
                <a:spcPts val="800"/>
              </a:spcAft>
            </a:pPr>
            <a:r>
              <a:rPr lang="en-GB" sz="1800" b="1" kern="100">
                <a:effectLst/>
                <a:latin typeface="Calibri Light"/>
                <a:ea typeface="Calibri"/>
                <a:cs typeface="Calibri Light"/>
              </a:rPr>
              <a:t>Software Engineer: </a:t>
            </a:r>
            <a:r>
              <a:rPr lang="en-GB" sz="1800" kern="100">
                <a:effectLst/>
                <a:latin typeface="Calibri Light"/>
                <a:ea typeface="Calibri"/>
                <a:cs typeface="Calibri Light"/>
              </a:rPr>
              <a:t>A software engineer is a person who applies the engineering design process to design, develop, maintain, test, and evaluate computer software.</a:t>
            </a:r>
          </a:p>
          <a:p>
            <a:pPr>
              <a:lnSpc>
                <a:spcPct val="107000"/>
              </a:lnSpc>
              <a:spcAft>
                <a:spcPts val="800"/>
              </a:spcAft>
            </a:pPr>
            <a:r>
              <a:rPr lang="en-GB" sz="1800" b="1" kern="100">
                <a:effectLst/>
                <a:latin typeface="Calibri Light"/>
                <a:ea typeface="Calibri"/>
                <a:cs typeface="Calibri Light"/>
              </a:rPr>
              <a:t>Machine Learning Engineer: </a:t>
            </a:r>
            <a:r>
              <a:rPr lang="en-GB" sz="1800" kern="100">
                <a:effectLst/>
                <a:latin typeface="Calibri Light"/>
                <a:ea typeface="Calibri"/>
                <a:cs typeface="Calibri Light"/>
              </a:rPr>
              <a:t>Machine learning engineers design and create the AI algorithms capable of learning and making predictions that define machine learning (ML). An ML engineer typically works as part of a larger data science team and will communicate with data scientists, administrators, data analysts, data engineers and data architects.</a:t>
            </a:r>
            <a:br>
              <a:rPr lang="en-GB" sz="1800" kern="100">
                <a:effectLst/>
                <a:latin typeface="Calibri Light" panose="020F0302020204030204" pitchFamily="34" charset="0"/>
                <a:ea typeface="Calibri" panose="020F0502020204030204" pitchFamily="34" charset="0"/>
                <a:cs typeface="Calibri Light"/>
              </a:rPr>
            </a:br>
            <a:r>
              <a:rPr lang="en-GB" sz="1800" b="1" kern="100">
                <a:effectLst/>
                <a:latin typeface="Calibri Light"/>
                <a:ea typeface="Calibri"/>
                <a:cs typeface="Calibri Light"/>
              </a:rPr>
              <a:t>Intelligence Analyst: </a:t>
            </a:r>
            <a:r>
              <a:rPr lang="en-GB" sz="1800" kern="100">
                <a:effectLst/>
                <a:latin typeface="Calibri Light"/>
                <a:ea typeface="Calibri"/>
                <a:cs typeface="Calibri Light"/>
              </a:rPr>
              <a:t>Intelligence Analyst responsibilities include preparing intelligence reports, handling sensitive information and providing recommendations to various law enforcement departments as needed. Ultimately, you will work with a small team to use data and different reports to prevent criminal activity throughout the year.</a:t>
            </a:r>
          </a:p>
          <a:p>
            <a:pPr>
              <a:lnSpc>
                <a:spcPct val="107000"/>
              </a:lnSpc>
              <a:spcAft>
                <a:spcPts val="800"/>
              </a:spcAft>
            </a:pPr>
            <a:r>
              <a:rPr lang="en-GB" sz="1800" b="1" kern="100">
                <a:effectLst/>
                <a:latin typeface="Calibri Light"/>
                <a:ea typeface="Calibri"/>
                <a:cs typeface="Calibri Light"/>
              </a:rPr>
              <a:t>Behavioural Scientist: </a:t>
            </a:r>
            <a:r>
              <a:rPr lang="en-GB" sz="1800" kern="100" err="1">
                <a:effectLst/>
                <a:latin typeface="Calibri Light"/>
                <a:ea typeface="Calibri"/>
                <a:cs typeface="Calibri Light"/>
              </a:rPr>
              <a:t>Behavioral</a:t>
            </a:r>
            <a:r>
              <a:rPr lang="en-GB" sz="1800" kern="100">
                <a:effectLst/>
                <a:latin typeface="Calibri Light"/>
                <a:ea typeface="Calibri"/>
                <a:cs typeface="Calibri Light"/>
              </a:rPr>
              <a:t> scientists study when and why individuals engage in specific </a:t>
            </a:r>
            <a:r>
              <a:rPr lang="en-GB" sz="1800" kern="100" err="1">
                <a:effectLst/>
                <a:latin typeface="Calibri Light"/>
                <a:ea typeface="Calibri"/>
                <a:cs typeface="Calibri Light"/>
              </a:rPr>
              <a:t>behaviors</a:t>
            </a:r>
            <a:r>
              <a:rPr lang="en-GB" sz="1800" kern="100">
                <a:effectLst/>
                <a:latin typeface="Calibri Light"/>
                <a:ea typeface="Calibri"/>
                <a:cs typeface="Calibri Light"/>
              </a:rPr>
              <a:t> by experimentally examining the impact of factors such as conscious thoughts, motivation, social influences, contextual effects, and habits.</a:t>
            </a:r>
          </a:p>
          <a:p>
            <a:pPr>
              <a:lnSpc>
                <a:spcPct val="107000"/>
              </a:lnSpc>
              <a:spcAft>
                <a:spcPts val="800"/>
              </a:spcAft>
            </a:pPr>
            <a:r>
              <a:rPr lang="en-GB" sz="1800" b="1" kern="100">
                <a:effectLst/>
                <a:latin typeface="Calibri Light"/>
                <a:ea typeface="Calibri"/>
                <a:cs typeface="Calibri Light"/>
              </a:rPr>
              <a:t>Human Factors Engineer: </a:t>
            </a:r>
            <a:r>
              <a:rPr lang="en-GB" sz="1800" kern="100">
                <a:effectLst/>
                <a:latin typeface="Calibri Light"/>
                <a:ea typeface="Calibri"/>
                <a:cs typeface="Calibri Light"/>
              </a:rPr>
              <a:t>Human factors engineering (HFE) is a discipline concerned with the design of tools, machines, and systems that take into account human capabilities, limitations, and characteristics. The goals are to design for safe, comfortable, and effective human use.</a:t>
            </a:r>
          </a:p>
          <a:p>
            <a:pPr>
              <a:lnSpc>
                <a:spcPct val="107000"/>
              </a:lnSpc>
              <a:spcAft>
                <a:spcPts val="800"/>
              </a:spcAft>
            </a:pPr>
            <a:r>
              <a:rPr lang="en-GB" sz="1800" b="1" kern="100">
                <a:effectLst/>
                <a:latin typeface="Calibri Light"/>
                <a:ea typeface="Calibri"/>
                <a:cs typeface="Calibri Light"/>
              </a:rPr>
              <a:t>Research Scientist: </a:t>
            </a:r>
            <a:r>
              <a:rPr lang="en-GB" sz="1800" kern="100">
                <a:effectLst/>
                <a:latin typeface="Calibri Light"/>
                <a:ea typeface="Calibri"/>
                <a:cs typeface="Calibri Light"/>
              </a:rPr>
              <a:t>Research scientists are responsible for designing, undertaking and analysing information from controlled laboratory-based investigations, experiments and trials.</a:t>
            </a:r>
          </a:p>
          <a:p>
            <a:pPr>
              <a:lnSpc>
                <a:spcPct val="107000"/>
              </a:lnSpc>
              <a:spcAft>
                <a:spcPts val="800"/>
              </a:spcAft>
            </a:pPr>
            <a:r>
              <a:rPr lang="en-GB" sz="1800" b="1" kern="100">
                <a:effectLst/>
                <a:latin typeface="Calibri Light"/>
                <a:ea typeface="Calibri"/>
                <a:cs typeface="Calibri Light"/>
              </a:rPr>
              <a:t>Data Engineer: </a:t>
            </a:r>
            <a:r>
              <a:rPr lang="en-GB" sz="1800" kern="100">
                <a:effectLst/>
                <a:latin typeface="Calibri Light"/>
                <a:ea typeface="Calibri"/>
                <a:cs typeface="Calibri Light"/>
              </a:rPr>
              <a:t>A data engineer is an IT worker whose primary job is to prepare data for analytical or operational uses. These software engineers are typically responsible for building data pipelines to bring together information from different source systems.</a:t>
            </a:r>
          </a:p>
          <a:p>
            <a:pPr>
              <a:lnSpc>
                <a:spcPct val="107000"/>
              </a:lnSpc>
              <a:spcAft>
                <a:spcPts val="800"/>
              </a:spcAft>
            </a:pPr>
            <a:r>
              <a:rPr lang="en-GB" sz="1800" b="1" kern="100">
                <a:effectLst/>
                <a:latin typeface="Calibri Light"/>
                <a:ea typeface="Calibri"/>
                <a:cs typeface="Calibri Light"/>
              </a:rPr>
              <a:t>Cyber Warfare Engineer: </a:t>
            </a:r>
            <a:r>
              <a:rPr lang="en-GB" sz="1800" kern="100">
                <a:effectLst/>
                <a:latin typeface="Calibri Light"/>
                <a:ea typeface="Calibri"/>
                <a:cs typeface="Calibri Light"/>
              </a:rPr>
              <a:t>Cyber Warfare Engineers (CWE) apply principles and techniques of computer science and computer engineering to research, design, develop, test and evaluate software and firmware for computer network attack, exploitation and defence in cyberspace operations.</a:t>
            </a:r>
          </a:p>
          <a:p>
            <a:pPr>
              <a:lnSpc>
                <a:spcPct val="107000"/>
              </a:lnSpc>
              <a:spcAft>
                <a:spcPts val="800"/>
              </a:spcAft>
            </a:pPr>
            <a:r>
              <a:rPr lang="en-GB" sz="1800" b="1" kern="100">
                <a:effectLst/>
                <a:latin typeface="Calibri Light"/>
                <a:ea typeface="Calibri"/>
                <a:cs typeface="Calibri Light"/>
              </a:rPr>
              <a:t>Data Scientist: </a:t>
            </a:r>
            <a:r>
              <a:rPr lang="en-GB" sz="1800" kern="100">
                <a:effectLst/>
                <a:latin typeface="Calibri Light"/>
                <a:ea typeface="Calibri"/>
                <a:cs typeface="Calibri Light"/>
              </a:rPr>
              <a:t>A data scientist uses data to understand and explain the phenomena around them, and help organizations make better decisions.</a:t>
            </a:r>
          </a:p>
          <a:p>
            <a:pPr>
              <a:lnSpc>
                <a:spcPct val="107000"/>
              </a:lnSpc>
              <a:spcAft>
                <a:spcPts val="800"/>
              </a:spcAft>
            </a:pPr>
            <a:r>
              <a:rPr lang="en-GB" sz="1800" b="1" kern="100">
                <a:effectLst/>
                <a:latin typeface="Calibri Light"/>
                <a:ea typeface="Calibri"/>
                <a:cs typeface="Calibri Light"/>
              </a:rPr>
              <a:t>UX Developer: </a:t>
            </a:r>
            <a:r>
              <a:rPr lang="en-GB" sz="1800" kern="100">
                <a:effectLst/>
                <a:latin typeface="Calibri Light"/>
                <a:ea typeface="Calibri"/>
                <a:cs typeface="Calibri Light"/>
              </a:rPr>
              <a:t>A UX Developer is a person who has the skills to learn the journey that a user takes when they are on the front end of a website and then design the best possible journey that a front-end user can take. In the context of defence and security, this will also include ensuring that journey is ‘safe’ by implementing structures such as end-to-end encryption.</a:t>
            </a:r>
          </a:p>
          <a:p>
            <a:pPr>
              <a:lnSpc>
                <a:spcPct val="107000"/>
              </a:lnSpc>
              <a:spcAft>
                <a:spcPts val="800"/>
              </a:spcAft>
            </a:pPr>
            <a:r>
              <a:rPr lang="en-GB" sz="1800" kern="100">
                <a:effectLst/>
                <a:latin typeface="Calibri Light"/>
                <a:ea typeface="Calibri"/>
                <a:cs typeface="Calibri Light"/>
              </a:rPr>
              <a:t> </a:t>
            </a: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19</a:t>
            </a:fld>
            <a:endParaRPr lang="en-GB" altLang="en-US"/>
          </a:p>
        </p:txBody>
      </p:sp>
    </p:spTree>
    <p:extLst>
      <p:ext uri="{BB962C8B-B14F-4D97-AF65-F5344CB8AC3E}">
        <p14:creationId xmlns:p14="http://schemas.microsoft.com/office/powerpoint/2010/main" val="1857112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sz="4300" b="1" u="sng" dirty="0"/>
              <a:t>Host:</a:t>
            </a:r>
          </a:p>
          <a:p>
            <a:pPr marL="0" indent="0">
              <a:buFont typeface="Arial" panose="020B0604020202020204" pitchFamily="34" charset="0"/>
              <a:buNone/>
            </a:pPr>
            <a:r>
              <a:rPr lang="en-GB" sz="4300" b="0" u="none" dirty="0"/>
              <a:t>As a data scientist you will be expected to carry out a range of tasks. Some of those that are common to most roles are:</a:t>
            </a:r>
            <a:endParaRPr lang="en-GB" sz="4300" b="0" u="none" dirty="0">
              <a:ea typeface="Calibri"/>
              <a:cs typeface="Calibri"/>
            </a:endParaRPr>
          </a:p>
          <a:p>
            <a:pPr marL="742950" indent="-742950">
              <a:lnSpc>
                <a:spcPct val="200000"/>
              </a:lnSpc>
              <a:buFont typeface="+mj-lt"/>
              <a:buAutoNum type="arabicPeriod"/>
            </a:pPr>
            <a:r>
              <a:rPr lang="en-US" sz="4400" dirty="0">
                <a:latin typeface="Arial"/>
                <a:cs typeface="Arial"/>
              </a:rPr>
              <a:t>Scoping problems (identify the question to answer and the best way to approach it)</a:t>
            </a:r>
          </a:p>
          <a:p>
            <a:pPr marL="742950" indent="-742950">
              <a:lnSpc>
                <a:spcPct val="200000"/>
              </a:lnSpc>
              <a:buFont typeface="+mj-lt"/>
              <a:buAutoNum type="arabicPeriod"/>
            </a:pPr>
            <a:r>
              <a:rPr lang="en-US" sz="4400" dirty="0">
                <a:latin typeface="Arial"/>
                <a:cs typeface="Arial"/>
              </a:rPr>
              <a:t>Data wrangling (e.g. cleaning datasets and creating databases)</a:t>
            </a:r>
          </a:p>
          <a:p>
            <a:pPr marL="742950" indent="-742950">
              <a:lnSpc>
                <a:spcPct val="200000"/>
              </a:lnSpc>
              <a:buFont typeface="+mj-lt"/>
              <a:buAutoNum type="arabicPeriod"/>
            </a:pPr>
            <a:r>
              <a:rPr lang="en-US" sz="4400" dirty="0">
                <a:latin typeface="Arial"/>
                <a:cs typeface="Arial"/>
              </a:rPr>
              <a:t>Writing code to </a:t>
            </a:r>
            <a:r>
              <a:rPr lang="en-US" sz="4400" dirty="0" err="1">
                <a:latin typeface="Arial"/>
                <a:cs typeface="Arial"/>
              </a:rPr>
              <a:t>analyse</a:t>
            </a:r>
            <a:r>
              <a:rPr lang="en-US" sz="4400" dirty="0">
                <a:latin typeface="Arial"/>
                <a:cs typeface="Arial"/>
              </a:rPr>
              <a:t> data (actually run the analysis)</a:t>
            </a:r>
          </a:p>
          <a:p>
            <a:pPr marL="742950" indent="-742950">
              <a:lnSpc>
                <a:spcPct val="200000"/>
              </a:lnSpc>
              <a:buFont typeface="+mj-lt"/>
              <a:buAutoNum type="arabicPeriod"/>
            </a:pPr>
            <a:r>
              <a:rPr lang="en-US" sz="4400" dirty="0">
                <a:latin typeface="Arial"/>
                <a:cs typeface="Arial"/>
              </a:rPr>
              <a:t>Reviewing other people’s code (or code written by AI tools)</a:t>
            </a:r>
          </a:p>
          <a:p>
            <a:pPr marL="742950" indent="-742950">
              <a:lnSpc>
                <a:spcPct val="200000"/>
              </a:lnSpc>
              <a:buFont typeface="+mj-lt"/>
              <a:buAutoNum type="arabicPeriod"/>
            </a:pPr>
            <a:r>
              <a:rPr lang="en-US" sz="4400" dirty="0">
                <a:latin typeface="Arial"/>
                <a:cs typeface="Arial"/>
              </a:rPr>
              <a:t>Reporting the results (maybe presentations or written reports</a:t>
            </a:r>
          </a:p>
          <a:p>
            <a:pPr>
              <a:lnSpc>
                <a:spcPct val="200000"/>
              </a:lnSpc>
            </a:pPr>
            <a:endParaRPr lang="en-US" sz="4400" dirty="0">
              <a:latin typeface="Arial"/>
              <a:cs typeface="Arial"/>
            </a:endParaRPr>
          </a:p>
          <a:p>
            <a:pPr>
              <a:lnSpc>
                <a:spcPct val="200000"/>
              </a:lnSpc>
            </a:pPr>
            <a:r>
              <a:rPr lang="en-US" sz="4400" dirty="0">
                <a:latin typeface="Arial"/>
                <a:cs typeface="Arial"/>
              </a:rPr>
              <a:t>Move this to slide </a:t>
            </a:r>
            <a:r>
              <a:rPr lang="en-US" sz="4400" dirty="0" err="1">
                <a:latin typeface="Arial"/>
                <a:cs typeface="Arial"/>
              </a:rPr>
              <a:t>beofre</a:t>
            </a:r>
            <a:r>
              <a:rPr lang="en-US" sz="4400" dirty="0">
                <a:latin typeface="Arial"/>
                <a:cs typeface="Arial"/>
              </a:rPr>
              <a:t> and cut this slide </a:t>
            </a:r>
          </a:p>
          <a:p>
            <a:pPr>
              <a:lnSpc>
                <a:spcPct val="200000"/>
              </a:lnSpc>
            </a:pPr>
            <a:endParaRPr lang="en-US" sz="4400" dirty="0">
              <a:latin typeface="Arial"/>
              <a:cs typeface="Arial"/>
            </a:endParaRPr>
          </a:p>
          <a:p>
            <a:pPr marL="0" indent="0">
              <a:buFont typeface="Arial" panose="020B0604020202020204" pitchFamily="34" charset="0"/>
              <a:buNone/>
            </a:pPr>
            <a:r>
              <a:rPr lang="en-GB" sz="4300" b="0" u="none" dirty="0"/>
              <a:t>To find out more about working in the data science and AI sector, you can access a free bank of short films on podcasts on the Turing website. We have interviewed people from various roles and across the sector about their day to day, what skills they use, what they wish they’d known before entering the field, what misconceptions there are about working in the sector and what their roles entail, as well as a whole lot more.</a:t>
            </a:r>
            <a:endParaRPr lang="en-GB" sz="4300" b="0" u="none" dirty="0">
              <a:ea typeface="Calibri"/>
              <a:cs typeface="Calibri"/>
            </a:endParaRPr>
          </a:p>
          <a:p>
            <a:pPr marL="0" indent="0">
              <a:buFont typeface="Arial" panose="020B0604020202020204" pitchFamily="34" charset="0"/>
              <a:buNone/>
            </a:pPr>
            <a:endParaRPr lang="en-GB" b="0" u="none" dirty="0"/>
          </a:p>
          <a:p>
            <a:pPr marL="0" indent="0">
              <a:buFont typeface="Arial" panose="020B0604020202020204" pitchFamily="34" charset="0"/>
              <a:buNone/>
            </a:pPr>
            <a:r>
              <a:rPr lang="en-GB" sz="4300" b="0" u="none" dirty="0"/>
              <a:t>Just type into google: The Alan Turing Institute’s Spotlight Series on data science and AI.</a:t>
            </a:r>
            <a:endParaRPr lang="en-GB" sz="4300" b="0" u="none" dirty="0">
              <a:ea typeface="Calibri"/>
              <a:cs typeface="Calibri"/>
            </a:endParaRPr>
          </a:p>
          <a:p>
            <a:pPr marL="0" indent="0">
              <a:buFont typeface="Arial" panose="020B0604020202020204" pitchFamily="34" charset="0"/>
              <a:buNone/>
            </a:pPr>
            <a:endParaRPr lang="en-GB" b="1" u="sng" dirty="0"/>
          </a:p>
          <a:p>
            <a:pPr marL="0" indent="0">
              <a:buFont typeface="Arial" panose="020B0604020202020204" pitchFamily="34" charset="0"/>
              <a:buNone/>
            </a:pPr>
            <a:r>
              <a:rPr lang="en-GB" sz="4300" b="1" u="sng" dirty="0"/>
              <a:t>Notes:</a:t>
            </a:r>
            <a:endParaRPr lang="en-GB" sz="4300" b="1" u="sng" dirty="0">
              <a:ea typeface="Calibri"/>
              <a:cs typeface="Calibri"/>
            </a:endParaRPr>
          </a:p>
          <a:p>
            <a:pPr marL="0" indent="0">
              <a:buFont typeface="Arial" panose="020B0604020202020204" pitchFamily="34" charset="0"/>
              <a:buNone/>
            </a:pPr>
            <a:r>
              <a:rPr lang="en-GB" sz="4300" b="0" u="none" dirty="0"/>
              <a:t>Tasks animate one-by-one</a:t>
            </a:r>
            <a:endParaRPr lang="en-GB" sz="4300" b="0" u="none" dirty="0">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20</a:t>
            </a:fld>
            <a:endParaRPr lang="en-GB" altLang="en-US"/>
          </a:p>
        </p:txBody>
      </p:sp>
    </p:spTree>
    <p:extLst>
      <p:ext uri="{BB962C8B-B14F-4D97-AF65-F5344CB8AC3E}">
        <p14:creationId xmlns:p14="http://schemas.microsoft.com/office/powerpoint/2010/main" val="1894233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4400" b="1" u="sng" dirty="0"/>
              <a:t>Host:</a:t>
            </a:r>
          </a:p>
          <a:p>
            <a:r>
              <a:rPr lang="en-GB" sz="4300" dirty="0"/>
              <a:t>If you choose a career in data science, you have a great choice of employers. Today we are highlighting roles in defence and security, government (and public sector) and research institutes.  The next few slides will take us through examples of relevant employers, work benefits and routes into careers within these areas. </a:t>
            </a:r>
            <a:endParaRPr lang="en-GB" sz="4300" dirty="0">
              <a:ea typeface="Calibri"/>
              <a:cs typeface="Calibri"/>
            </a:endParaRPr>
          </a:p>
          <a:p>
            <a:endParaRPr lang="en-GB" sz="4300" dirty="0"/>
          </a:p>
          <a:p>
            <a:r>
              <a:rPr lang="en-GB" sz="4300" b="1" dirty="0">
                <a:ea typeface="Calibri"/>
                <a:cs typeface="Calibri"/>
              </a:rPr>
              <a:t>Defence and Security</a:t>
            </a:r>
          </a:p>
          <a:p>
            <a:pPr marL="0" indent="0">
              <a:buFont typeface="Arial" panose="020B0604020202020204" pitchFamily="34" charset="0"/>
              <a:buNone/>
            </a:pPr>
            <a:r>
              <a:rPr lang="en-GB" sz="4300" dirty="0"/>
              <a:t>Some of the organisations you could work for in the Defence and Security sector include:</a:t>
            </a:r>
            <a:endParaRPr lang="en-GB" sz="4300" dirty="0">
              <a:ea typeface="Calibri"/>
              <a:cs typeface="Calibri"/>
            </a:endParaRPr>
          </a:p>
          <a:p>
            <a:pPr marL="0" indent="0">
              <a:buFont typeface="Arial" panose="020B0604020202020204" pitchFamily="34" charset="0"/>
              <a:buNone/>
            </a:pPr>
            <a:r>
              <a:rPr lang="en-GB" sz="4300" dirty="0"/>
              <a:t>- The Ministry of Defence, which is a ministerial department that works for a secure and prosperous UK. </a:t>
            </a:r>
            <a:endParaRPr lang="en-GB" sz="4300" dirty="0">
              <a:ea typeface="Calibri"/>
              <a:cs typeface="Calibri"/>
            </a:endParaRPr>
          </a:p>
          <a:p>
            <a:pPr marL="0" indent="0">
              <a:buFont typeface="Arial" panose="020B0604020202020204" pitchFamily="34" charset="0"/>
              <a:buNone/>
            </a:pPr>
            <a:r>
              <a:rPr lang="en-GB" sz="4300" dirty="0"/>
              <a:t>- The Security Service, often known as Mi5, keeps the UK safe by reducing and removing threats.</a:t>
            </a:r>
            <a:endParaRPr lang="en-GB" sz="4300" dirty="0">
              <a:ea typeface="Calibri"/>
              <a:cs typeface="Calibri"/>
            </a:endParaRPr>
          </a:p>
          <a:p>
            <a:pPr marL="0" indent="0">
              <a:buFont typeface="Arial" panose="020B0604020202020204" pitchFamily="34" charset="0"/>
              <a:buNone/>
            </a:pPr>
            <a:r>
              <a:rPr lang="en-GB" sz="4300" dirty="0"/>
              <a:t>- The Secret Intelligence Service, known as Mi6, works overseas to keep the UK safe. </a:t>
            </a:r>
            <a:endParaRPr lang="en-GB" sz="4300" dirty="0">
              <a:ea typeface="Calibri"/>
              <a:cs typeface="Calibri"/>
            </a:endParaRPr>
          </a:p>
          <a:p>
            <a:pPr marL="0" indent="0">
              <a:buFont typeface="Arial" panose="020B0604020202020204" pitchFamily="34" charset="0"/>
              <a:buNone/>
            </a:pPr>
            <a:r>
              <a:rPr lang="en-GB" sz="4300" dirty="0"/>
              <a:t>- GCHQ, the UK’s intelligence, cyber and security agency. All three agencies work closely together. </a:t>
            </a:r>
            <a:endParaRPr lang="en-GB" sz="4300" dirty="0">
              <a:ea typeface="Calibri"/>
              <a:cs typeface="Calibri"/>
            </a:endParaRPr>
          </a:p>
          <a:p>
            <a:pPr marL="0" indent="0">
              <a:buFont typeface="Arial" panose="020B0604020202020204" pitchFamily="34" charset="0"/>
              <a:buNone/>
            </a:pPr>
            <a:r>
              <a:rPr lang="en-GB" sz="4300" dirty="0"/>
              <a:t>- DSTL </a:t>
            </a:r>
            <a:r>
              <a:rPr lang="en-GB" sz="4300" b="0" i="0" dirty="0">
                <a:solidFill>
                  <a:srgbClr val="0B0C0C"/>
                </a:solidFill>
                <a:effectLst/>
                <a:latin typeface="GDS Transport"/>
              </a:rPr>
              <a:t>an executive agency of the Ministry of Defence (</a:t>
            </a:r>
            <a:r>
              <a:rPr lang="en-GB" sz="4300" dirty="0"/>
              <a:t>MOD</a:t>
            </a:r>
            <a:r>
              <a:rPr lang="en-GB" sz="4300" b="0" i="0" dirty="0">
                <a:solidFill>
                  <a:srgbClr val="0B0C0C"/>
                </a:solidFill>
                <a:effectLst/>
                <a:latin typeface="GDS Transport"/>
              </a:rPr>
              <a:t>) providing world class expertise and delivering cutting-edge science and technology for the benefit of the nation and allies.</a:t>
            </a:r>
          </a:p>
          <a:p>
            <a:pPr marL="0" indent="0">
              <a:buFont typeface="Arial" panose="020B0604020202020204" pitchFamily="34" charset="0"/>
              <a:buNone/>
            </a:pPr>
            <a:endParaRPr lang="en-GB" b="0" i="0" dirty="0">
              <a:solidFill>
                <a:srgbClr val="0B0C0C"/>
              </a:solidFill>
              <a:effectLst/>
              <a:latin typeface="GDS Transport"/>
            </a:endParaRPr>
          </a:p>
          <a:p>
            <a:r>
              <a:rPr lang="en-GB" sz="4300" b="1" dirty="0">
                <a:solidFill>
                  <a:srgbClr val="0B0C0C"/>
                </a:solidFill>
                <a:latin typeface="GDS Transport"/>
              </a:rPr>
              <a:t>UK govt</a:t>
            </a:r>
          </a:p>
          <a:p>
            <a:pPr marL="0" indent="0">
              <a:buFont typeface="Arial" panose="020B0604020202020204" pitchFamily="34" charset="0"/>
              <a:buNone/>
            </a:pPr>
            <a:r>
              <a:rPr lang="en-GB" sz="4300" b="0" i="0" dirty="0">
                <a:solidFill>
                  <a:srgbClr val="0B0C0C"/>
                </a:solidFill>
                <a:effectLst/>
                <a:latin typeface="GDS Transport"/>
              </a:rPr>
              <a:t>If Defence and Security isn’t a field available to you or of interest, there are hundreds of other options in the UK government. Civil service roles in data science are likely to fall under the Digital, Data and Technology profession. There are 24 ministerial departments in additional to non-ministerial departments and agencies. Some areas where you will find data science roles include:</a:t>
            </a:r>
          </a:p>
          <a:p>
            <a:pPr marL="0" indent="0">
              <a:buFont typeface="Arial" panose="020B0604020202020204" pitchFamily="34" charset="0"/>
              <a:buNone/>
            </a:pPr>
            <a:r>
              <a:rPr lang="en-GB" sz="4300" b="0" i="0" dirty="0">
                <a:solidFill>
                  <a:srgbClr val="0B0C0C"/>
                </a:solidFill>
                <a:effectLst/>
                <a:latin typeface="GDS Transport"/>
              </a:rPr>
              <a:t>- The Office for National Statistics: </a:t>
            </a:r>
            <a:r>
              <a:rPr lang="en-GB" sz="4300" b="0" i="0" dirty="0">
                <a:solidFill>
                  <a:srgbClr val="323132"/>
                </a:solidFill>
                <a:effectLst/>
                <a:latin typeface="open sans"/>
                <a:ea typeface="open sans"/>
                <a:cs typeface="open sans"/>
              </a:rPr>
              <a:t>the UK’s largest independent producer of official statistics. This is a recognised national statistical institute.</a:t>
            </a:r>
            <a:endParaRPr lang="en-GB" sz="4300" b="0" i="0" dirty="0">
              <a:solidFill>
                <a:srgbClr val="0B0C0C"/>
              </a:solidFill>
              <a:effectLst/>
              <a:latin typeface="open sans"/>
              <a:ea typeface="open sans"/>
              <a:cs typeface="open sans"/>
            </a:endParaRPr>
          </a:p>
          <a:p>
            <a:pPr marL="0" indent="0">
              <a:buFont typeface="Arial" panose="020B0604020202020204" pitchFamily="34" charset="0"/>
              <a:buNone/>
            </a:pPr>
            <a:r>
              <a:rPr lang="en-GB" sz="4300" b="0" i="0" dirty="0">
                <a:solidFill>
                  <a:srgbClr val="0B0C0C"/>
                </a:solidFill>
                <a:effectLst/>
                <a:latin typeface="GDS Transport"/>
              </a:rPr>
              <a:t>- UK Health Security Agency: responsible for protecting every member of every community from the impact of infectious diseases, chemical, biological, radiological and nuclear incidents and other health threats.</a:t>
            </a:r>
          </a:p>
          <a:p>
            <a:pPr marL="0" indent="0">
              <a:buFont typeface="Arial" panose="020B0604020202020204" pitchFamily="34" charset="0"/>
              <a:buNone/>
            </a:pPr>
            <a:r>
              <a:rPr lang="en-GB" sz="4300" b="0" i="0" dirty="0">
                <a:solidFill>
                  <a:srgbClr val="0B0C0C"/>
                </a:solidFill>
                <a:effectLst/>
                <a:latin typeface="GDS Transport"/>
              </a:rPr>
              <a:t>- National Crime Agency: protecting the public from serious and organised crime. </a:t>
            </a:r>
          </a:p>
          <a:p>
            <a:pPr marL="0" indent="0">
              <a:buFont typeface="Arial" panose="020B0604020202020204" pitchFamily="34" charset="0"/>
              <a:buNone/>
            </a:pPr>
            <a:endParaRPr lang="en-GB" b="0" i="0" dirty="0">
              <a:solidFill>
                <a:srgbClr val="0B0C0C"/>
              </a:solidFill>
              <a:effectLst/>
              <a:latin typeface="GDS Transport"/>
            </a:endParaRPr>
          </a:p>
          <a:p>
            <a:pPr marL="0" indent="0">
              <a:buFont typeface="Arial" panose="020B0604020202020204" pitchFamily="34" charset="0"/>
              <a:buNone/>
            </a:pPr>
            <a:r>
              <a:rPr lang="en-GB" sz="4300" b="0" i="0" dirty="0">
                <a:solidFill>
                  <a:srgbClr val="0B0C0C"/>
                </a:solidFill>
                <a:effectLst/>
                <a:latin typeface="GDS Transport"/>
              </a:rPr>
              <a:t>These are just a handful of the options for government data science jobs!</a:t>
            </a:r>
          </a:p>
          <a:p>
            <a:r>
              <a:rPr lang="en-GB" sz="4300" b="1" dirty="0">
                <a:solidFill>
                  <a:srgbClr val="0B0C0C"/>
                </a:solidFill>
                <a:latin typeface="GDS Transport"/>
              </a:rPr>
              <a:t>Research Institutes</a:t>
            </a:r>
            <a:endParaRPr lang="en-GB" sz="4300" b="1" i="0" dirty="0">
              <a:solidFill>
                <a:srgbClr val="0B0C0C"/>
              </a:solidFill>
              <a:effectLst/>
              <a:latin typeface="GDS Transport"/>
            </a:endParaRPr>
          </a:p>
          <a:p>
            <a:pPr marL="0" indent="0">
              <a:buFont typeface="Arial" panose="020B0604020202020204" pitchFamily="34" charset="0"/>
              <a:buNone/>
            </a:pPr>
            <a:r>
              <a:rPr lang="en-GB" sz="4300" b="0" i="0" dirty="0">
                <a:solidFill>
                  <a:srgbClr val="0B0C0C"/>
                </a:solidFill>
                <a:effectLst/>
                <a:latin typeface="GDS Transport"/>
              </a:rPr>
              <a:t>Furthermore, you will find other opportunities to work on real world projects and collaborate with government through roles in data at research institutes. </a:t>
            </a:r>
          </a:p>
          <a:p>
            <a:pPr marL="0" indent="0">
              <a:buFont typeface="Arial" panose="020B0604020202020204" pitchFamily="34" charset="0"/>
              <a:buNone/>
            </a:pPr>
            <a:r>
              <a:rPr lang="en-GB" sz="4300" b="0" i="0" dirty="0">
                <a:solidFill>
                  <a:srgbClr val="0B0C0C"/>
                </a:solidFill>
                <a:effectLst/>
                <a:latin typeface="GDS Transport"/>
              </a:rPr>
              <a:t>You’ve already heard a bit about the Alan Turing Institute, but numerous institutes exist for different purposes. </a:t>
            </a:r>
          </a:p>
          <a:p>
            <a:pPr marL="0" indent="0">
              <a:buFont typeface="Arial" panose="020B0604020202020204" pitchFamily="34" charset="0"/>
              <a:buNone/>
            </a:pPr>
            <a:r>
              <a:rPr lang="en-GB" sz="4300" b="0" i="0" dirty="0">
                <a:solidFill>
                  <a:srgbClr val="0B0C0C"/>
                </a:solidFill>
                <a:effectLst/>
                <a:latin typeface="GDS Transport"/>
              </a:rPr>
              <a:t>UK Research and Innovation is a non-departmental government body providing funding to researchers, businesses and other organisations for research purposes. </a:t>
            </a:r>
          </a:p>
          <a:p>
            <a:pPr marL="0" indent="0">
              <a:buFont typeface="Arial" panose="020B0604020202020204" pitchFamily="34" charset="0"/>
              <a:buNone/>
            </a:pPr>
            <a:r>
              <a:rPr lang="en-GB" sz="4300" b="0" i="0" dirty="0">
                <a:solidFill>
                  <a:srgbClr val="0B0C0C"/>
                </a:solidFill>
                <a:effectLst/>
                <a:latin typeface="GDS Transport"/>
              </a:rPr>
              <a:t>HDR UK is the national institute for health data research.</a:t>
            </a:r>
          </a:p>
          <a:p>
            <a:pPr marL="0" indent="0">
              <a:buFont typeface="Arial" panose="020B0604020202020204" pitchFamily="34" charset="0"/>
              <a:buNone/>
            </a:pPr>
            <a:r>
              <a:rPr lang="en-GB" sz="4300" b="0" i="0" dirty="0" err="1">
                <a:solidFill>
                  <a:srgbClr val="0B0C0C"/>
                </a:solidFill>
                <a:effectLst/>
                <a:latin typeface="GDS Transport"/>
              </a:rPr>
              <a:t>Wellcome</a:t>
            </a:r>
            <a:r>
              <a:rPr lang="en-GB" sz="4300" b="0" i="0" dirty="0">
                <a:solidFill>
                  <a:srgbClr val="0B0C0C"/>
                </a:solidFill>
                <a:effectLst/>
                <a:latin typeface="GDS Transport"/>
              </a:rPr>
              <a:t> is a charitable foundation supporting science to solve health challenges.  </a:t>
            </a:r>
          </a:p>
          <a:p>
            <a:pPr marL="0" indent="0">
              <a:buFont typeface="Arial" panose="020B0604020202020204" pitchFamily="34" charset="0"/>
              <a:buNone/>
            </a:pPr>
            <a:endParaRPr lang="en-GB" b="0" i="0" dirty="0">
              <a:solidFill>
                <a:srgbClr val="0B0C0C"/>
              </a:solidFill>
              <a:effectLst/>
              <a:latin typeface="GDS Transport"/>
            </a:endParaRPr>
          </a:p>
          <a:p>
            <a:r>
              <a:rPr lang="en-GB" sz="4300" b="0" i="0" dirty="0">
                <a:solidFill>
                  <a:srgbClr val="0B0C0C"/>
                </a:solidFill>
                <a:effectLst/>
                <a:latin typeface="GDS Transport"/>
              </a:rPr>
              <a:t>Many roles exist in other areas, such as Industry, or NGOs, but we are not going to focus on those in this talk</a:t>
            </a:r>
            <a:r>
              <a:rPr lang="en-GB" sz="4300" dirty="0">
                <a:solidFill>
                  <a:srgbClr val="0B0C0C"/>
                </a:solidFill>
                <a:latin typeface="GDS Transport"/>
              </a:rPr>
              <a:t> </a:t>
            </a:r>
            <a:endParaRPr lang="en-GB" sz="4300" dirty="0"/>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21</a:t>
            </a:fld>
            <a:endParaRPr lang="en-GB" altLang="en-US"/>
          </a:p>
        </p:txBody>
      </p:sp>
    </p:spTree>
    <p:extLst>
      <p:ext uri="{BB962C8B-B14F-4D97-AF65-F5344CB8AC3E}">
        <p14:creationId xmlns:p14="http://schemas.microsoft.com/office/powerpoint/2010/main" val="2233539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dirty="0"/>
              <a:t>Host:</a:t>
            </a:r>
          </a:p>
          <a:p>
            <a:pPr>
              <a:lnSpc>
                <a:spcPct val="107000"/>
              </a:lnSpc>
              <a:spcAft>
                <a:spcPts val="800"/>
              </a:spcAft>
            </a:pPr>
            <a:r>
              <a:rPr lang="en-GB" sz="1800" kern="100" dirty="0">
                <a:effectLst/>
                <a:latin typeface="Calibri Light"/>
                <a:ea typeface="Calibri"/>
                <a:cs typeface="Calibri Light"/>
              </a:rPr>
              <a:t>We’ll start with defence and security </a:t>
            </a:r>
            <a:r>
              <a:rPr lang="en-GB" sz="1800" kern="100" dirty="0">
                <a:latin typeface="Calibri Light"/>
                <a:ea typeface="Calibri"/>
                <a:cs typeface="Calibri Light"/>
              </a:rPr>
              <a:t>careers: benefits</a:t>
            </a:r>
            <a:r>
              <a:rPr lang="en-GB" sz="1800" kern="100" dirty="0">
                <a:effectLst/>
                <a:latin typeface="Calibri Light"/>
                <a:ea typeface="Calibri"/>
                <a:cs typeface="Calibri Light"/>
              </a:rPr>
              <a:t>, roles and routes in. There are a number or data science or related roles within ‘UK intelligence agencies’.</a:t>
            </a:r>
          </a:p>
          <a:p>
            <a:pPr>
              <a:lnSpc>
                <a:spcPct val="107000"/>
              </a:lnSpc>
              <a:spcAft>
                <a:spcPts val="800"/>
              </a:spcAft>
            </a:pPr>
            <a:endParaRPr lang="en-GB" sz="1800" kern="100" dirty="0">
              <a:latin typeface="Calibri Light"/>
              <a:ea typeface="Calibri"/>
              <a:cs typeface="Calibri Light"/>
            </a:endParaRPr>
          </a:p>
          <a:p>
            <a:pPr>
              <a:lnSpc>
                <a:spcPct val="107000"/>
              </a:lnSpc>
              <a:spcAft>
                <a:spcPts val="800"/>
              </a:spcAft>
            </a:pPr>
            <a:r>
              <a:rPr lang="en-GB" sz="1800" i="1" kern="100" dirty="0">
                <a:latin typeface="Calibri Light"/>
                <a:ea typeface="Calibri"/>
                <a:cs typeface="Calibri Light"/>
              </a:rPr>
              <a:t>Employers appear first then start clicking to reveal the benefits</a:t>
            </a:r>
          </a:p>
          <a:p>
            <a:pPr>
              <a:lnSpc>
                <a:spcPct val="107000"/>
              </a:lnSpc>
              <a:spcAft>
                <a:spcPts val="800"/>
              </a:spcAft>
            </a:pPr>
            <a:r>
              <a:rPr lang="en-GB" sz="1800" kern="100" dirty="0">
                <a:effectLst/>
                <a:latin typeface="Calibri Light"/>
                <a:ea typeface="Calibri"/>
                <a:cs typeface="Calibri Light"/>
              </a:rPr>
              <a:t> </a:t>
            </a:r>
          </a:p>
          <a:p>
            <a:pPr>
              <a:lnSpc>
                <a:spcPct val="107000"/>
              </a:lnSpc>
              <a:spcAft>
                <a:spcPts val="800"/>
              </a:spcAft>
            </a:pPr>
            <a:r>
              <a:rPr lang="en-GB" sz="1800" kern="100" dirty="0">
                <a:effectLst/>
                <a:latin typeface="Calibri Light"/>
                <a:ea typeface="Calibri"/>
                <a:cs typeface="Calibri Light"/>
              </a:rPr>
              <a:t>You will have many </a:t>
            </a:r>
            <a:r>
              <a:rPr lang="en-GB" sz="1800" b="1" u="sng" kern="100" dirty="0">
                <a:effectLst/>
                <a:latin typeface="Calibri Light"/>
                <a:ea typeface="Calibri"/>
                <a:cs typeface="Calibri Light"/>
              </a:rPr>
              <a:t>benefits such as</a:t>
            </a:r>
            <a:r>
              <a:rPr lang="en-GB" sz="1800" b="0" u="none" kern="100" dirty="0">
                <a:effectLst/>
                <a:latin typeface="Calibri Light"/>
                <a:ea typeface="Calibri"/>
                <a:cs typeface="Calibri Light"/>
              </a:rPr>
              <a:t> (</a:t>
            </a:r>
            <a:r>
              <a:rPr lang="en-GB" sz="1800" b="0" i="1" u="none" kern="100" dirty="0">
                <a:effectLst/>
                <a:latin typeface="Calibri Light"/>
                <a:ea typeface="Calibri"/>
                <a:cs typeface="Calibri Light"/>
              </a:rPr>
              <a:t>read from the screen)</a:t>
            </a:r>
            <a:endParaRPr lang="en-GB" sz="1800" kern="100" dirty="0">
              <a:effectLst/>
              <a:latin typeface="Calibri Light"/>
              <a:ea typeface="Calibri"/>
              <a:cs typeface="Calibri Light"/>
            </a:endParaRPr>
          </a:p>
          <a:p>
            <a:pPr marL="342900" lvl="0" indent="-342900">
              <a:lnSpc>
                <a:spcPct val="107000"/>
              </a:lnSpc>
              <a:spcAft>
                <a:spcPts val="800"/>
              </a:spcAft>
              <a:buFont typeface="Calibri" panose="020F0502020204030204" pitchFamily="34" charset="0"/>
              <a:buChar char="-"/>
              <a:tabLst>
                <a:tab pos="457200" algn="l"/>
              </a:tabLst>
            </a:pPr>
            <a:r>
              <a:rPr lang="en-GB" sz="1800" kern="100" dirty="0">
                <a:effectLst/>
                <a:latin typeface="Calibri Light"/>
                <a:ea typeface="Calibri"/>
                <a:cs typeface="Calibri Light"/>
              </a:rPr>
              <a:t>Exclusive projects not accessible in commercial sectors, to contribute to keeping the UK safe.</a:t>
            </a:r>
          </a:p>
          <a:p>
            <a:pPr marL="342900" lvl="0" indent="-342900">
              <a:lnSpc>
                <a:spcPct val="107000"/>
              </a:lnSpc>
              <a:spcAft>
                <a:spcPts val="800"/>
              </a:spcAft>
              <a:buFont typeface="Calibri" panose="020F0502020204030204" pitchFamily="34" charset="0"/>
              <a:buChar char="-"/>
              <a:tabLst>
                <a:tab pos="457200" algn="l"/>
              </a:tabLst>
            </a:pPr>
            <a:r>
              <a:rPr lang="en-GB" sz="1800" kern="100" dirty="0">
                <a:effectLst/>
                <a:latin typeface="Calibri Light"/>
                <a:ea typeface="Calibri"/>
                <a:cs typeface="Calibri Light"/>
              </a:rPr>
              <a:t>Opportunities to work on interesting and challenging research problems.</a:t>
            </a:r>
          </a:p>
          <a:p>
            <a:pPr marL="342900" lvl="0" indent="-342900">
              <a:lnSpc>
                <a:spcPct val="107000"/>
              </a:lnSpc>
              <a:spcAft>
                <a:spcPts val="800"/>
              </a:spcAft>
              <a:buFont typeface="Calibri,Sans-Serif"/>
              <a:buChar char="-"/>
              <a:tabLst>
                <a:tab pos="457200" algn="l"/>
              </a:tabLst>
            </a:pPr>
            <a:r>
              <a:rPr lang="en-GB" sz="1800" kern="100" dirty="0">
                <a:effectLst/>
                <a:latin typeface="Calibri Light"/>
                <a:ea typeface="Calibri"/>
                <a:cs typeface="Calibri Light"/>
              </a:rPr>
              <a:t>Great job satisfaction, work life balance and flexible working</a:t>
            </a:r>
          </a:p>
          <a:p>
            <a:pPr marL="342900" lvl="0" indent="-342900">
              <a:lnSpc>
                <a:spcPct val="107000"/>
              </a:lnSpc>
              <a:spcAft>
                <a:spcPts val="800"/>
              </a:spcAft>
              <a:buFont typeface="Calibri" panose="020F0502020204030204" pitchFamily="34" charset="0"/>
              <a:buChar char="-"/>
              <a:tabLst>
                <a:tab pos="457200" algn="l"/>
              </a:tabLst>
            </a:pPr>
            <a:r>
              <a:rPr lang="en-GB" sz="1800" kern="100" dirty="0">
                <a:effectLst/>
                <a:latin typeface="Calibri Light"/>
                <a:ea typeface="Calibri"/>
                <a:cs typeface="Calibri Light"/>
              </a:rPr>
              <a:t>Inspiring and motivated colleagues within an organisation dedicated to building on its diversity</a:t>
            </a:r>
          </a:p>
          <a:p>
            <a:pPr marL="342900" lvl="0" indent="-342900">
              <a:lnSpc>
                <a:spcPct val="107000"/>
              </a:lnSpc>
              <a:spcAft>
                <a:spcPts val="800"/>
              </a:spcAft>
              <a:buFont typeface="Calibri" panose="020F0502020204030204" pitchFamily="34" charset="0"/>
              <a:buChar char="-"/>
              <a:tabLst>
                <a:tab pos="457200" algn="l"/>
              </a:tabLst>
            </a:pPr>
            <a:r>
              <a:rPr lang="en-GB" sz="1800" kern="100" dirty="0">
                <a:effectLst/>
                <a:latin typeface="Calibri Light"/>
                <a:ea typeface="Calibri"/>
                <a:cs typeface="Calibri Light"/>
              </a:rPr>
              <a:t>Job security in a protected critical sector</a:t>
            </a:r>
          </a:p>
          <a:p>
            <a:pPr marL="342900" lvl="0" indent="-342900">
              <a:lnSpc>
                <a:spcPct val="107000"/>
              </a:lnSpc>
              <a:spcAft>
                <a:spcPts val="800"/>
              </a:spcAft>
              <a:buFont typeface="Calibri" panose="020F0502020204030204" pitchFamily="34" charset="0"/>
              <a:buChar char="-"/>
              <a:tabLst>
                <a:tab pos="457200" algn="l"/>
              </a:tabLst>
            </a:pPr>
            <a:endParaRPr lang="en-GB" sz="1800" kern="100" dirty="0">
              <a:effectLst/>
              <a:latin typeface="Calibri Light" panose="020F03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Font typeface="Calibri" panose="020F0502020204030204" pitchFamily="34" charset="0"/>
              <a:buNone/>
              <a:tabLst>
                <a:tab pos="457200" algn="l"/>
              </a:tabLst>
            </a:pPr>
            <a:r>
              <a:rPr lang="en-GB" sz="1800" b="1" u="sng" kern="100" dirty="0">
                <a:effectLst/>
                <a:latin typeface="Calibri Light"/>
                <a:ea typeface="Calibri"/>
                <a:cs typeface="Calibri Light"/>
              </a:rPr>
              <a:t>Notes:</a:t>
            </a:r>
          </a:p>
          <a:p>
            <a:pPr marL="0" lvl="0" indent="0">
              <a:lnSpc>
                <a:spcPct val="107000"/>
              </a:lnSpc>
              <a:spcAft>
                <a:spcPts val="800"/>
              </a:spcAft>
              <a:buFont typeface="Calibri" panose="020F0502020204030204" pitchFamily="34" charset="0"/>
              <a:buNone/>
              <a:tabLst>
                <a:tab pos="457200" algn="l"/>
              </a:tabLst>
            </a:pPr>
            <a:r>
              <a:rPr lang="en-GB" sz="1800" b="0" u="none" kern="100" dirty="0">
                <a:effectLst/>
                <a:latin typeface="Calibri Light"/>
                <a:ea typeface="Calibri"/>
                <a:cs typeface="Calibri Light"/>
              </a:rPr>
              <a:t>Please highlight the benefits.</a:t>
            </a: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22</a:t>
            </a:fld>
            <a:endParaRPr lang="en-GB" altLang="en-US"/>
          </a:p>
        </p:txBody>
      </p:sp>
    </p:spTree>
    <p:extLst>
      <p:ext uri="{BB962C8B-B14F-4D97-AF65-F5344CB8AC3E}">
        <p14:creationId xmlns:p14="http://schemas.microsoft.com/office/powerpoint/2010/main" val="1197319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a:t>Host:</a:t>
            </a:r>
          </a:p>
          <a:p>
            <a:pPr>
              <a:lnSpc>
                <a:spcPct val="107000"/>
              </a:lnSpc>
              <a:spcAft>
                <a:spcPts val="800"/>
              </a:spcAft>
            </a:pPr>
            <a:endParaRPr lang="en-GB" sz="1800" b="1" u="sng">
              <a:latin typeface="Calibri"/>
              <a:ea typeface="Calibri"/>
              <a:cs typeface="Calibri"/>
            </a:endParaRPr>
          </a:p>
          <a:p>
            <a:pPr>
              <a:lnSpc>
                <a:spcPct val="107000"/>
              </a:lnSpc>
              <a:spcAft>
                <a:spcPts val="800"/>
              </a:spcAft>
            </a:pPr>
            <a:r>
              <a:rPr lang="en-GB" sz="4300"/>
              <a:t>Here are some quotes from people who actually worked at GCHQ</a:t>
            </a:r>
            <a:endParaRPr lang="en-GB" sz="1800" kern="100">
              <a:latin typeface="Calibri Light"/>
              <a:cs typeface="Calibri Light"/>
            </a:endParaRPr>
          </a:p>
          <a:p>
            <a:pPr>
              <a:lnSpc>
                <a:spcPct val="107000"/>
              </a:lnSpc>
              <a:spcAft>
                <a:spcPts val="800"/>
              </a:spcAft>
            </a:pPr>
            <a:r>
              <a:rPr lang="en-GB" sz="1800" i="1" kern="100">
                <a:latin typeface="Calibri Light"/>
                <a:ea typeface="Calibri"/>
                <a:cs typeface="Calibri Light"/>
              </a:rPr>
              <a:t>Allow</a:t>
            </a:r>
            <a:r>
              <a:rPr lang="en-GB" sz="1800" i="1" kern="100">
                <a:effectLst/>
                <a:latin typeface="Calibri Light"/>
                <a:ea typeface="Calibri"/>
                <a:cs typeface="Calibri Light"/>
              </a:rPr>
              <a:t> students some time to read through the quotes</a:t>
            </a:r>
            <a:r>
              <a:rPr lang="en-GB" sz="1800" i="1" kern="100">
                <a:latin typeface="Calibri Light"/>
                <a:ea typeface="Calibri"/>
                <a:cs typeface="Calibri Light"/>
              </a:rPr>
              <a:t> (quotes appear one at a time)</a:t>
            </a:r>
            <a:endParaRPr lang="en-GB" sz="1800" kern="100">
              <a:effectLst/>
              <a:latin typeface="Calibri Light"/>
              <a:ea typeface="Calibri"/>
              <a:cs typeface="Calibri Light"/>
            </a:endParaRPr>
          </a:p>
          <a:p>
            <a:pPr>
              <a:lnSpc>
                <a:spcPct val="107000"/>
              </a:lnSpc>
              <a:spcAft>
                <a:spcPts val="800"/>
              </a:spcAft>
            </a:pPr>
            <a:endParaRPr lang="en-GB" sz="1800" i="1" kern="100">
              <a:latin typeface="Calibri Light"/>
              <a:ea typeface="Calibri"/>
              <a:cs typeface="Calibri Light"/>
            </a:endParaRPr>
          </a:p>
          <a:p>
            <a:pPr>
              <a:lnSpc>
                <a:spcPct val="107000"/>
              </a:lnSpc>
              <a:spcAft>
                <a:spcPts val="800"/>
              </a:spcAft>
            </a:pPr>
            <a:r>
              <a:rPr lang="en-GB" sz="1800" b="1" i="1" kern="100">
                <a:latin typeface="Calibri Light"/>
                <a:ea typeface="Calibri"/>
                <a:cs typeface="Calibri Light"/>
              </a:rPr>
              <a:t>Read key parts of the quotes out loud, but not the full quote – just summarise</a:t>
            </a:r>
          </a:p>
          <a:p>
            <a:pPr>
              <a:lnSpc>
                <a:spcPct val="107000"/>
              </a:lnSpc>
              <a:spcAft>
                <a:spcPts val="800"/>
              </a:spcAft>
            </a:pPr>
            <a:endParaRPr lang="en-GB" sz="1800" i="1" kern="100">
              <a:latin typeface="Calibri Light"/>
              <a:ea typeface="Calibri"/>
              <a:cs typeface="Calibri Light"/>
            </a:endParaRPr>
          </a:p>
          <a:p>
            <a:pPr>
              <a:lnSpc>
                <a:spcPct val="107000"/>
              </a:lnSpc>
              <a:spcAft>
                <a:spcPts val="800"/>
              </a:spcAft>
            </a:pPr>
            <a:endParaRPr lang="en-GB" sz="1800" i="1" kern="100">
              <a:latin typeface="Calibri Light"/>
              <a:ea typeface="Calibri"/>
              <a:cs typeface="Calibri Light"/>
            </a:endParaRPr>
          </a:p>
          <a:p>
            <a:pPr>
              <a:lnSpc>
                <a:spcPct val="107000"/>
              </a:lnSpc>
              <a:spcAft>
                <a:spcPts val="800"/>
              </a:spcAft>
            </a:pPr>
            <a:endParaRPr lang="en-GB" sz="1800" i="1" kern="100">
              <a:latin typeface="Calibri Light"/>
              <a:ea typeface="Calibri"/>
              <a:cs typeface="Calibri Light"/>
            </a:endParaRPr>
          </a:p>
          <a:p>
            <a:pPr>
              <a:lnSpc>
                <a:spcPct val="107000"/>
              </a:lnSpc>
              <a:spcAft>
                <a:spcPts val="800"/>
              </a:spcAft>
            </a:pPr>
            <a:r>
              <a:rPr lang="en-GB" sz="1800" i="1" kern="100">
                <a:effectLst/>
                <a:latin typeface="Calibri Light"/>
                <a:ea typeface="Calibri"/>
                <a:cs typeface="Calibri Light"/>
              </a:rPr>
              <a:t>“The thing I enjoy most about my role is the fact that I get to work on some cool projects that help to safeguard the UK. Also, the fact that I get to work with a wide variety of people, all of whom are always willing to help and talk about what they do.” </a:t>
            </a:r>
            <a:endParaRPr lang="en-GB" sz="1800" kern="100">
              <a:effectLst/>
              <a:latin typeface="Calibri Light"/>
              <a:ea typeface="Calibri"/>
              <a:cs typeface="Calibri Light"/>
            </a:endParaRPr>
          </a:p>
          <a:p>
            <a:pPr>
              <a:lnSpc>
                <a:spcPct val="107000"/>
              </a:lnSpc>
              <a:spcAft>
                <a:spcPts val="800"/>
              </a:spcAft>
            </a:pPr>
            <a:r>
              <a:rPr lang="en-GB" sz="1800" b="1" i="1" kern="100">
                <a:effectLst/>
                <a:latin typeface="Calibri Light"/>
                <a:ea typeface="Calibri"/>
                <a:cs typeface="Calibri Light"/>
              </a:rPr>
              <a:t>- </a:t>
            </a:r>
            <a:r>
              <a:rPr lang="en-GB" sz="1800" b="1" kern="100">
                <a:effectLst/>
                <a:latin typeface="Calibri Light"/>
                <a:ea typeface="Calibri"/>
                <a:cs typeface="Calibri Light"/>
              </a:rPr>
              <a:t>Lisa, GCHQ</a:t>
            </a:r>
            <a:endParaRPr lang="en-GB" sz="1800" kern="100">
              <a:effectLst/>
              <a:latin typeface="Calibri Light"/>
              <a:ea typeface="Calibri"/>
              <a:cs typeface="Calibri Light"/>
            </a:endParaRPr>
          </a:p>
          <a:p>
            <a:pPr>
              <a:lnSpc>
                <a:spcPct val="107000"/>
              </a:lnSpc>
              <a:spcAft>
                <a:spcPts val="800"/>
              </a:spcAft>
            </a:pPr>
            <a:r>
              <a:rPr lang="en-GB" sz="1800" i="1" kern="100">
                <a:effectLst/>
                <a:latin typeface="Calibri Light"/>
                <a:ea typeface="Calibri"/>
                <a:cs typeface="Calibri Light"/>
              </a:rPr>
              <a:t>One of the main challenges of the role is the fact that Cyber Security is constantly developing day by day, so my knowledge and thinking is constantly being challenged alongside it. It is quite a good challenge as it means that I am never bored and learning it is very interesting, especially when you can apply the learning to a real work problem!” </a:t>
            </a:r>
            <a:endParaRPr lang="en-GB" sz="1800" kern="100">
              <a:effectLst/>
              <a:latin typeface="Calibri Light"/>
              <a:ea typeface="Calibri"/>
              <a:cs typeface="Calibri Light"/>
            </a:endParaRPr>
          </a:p>
          <a:p>
            <a:pPr>
              <a:lnSpc>
                <a:spcPct val="107000"/>
              </a:lnSpc>
              <a:spcAft>
                <a:spcPts val="800"/>
              </a:spcAft>
            </a:pPr>
            <a:r>
              <a:rPr lang="en-GB" sz="1800" b="1" i="1" kern="100">
                <a:effectLst/>
                <a:latin typeface="Calibri Light"/>
                <a:ea typeface="Calibri"/>
                <a:cs typeface="Calibri Light"/>
              </a:rPr>
              <a:t>- </a:t>
            </a:r>
            <a:r>
              <a:rPr lang="en-GB" sz="1800" b="1" kern="100">
                <a:effectLst/>
                <a:latin typeface="Calibri Light"/>
                <a:ea typeface="Calibri"/>
                <a:cs typeface="Calibri Light"/>
              </a:rPr>
              <a:t>Verity, GCHQ</a:t>
            </a:r>
          </a:p>
          <a:p>
            <a:pPr>
              <a:lnSpc>
                <a:spcPct val="107000"/>
              </a:lnSpc>
              <a:spcAft>
                <a:spcPts val="800"/>
              </a:spcAft>
            </a:pPr>
            <a:endParaRPr lang="en-GB" sz="1800" b="1" kern="10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sz="1800" b="1" u="sng" kern="100">
              <a:effectLst/>
              <a:latin typeface="Calibri Light"/>
              <a:ea typeface="Calibri" panose="020F0502020204030204" pitchFamily="34" charset="0"/>
              <a:cs typeface="Calibri Light"/>
            </a:endParaRPr>
          </a:p>
          <a:p>
            <a:pPr>
              <a:lnSpc>
                <a:spcPct val="107000"/>
              </a:lnSpc>
              <a:spcAft>
                <a:spcPts val="800"/>
              </a:spcAft>
            </a:pPr>
            <a:r>
              <a:rPr lang="en-GB" sz="1800" kern="100">
                <a:effectLst/>
                <a:latin typeface="Calibri Light"/>
                <a:ea typeface="Calibri"/>
                <a:cs typeface="Calibri Light"/>
              </a:rPr>
              <a:t> </a:t>
            </a: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23</a:t>
            </a:fld>
            <a:endParaRPr lang="en-GB" altLang="en-US"/>
          </a:p>
        </p:txBody>
      </p:sp>
    </p:spTree>
    <p:extLst>
      <p:ext uri="{BB962C8B-B14F-4D97-AF65-F5344CB8AC3E}">
        <p14:creationId xmlns:p14="http://schemas.microsoft.com/office/powerpoint/2010/main" val="4005727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4400" b="1" u="sng"/>
              <a:t>Host: </a:t>
            </a:r>
            <a:r>
              <a:rPr lang="en-GB" sz="4300" i="1"/>
              <a:t>Remind the students that links for some of the graduate programmes, internships and placements and websites with direct roles can be accessed by signing up to our mailing list.</a:t>
            </a:r>
          </a:p>
          <a:p>
            <a:pPr>
              <a:lnSpc>
                <a:spcPct val="107000"/>
              </a:lnSpc>
              <a:spcAft>
                <a:spcPts val="800"/>
              </a:spcAft>
            </a:pPr>
            <a:r>
              <a:rPr lang="en-US" sz="1100" b="1" kern="100">
                <a:effectLst/>
                <a:latin typeface="Calibri Light"/>
                <a:ea typeface="Calibri"/>
                <a:cs typeface="Calibri Light"/>
              </a:rPr>
              <a:t>Routes into </a:t>
            </a:r>
            <a:r>
              <a:rPr lang="en-US" sz="1100" b="1" kern="100" err="1">
                <a:effectLst/>
                <a:latin typeface="Calibri Light"/>
                <a:ea typeface="Calibri"/>
                <a:cs typeface="Calibri Light"/>
              </a:rPr>
              <a:t>Defence</a:t>
            </a:r>
            <a:r>
              <a:rPr lang="en-US" sz="1100" b="1" kern="100">
                <a:effectLst/>
                <a:latin typeface="Calibri Light"/>
                <a:ea typeface="Calibri"/>
                <a:cs typeface="Calibri Light"/>
              </a:rPr>
              <a:t> and Security Data Science</a:t>
            </a:r>
            <a:endParaRPr lang="en-GB" sz="1100" kern="100">
              <a:effectLst/>
              <a:latin typeface="Calibri Light"/>
              <a:ea typeface="Calibri"/>
              <a:cs typeface="Calibri Light"/>
            </a:endParaRPr>
          </a:p>
          <a:p>
            <a:pPr marL="742950" lvl="1" indent="-285750">
              <a:lnSpc>
                <a:spcPct val="107000"/>
              </a:lnSpc>
              <a:spcAft>
                <a:spcPts val="800"/>
              </a:spcAft>
              <a:buFont typeface="Times New Roman" panose="02020603050405020304" pitchFamily="18" charset="0"/>
              <a:buChar char="•"/>
              <a:tabLst>
                <a:tab pos="914400" algn="l"/>
              </a:tabLst>
            </a:pPr>
            <a:r>
              <a:rPr lang="en-GB" sz="1100" kern="100">
                <a:latin typeface="Calibri Light"/>
                <a:ea typeface="Calibri"/>
                <a:cs typeface="Calibri Light"/>
              </a:rPr>
              <a:t>There is the Early</a:t>
            </a:r>
            <a:r>
              <a:rPr lang="en-GB" sz="1100" kern="100">
                <a:effectLst/>
                <a:latin typeface="Calibri Light"/>
                <a:ea typeface="Calibri"/>
                <a:cs typeface="Calibri Light"/>
              </a:rPr>
              <a:t> Careers Network </a:t>
            </a:r>
            <a:r>
              <a:rPr lang="en-GB" sz="1100" kern="100">
                <a:latin typeface="Calibri Light"/>
                <a:ea typeface="Calibri"/>
                <a:cs typeface="Calibri Light"/>
              </a:rPr>
              <a:t>which </a:t>
            </a:r>
            <a:r>
              <a:rPr lang="en-GB" sz="1100" kern="100">
                <a:effectLst/>
                <a:latin typeface="Calibri Light"/>
                <a:ea typeface="Calibri"/>
                <a:cs typeface="Calibri Light"/>
              </a:rPr>
              <a:t>is a joint collaboration from MI5, MI6 and GCHQ. There are opportunities for everyone, from school leavers to graduates and some opportunities are paid. You will need to look through the opportunities available to see which are available to undergraduates.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You will get links to the Early Careers Network opportunities when you sign up to receive further details, either via the Institute’s mailing list or directly on D&amp;S websites.</a:t>
            </a:r>
          </a:p>
          <a:p>
            <a:pPr>
              <a:lnSpc>
                <a:spcPct val="107000"/>
              </a:lnSpc>
              <a:spcAft>
                <a:spcPts val="800"/>
              </a:spcAft>
            </a:pPr>
            <a:r>
              <a:rPr lang="en-GB" sz="1100" kern="100">
                <a:effectLst/>
                <a:latin typeface="Calibri Light"/>
                <a:ea typeface="Calibri"/>
                <a:cs typeface="Calibri Light"/>
              </a:rPr>
              <a:t>Some example opportunities with intelligence agencies are </a:t>
            </a:r>
            <a:r>
              <a:rPr lang="en-GB" sz="1100" i="1" kern="100">
                <a:effectLst/>
                <a:latin typeface="Calibri Light"/>
                <a:ea typeface="Calibri"/>
                <a:cs typeface="Calibri Light"/>
              </a:rPr>
              <a:t>(read from screen)</a:t>
            </a:r>
            <a:endParaRPr lang="en-GB" sz="1100" kern="100">
              <a:effectLst/>
              <a:latin typeface="Calibri Light"/>
              <a:ea typeface="Calibri"/>
              <a:cs typeface="Calibri Light"/>
            </a:endParaRP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Graduate Programmes and entry Schemes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Intelligence and Data Analyst Development Programme </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Technology Graduate Development Programme</a:t>
            </a: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Internships and placements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Tech internship</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Summer Programmes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Internship programmes </a:t>
            </a:r>
          </a:p>
          <a:p>
            <a:pPr marL="34290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Graduate roles</a:t>
            </a:r>
            <a:r>
              <a:rPr lang="en-GB" sz="1100" kern="100">
                <a:latin typeface="Calibri Light"/>
                <a:ea typeface="Calibri"/>
                <a:cs typeface="Calibri Light"/>
              </a:rPr>
              <a:t> (specific roles)</a:t>
            </a:r>
            <a:endParaRPr lang="en-GB" sz="1100" kern="100">
              <a:effectLst/>
              <a:latin typeface="Calibri Light"/>
              <a:ea typeface="Calibri"/>
              <a:cs typeface="Calibri Light"/>
            </a:endParaRP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Intelligence data analyst</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Cyber operations</a:t>
            </a:r>
          </a:p>
          <a:p>
            <a:pPr>
              <a:lnSpc>
                <a:spcPct val="107000"/>
              </a:lnSpc>
              <a:spcAft>
                <a:spcPts val="800"/>
              </a:spcAft>
            </a:pPr>
            <a:r>
              <a:rPr lang="en-GB" sz="1100" b="1" u="sng" kern="100">
                <a:effectLst/>
                <a:latin typeface="Calibri Light"/>
                <a:ea typeface="Calibri"/>
                <a:cs typeface="Calibri Light"/>
              </a:rPr>
              <a:t>Important to know </a:t>
            </a:r>
            <a:endParaRPr lang="en-GB" sz="1100" kern="100">
              <a:effectLst/>
              <a:latin typeface="Calibri Light"/>
              <a:ea typeface="Calibri"/>
              <a:cs typeface="Calibri Light"/>
            </a:endParaRP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Some roles are only open to British Citizens with a residency requirement (between 5-10 years).</a:t>
            </a: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You will have to undergo security vetting which can mean a long application process.</a:t>
            </a: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Intelligence agencies operate a strict drugs policy.   </a:t>
            </a: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Visa sponsorship </a:t>
            </a:r>
            <a:r>
              <a:rPr lang="en-GB" sz="1100" i="1" kern="100">
                <a:effectLst/>
                <a:latin typeface="Calibri Light"/>
                <a:ea typeface="Calibri"/>
                <a:cs typeface="Calibri Light"/>
              </a:rPr>
              <a:t>is </a:t>
            </a:r>
            <a:r>
              <a:rPr lang="en-GB" sz="1100" kern="100">
                <a:effectLst/>
                <a:latin typeface="Calibri Light"/>
                <a:ea typeface="Calibri"/>
                <a:cs typeface="Calibri Light"/>
              </a:rPr>
              <a:t>available for </a:t>
            </a:r>
            <a:r>
              <a:rPr lang="en-GB" sz="1100" i="1" kern="100">
                <a:effectLst/>
                <a:latin typeface="Calibri Light"/>
                <a:ea typeface="Calibri"/>
                <a:cs typeface="Calibri Light"/>
              </a:rPr>
              <a:t>some</a:t>
            </a:r>
            <a:r>
              <a:rPr lang="en-GB" sz="1100" kern="100">
                <a:effectLst/>
                <a:latin typeface="Calibri Light"/>
                <a:ea typeface="Calibri"/>
                <a:cs typeface="Calibri Light"/>
              </a:rPr>
              <a:t> roles. </a:t>
            </a:r>
          </a:p>
          <a:p>
            <a:pPr lvl="0">
              <a:lnSpc>
                <a:spcPct val="107000"/>
              </a:lnSpc>
              <a:spcAft>
                <a:spcPts val="800"/>
              </a:spcAft>
              <a:tabLst>
                <a:tab pos="457200" algn="l"/>
              </a:tabLst>
            </a:pPr>
            <a:endParaRPr lang="en-GB" sz="1100" kern="10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GB" sz="1100" kern="100">
                <a:latin typeface="Calibri Light"/>
                <a:ea typeface="Calibri"/>
                <a:cs typeface="Calibri Light"/>
              </a:rPr>
              <a:t>Any restrictions should be specified on the job description</a:t>
            </a:r>
          </a:p>
          <a:p>
            <a:pPr>
              <a:lnSpc>
                <a:spcPct val="107000"/>
              </a:lnSpc>
              <a:spcAft>
                <a:spcPts val="800"/>
              </a:spcAft>
              <a:tabLst>
                <a:tab pos="457200" algn="l"/>
              </a:tabLst>
            </a:pPr>
            <a:endParaRPr lang="en-GB" sz="1100" kern="100">
              <a:latin typeface="Calibri Light"/>
              <a:ea typeface="Calibri"/>
              <a:cs typeface="Calibri Light"/>
            </a:endParaRPr>
          </a:p>
          <a:p>
            <a:pPr marL="0" lvl="0" indent="0">
              <a:lnSpc>
                <a:spcPct val="107000"/>
              </a:lnSpc>
              <a:spcAft>
                <a:spcPts val="800"/>
              </a:spcAft>
              <a:buFont typeface="Arial" panose="020B0604020202020204" pitchFamily="34" charset="0"/>
              <a:buNone/>
              <a:tabLst>
                <a:tab pos="457200" algn="l"/>
              </a:tabLst>
            </a:pPr>
            <a:r>
              <a:rPr lang="en-GB" sz="1100" b="1" u="sng" kern="100">
                <a:effectLst/>
                <a:latin typeface="Calibri Light"/>
                <a:ea typeface="Calibri"/>
                <a:cs typeface="Calibri Light"/>
              </a:rPr>
              <a:t>Notes:</a:t>
            </a:r>
          </a:p>
          <a:p>
            <a:pPr marL="0" lvl="0" indent="0">
              <a:lnSpc>
                <a:spcPct val="107000"/>
              </a:lnSpc>
              <a:spcAft>
                <a:spcPts val="800"/>
              </a:spcAft>
              <a:buFont typeface="Arial" panose="020B0604020202020204" pitchFamily="34" charset="0"/>
              <a:buNone/>
              <a:tabLst>
                <a:tab pos="457200" algn="l"/>
              </a:tabLst>
            </a:pPr>
            <a:r>
              <a:rPr lang="en-GB" sz="1100" b="0" u="none" kern="100">
                <a:effectLst/>
                <a:latin typeface="Calibri Light"/>
                <a:ea typeface="Calibri"/>
                <a:cs typeface="Calibri Light"/>
              </a:rPr>
              <a:t>It is worth being clear that only </a:t>
            </a:r>
            <a:r>
              <a:rPr lang="en-GB" sz="1100" b="0" i="1" u="none" kern="100">
                <a:effectLst/>
                <a:latin typeface="Calibri Light"/>
                <a:ea typeface="Calibri"/>
                <a:cs typeface="Calibri Light"/>
              </a:rPr>
              <a:t>a small proportion</a:t>
            </a:r>
            <a:r>
              <a:rPr lang="en-GB" sz="1100" b="0" i="0" u="none" kern="100">
                <a:effectLst/>
                <a:latin typeface="Calibri Light"/>
                <a:ea typeface="Calibri"/>
                <a:cs typeface="Calibri Light"/>
              </a:rPr>
              <a:t> of very specific roles within defence and security require you to be a British Citizen or to have a residency requirement. There are many more jobs within D&amp;S where this is not a requirement. Again, students will need to look out for job requirements when doing their research.</a:t>
            </a:r>
            <a:endParaRPr lang="en-GB" sz="1100" b="0" u="none" kern="100">
              <a:effectLst/>
              <a:latin typeface="Calibri Light"/>
              <a:ea typeface="Calibri"/>
              <a:cs typeface="Calibri Light"/>
            </a:endParaRPr>
          </a:p>
          <a:p>
            <a:pPr>
              <a:lnSpc>
                <a:spcPct val="107000"/>
              </a:lnSpc>
              <a:spcAft>
                <a:spcPts val="800"/>
              </a:spcAft>
            </a:pPr>
            <a:r>
              <a:rPr lang="en-GB" sz="1100" kern="100">
                <a:effectLst/>
                <a:latin typeface="Calibri Light"/>
                <a:ea typeface="Calibri"/>
                <a:cs typeface="Calibri Light"/>
              </a:rPr>
              <a:t> </a:t>
            </a:r>
          </a:p>
          <a:p>
            <a:pPr>
              <a:lnSpc>
                <a:spcPct val="107000"/>
              </a:lnSpc>
              <a:spcAft>
                <a:spcPts val="800"/>
              </a:spcAft>
            </a:pPr>
            <a:r>
              <a:rPr lang="en-GB" sz="1100" kern="100">
                <a:latin typeface="Calibri Light"/>
                <a:ea typeface="Calibri"/>
                <a:cs typeface="Calibri Light"/>
              </a:rPr>
              <a:t>Short version: look up restrictions specific to the roles </a:t>
            </a:r>
          </a:p>
          <a:p>
            <a:endParaRPr lang="en-GB">
              <a:ea typeface="Calibri"/>
              <a:cs typeface="Calibri"/>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24</a:t>
            </a:fld>
            <a:endParaRPr lang="en-GB" altLang="en-US"/>
          </a:p>
        </p:txBody>
      </p:sp>
    </p:spTree>
    <p:extLst>
      <p:ext uri="{BB962C8B-B14F-4D97-AF65-F5344CB8AC3E}">
        <p14:creationId xmlns:p14="http://schemas.microsoft.com/office/powerpoint/2010/main" val="4255415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a:t>Host:</a:t>
            </a:r>
          </a:p>
          <a:p>
            <a:pPr>
              <a:lnSpc>
                <a:spcPct val="107000"/>
              </a:lnSpc>
              <a:spcAft>
                <a:spcPts val="800"/>
              </a:spcAft>
              <a:defRPr/>
            </a:pPr>
            <a:r>
              <a:rPr lang="en-US" sz="1800" b="1" i="1" kern="100">
                <a:effectLst/>
                <a:latin typeface="Calibri Light"/>
                <a:ea typeface="Calibri"/>
                <a:cs typeface="Calibri Light"/>
              </a:rPr>
              <a:t>MI5 have several graduate videos and testimonials on their website that you can watch or read.</a:t>
            </a:r>
            <a:r>
              <a:rPr lang="en-US" sz="1800" b="1" i="1" kern="100">
                <a:latin typeface="Calibri Light"/>
                <a:ea typeface="Calibri"/>
                <a:cs typeface="Calibri Light"/>
              </a:rPr>
              <a:t> </a:t>
            </a:r>
            <a:endParaRPr lang="en-GB" sz="1800" kern="100">
              <a:latin typeface="Calibri Light"/>
              <a:ea typeface="Calibri"/>
              <a:cs typeface="Calibri Light"/>
            </a:endParaRPr>
          </a:p>
          <a:p>
            <a:pPr>
              <a:lnSpc>
                <a:spcPct val="107000"/>
              </a:lnSpc>
              <a:spcAft>
                <a:spcPts val="800"/>
              </a:spcAft>
              <a:defRPr/>
            </a:pPr>
            <a:r>
              <a:rPr lang="en-US" sz="4300" b="1" i="1" kern="100"/>
              <a:t>Can search for these yourself as further info </a:t>
            </a:r>
            <a:endParaRPr lang="en-US" sz="4300"/>
          </a:p>
          <a:p>
            <a:pPr>
              <a:lnSpc>
                <a:spcPct val="107000"/>
              </a:lnSpc>
              <a:spcAft>
                <a:spcPts val="800"/>
              </a:spcAft>
              <a:defRPr/>
            </a:pPr>
            <a:endParaRPr lang="en-US" sz="4300" b="1" i="1" kern="100">
              <a:latin typeface="Calibri"/>
              <a:ea typeface="Calibri"/>
              <a:cs typeface="Calibri"/>
            </a:endParaRPr>
          </a:p>
          <a:p>
            <a:pPr>
              <a:lnSpc>
                <a:spcPct val="107000"/>
              </a:lnSpc>
              <a:spcAft>
                <a:spcPts val="800"/>
              </a:spcAft>
              <a:defRPr/>
            </a:pPr>
            <a:r>
              <a:rPr lang="en-US" sz="4300" b="1" i="1" kern="100">
                <a:latin typeface="Calibri"/>
                <a:ea typeface="Calibri"/>
                <a:cs typeface="Calibri"/>
              </a:rPr>
              <a:t>(There might not be time to show this) </a:t>
            </a:r>
          </a:p>
          <a:p>
            <a:pPr>
              <a:lnSpc>
                <a:spcPct val="107000"/>
              </a:lnSpc>
              <a:spcAft>
                <a:spcPts val="800"/>
              </a:spcAft>
              <a:defRPr/>
            </a:pPr>
            <a:endParaRPr lang="en-US" sz="1800" b="1" i="1" kern="100">
              <a:latin typeface="Calibri Light"/>
              <a:ea typeface="Calibri"/>
              <a:cs typeface="Calibri Light"/>
            </a:endParaRPr>
          </a:p>
          <a:p>
            <a:pPr>
              <a:lnSpc>
                <a:spcPct val="107000"/>
              </a:lnSpc>
              <a:spcAft>
                <a:spcPts val="800"/>
              </a:spcAft>
              <a:defRPr/>
            </a:pPr>
            <a:r>
              <a:rPr lang="en-US" sz="1800" b="1" i="1" kern="100">
                <a:latin typeface="Calibri Light"/>
                <a:ea typeface="Calibri"/>
                <a:cs typeface="Calibri Light"/>
              </a:rPr>
              <a:t> </a:t>
            </a:r>
            <a:r>
              <a:rPr lang="en-US" sz="1800" b="0" i="0" kern="100">
                <a:effectLst/>
                <a:latin typeface="Calibri Light"/>
                <a:ea typeface="Calibri"/>
                <a:cs typeface="Calibri Light"/>
              </a:rPr>
              <a:t>Listed here is </a:t>
            </a:r>
            <a:r>
              <a:rPr lang="en-US" sz="1800" kern="100">
                <a:effectLst/>
                <a:latin typeface="Calibri Light"/>
                <a:ea typeface="Calibri"/>
                <a:cs typeface="Calibri Light"/>
              </a:rPr>
              <a:t>Lily, who was a student that undertook the Technology Graduate Development </a:t>
            </a:r>
            <a:r>
              <a:rPr lang="en-US" sz="1800" kern="100" err="1">
                <a:effectLst/>
                <a:latin typeface="Calibri Light"/>
                <a:ea typeface="Calibri"/>
                <a:cs typeface="Calibri Light"/>
              </a:rPr>
              <a:t>Programme</a:t>
            </a:r>
            <a:r>
              <a:rPr lang="en-US" sz="1800" kern="100">
                <a:effectLst/>
                <a:latin typeface="Calibri Light"/>
                <a:ea typeface="Calibri"/>
                <a:cs typeface="Calibri Light"/>
              </a:rPr>
              <a:t> at MI5. We’re going to watch this video today, to see what the undergraduate </a:t>
            </a:r>
            <a:r>
              <a:rPr lang="en-US" sz="1800" kern="100" err="1">
                <a:effectLst/>
                <a:latin typeface="Calibri Light"/>
                <a:ea typeface="Calibri"/>
                <a:cs typeface="Calibri Light"/>
              </a:rPr>
              <a:t>programmes</a:t>
            </a:r>
            <a:r>
              <a:rPr lang="en-US" sz="1800" kern="100">
                <a:effectLst/>
                <a:latin typeface="Calibri Light"/>
                <a:ea typeface="Calibri"/>
                <a:cs typeface="Calibri Light"/>
              </a:rPr>
              <a:t> are like.</a:t>
            </a:r>
            <a:endParaRPr lang="en-GB" sz="1800" kern="100">
              <a:effectLst/>
              <a:latin typeface="Calibri Light"/>
              <a:ea typeface="Calibri"/>
              <a:cs typeface="Calibri Light"/>
            </a:endParaRPr>
          </a:p>
          <a:p>
            <a:pPr>
              <a:lnSpc>
                <a:spcPct val="107000"/>
              </a:lnSpc>
              <a:spcAft>
                <a:spcPts val="800"/>
              </a:spcAft>
            </a:pPr>
            <a:endParaRPr lang="en-US" sz="1800" b="1" i="1" kern="10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i="0" u="sng" kern="100">
                <a:effectLst/>
                <a:latin typeface="Calibri Light"/>
                <a:ea typeface="Calibri"/>
                <a:cs typeface="Calibri Light"/>
              </a:rPr>
              <a:t>Notes:</a:t>
            </a:r>
          </a:p>
          <a:p>
            <a:pPr>
              <a:lnSpc>
                <a:spcPct val="107000"/>
              </a:lnSpc>
              <a:spcAft>
                <a:spcPts val="800"/>
              </a:spcAft>
            </a:pPr>
            <a:r>
              <a:rPr lang="en-US" sz="1800" b="0" i="0" kern="100">
                <a:effectLst/>
                <a:latin typeface="Calibri Light"/>
                <a:ea typeface="Calibri"/>
                <a:cs typeface="Calibri Light"/>
              </a:rPr>
              <a:t>Watch the video on Lily: </a:t>
            </a:r>
            <a:r>
              <a:rPr lang="en-GB" sz="1800" b="0" i="0" kern="100">
                <a:effectLst/>
                <a:latin typeface="Calibri Light"/>
                <a:ea typeface="Calibri"/>
                <a:cs typeface="Calibri Light"/>
              </a:rPr>
              <a:t>https://www.mi5.gov.uk/careers/graduates – the link will not take you directly to Lily’s video (as it’s embedded into a webpage) so you will need to have this link ready to watch before delivery.</a:t>
            </a:r>
          </a:p>
          <a:p>
            <a:pPr>
              <a:lnSpc>
                <a:spcPct val="107000"/>
              </a:lnSpc>
              <a:spcAft>
                <a:spcPts val="800"/>
              </a:spcAft>
            </a:pPr>
            <a:r>
              <a:rPr lang="en-US" sz="1800" b="1" i="1" kern="100">
                <a:effectLst/>
                <a:latin typeface="Calibri Light"/>
                <a:ea typeface="Calibri"/>
                <a:cs typeface="Calibri Light"/>
              </a:rPr>
              <a:t> </a:t>
            </a:r>
          </a:p>
          <a:p>
            <a:pPr>
              <a:lnSpc>
                <a:spcPct val="107000"/>
              </a:lnSpc>
              <a:spcAft>
                <a:spcPts val="800"/>
              </a:spcAft>
            </a:pPr>
            <a:endParaRPr lang="en-US" sz="1800" b="1" i="1" kern="100">
              <a:latin typeface="Calibri Light"/>
              <a:ea typeface="Calibri" panose="020F0502020204030204" pitchFamily="34" charset="0"/>
              <a:cs typeface="Calibri Light"/>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25</a:t>
            </a:fld>
            <a:endParaRPr lang="en-GB" altLang="en-US"/>
          </a:p>
        </p:txBody>
      </p:sp>
    </p:spTree>
    <p:extLst>
      <p:ext uri="{BB962C8B-B14F-4D97-AF65-F5344CB8AC3E}">
        <p14:creationId xmlns:p14="http://schemas.microsoft.com/office/powerpoint/2010/main" val="1998507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800" b="1" u="sng" kern="100">
                <a:effectLst/>
                <a:latin typeface="Calibri Light"/>
                <a:ea typeface="Calibri"/>
                <a:cs typeface="Calibri Light"/>
              </a:rPr>
              <a:t>Host: </a:t>
            </a:r>
            <a:endParaRPr lang="en-GB" sz="1800" kern="100">
              <a:effectLst/>
              <a:latin typeface="Calibri Light"/>
              <a:ea typeface="Calibri"/>
              <a:cs typeface="Calibri Light"/>
            </a:endParaRPr>
          </a:p>
          <a:p>
            <a:pPr>
              <a:lnSpc>
                <a:spcPct val="107000"/>
              </a:lnSpc>
              <a:spcAft>
                <a:spcPts val="800"/>
              </a:spcAft>
            </a:pPr>
            <a:r>
              <a:rPr lang="en-GB" sz="1800" kern="100">
                <a:latin typeface="Calibri Light"/>
                <a:ea typeface="Calibri"/>
                <a:cs typeface="Calibri Light"/>
              </a:rPr>
              <a:t>Lets now look at research institutes, public sector and govt roles. </a:t>
            </a:r>
            <a:endParaRPr lang="en-GB" sz="1800" kern="100">
              <a:effectLst/>
              <a:latin typeface="Calibri Light"/>
              <a:ea typeface="Calibri" panose="020F0502020204030204" pitchFamily="34" charset="0"/>
              <a:cs typeface="Calibri Light"/>
            </a:endParaRPr>
          </a:p>
          <a:p>
            <a:pPr>
              <a:lnSpc>
                <a:spcPct val="107000"/>
              </a:lnSpc>
              <a:spcAft>
                <a:spcPts val="800"/>
              </a:spcAft>
            </a:pPr>
            <a:r>
              <a:rPr lang="en-GB" sz="1800" kern="100">
                <a:effectLst/>
                <a:latin typeface="Calibri Light"/>
                <a:ea typeface="Calibri"/>
                <a:cs typeface="Calibri Light"/>
              </a:rPr>
              <a:t>Why work in a research role in an organisation such as The Alan Turing Institute?</a:t>
            </a:r>
          </a:p>
          <a:p>
            <a:pPr>
              <a:lnSpc>
                <a:spcPct val="107000"/>
              </a:lnSpc>
              <a:spcAft>
                <a:spcPts val="800"/>
              </a:spcAft>
            </a:pPr>
            <a:r>
              <a:rPr lang="en-GB" sz="1800" kern="100">
                <a:effectLst/>
                <a:latin typeface="Calibri Light"/>
                <a:ea typeface="Calibri"/>
                <a:cs typeface="Calibri Light"/>
              </a:rPr>
              <a:t> </a:t>
            </a:r>
          </a:p>
          <a:p>
            <a:pPr>
              <a:lnSpc>
                <a:spcPct val="107000"/>
              </a:lnSpc>
              <a:spcAft>
                <a:spcPts val="800"/>
              </a:spcAft>
            </a:pPr>
            <a:r>
              <a:rPr lang="en-GB" sz="1800" kern="100">
                <a:effectLst/>
                <a:latin typeface="Calibri Light"/>
                <a:ea typeface="Calibri"/>
                <a:cs typeface="Calibri Light"/>
              </a:rPr>
              <a:t>The Alan Turing Institute is the national centre for Data science and AI.</a:t>
            </a:r>
          </a:p>
          <a:p>
            <a:pPr>
              <a:lnSpc>
                <a:spcPct val="107000"/>
              </a:lnSpc>
              <a:spcAft>
                <a:spcPts val="800"/>
              </a:spcAft>
            </a:pPr>
            <a:r>
              <a:rPr lang="en-GB" sz="1800" kern="100">
                <a:effectLst/>
                <a:latin typeface="Calibri Light"/>
                <a:ea typeface="Calibri"/>
                <a:cs typeface="Calibri Light"/>
              </a:rPr>
              <a:t>We have a large Defence and Security research programme including theoretical and technical research, applied projects and policy work.</a:t>
            </a:r>
          </a:p>
          <a:p>
            <a:pPr>
              <a:lnSpc>
                <a:spcPct val="107000"/>
              </a:lnSpc>
              <a:spcAft>
                <a:spcPts val="800"/>
              </a:spcAft>
            </a:pPr>
            <a:r>
              <a:rPr lang="en-GB" sz="1800" kern="100">
                <a:effectLst/>
                <a:latin typeface="Calibri Light"/>
                <a:ea typeface="Calibri"/>
                <a:cs typeface="Calibri Light"/>
              </a:rPr>
              <a:t>You will collaborate with Defence and Security organisations while working for an independent Research Institute. </a:t>
            </a:r>
          </a:p>
          <a:p>
            <a:pPr>
              <a:lnSpc>
                <a:spcPct val="107000"/>
              </a:lnSpc>
              <a:spcAft>
                <a:spcPts val="800"/>
              </a:spcAft>
            </a:pPr>
            <a:r>
              <a:rPr lang="en-GB" sz="1800" kern="100">
                <a:effectLst/>
                <a:latin typeface="Calibri Light"/>
                <a:ea typeface="Calibri"/>
                <a:cs typeface="Calibri Light"/>
              </a:rPr>
              <a:t>We offer Competitive salaries and benefits, such as flexible working.</a:t>
            </a:r>
          </a:p>
          <a:p>
            <a:pPr>
              <a:lnSpc>
                <a:spcPct val="107000"/>
              </a:lnSpc>
              <a:spcAft>
                <a:spcPts val="800"/>
              </a:spcAft>
            </a:pPr>
            <a:r>
              <a:rPr lang="en-GB" sz="1800" kern="100">
                <a:effectLst/>
                <a:latin typeface="Calibri Light"/>
                <a:ea typeface="Calibri"/>
                <a:cs typeface="Calibri Light"/>
              </a:rPr>
              <a:t>There are opportunities to work in equivalent organisation in other countries. </a:t>
            </a:r>
          </a:p>
          <a:p>
            <a:pPr>
              <a:lnSpc>
                <a:spcPct val="107000"/>
              </a:lnSpc>
              <a:spcAft>
                <a:spcPts val="800"/>
              </a:spcAft>
            </a:pPr>
            <a:r>
              <a:rPr lang="en-GB" sz="1800" kern="100">
                <a:effectLst/>
                <a:latin typeface="Calibri Light"/>
                <a:ea typeface="Calibri"/>
                <a:cs typeface="Calibri Light"/>
              </a:rPr>
              <a:t> </a:t>
            </a:r>
          </a:p>
          <a:p>
            <a:pPr>
              <a:lnSpc>
                <a:spcPct val="107000"/>
              </a:lnSpc>
              <a:spcAft>
                <a:spcPts val="800"/>
              </a:spcAft>
            </a:pPr>
            <a:r>
              <a:rPr lang="en-GB" sz="1800" kern="100">
                <a:effectLst/>
                <a:latin typeface="Calibri Light"/>
                <a:ea typeface="Calibri"/>
                <a:cs typeface="Calibri Light"/>
              </a:rPr>
              <a:t>Yes, sometimes you get to go to the other side of the world to present research or work on shared outputs!</a:t>
            </a: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26</a:t>
            </a:fld>
            <a:endParaRPr lang="en-GB" altLang="en-US"/>
          </a:p>
        </p:txBody>
      </p:sp>
    </p:spTree>
    <p:extLst>
      <p:ext uri="{BB962C8B-B14F-4D97-AF65-F5344CB8AC3E}">
        <p14:creationId xmlns:p14="http://schemas.microsoft.com/office/powerpoint/2010/main" val="2640968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800" b="1" u="sng" kern="100">
                <a:effectLst/>
                <a:latin typeface="Calibri Light"/>
                <a:ea typeface="Calibri"/>
                <a:cs typeface="Calibri Light"/>
              </a:rPr>
              <a:t>Host:</a:t>
            </a:r>
          </a:p>
          <a:p>
            <a:pPr>
              <a:lnSpc>
                <a:spcPct val="107000"/>
              </a:lnSpc>
              <a:spcAft>
                <a:spcPts val="800"/>
              </a:spcAft>
            </a:pPr>
            <a:r>
              <a:rPr lang="en-GB" sz="1800" b="1" kern="100">
                <a:latin typeface="Calibri Light"/>
                <a:ea typeface="Calibri"/>
                <a:cs typeface="Calibri Light"/>
              </a:rPr>
              <a:t>Public sector career options</a:t>
            </a:r>
          </a:p>
          <a:p>
            <a:pPr>
              <a:lnSpc>
                <a:spcPct val="107000"/>
              </a:lnSpc>
              <a:spcAft>
                <a:spcPts val="800"/>
              </a:spcAft>
            </a:pPr>
            <a:r>
              <a:rPr lang="en-GB" sz="1800" kern="100">
                <a:effectLst/>
                <a:latin typeface="Calibri Light"/>
                <a:ea typeface="Calibri"/>
                <a:cs typeface="Calibri Light"/>
              </a:rPr>
              <a:t>Why Work for organisations such as the NHS, the civil service or the UK Health Security Agency?</a:t>
            </a:r>
          </a:p>
          <a:p>
            <a:pPr>
              <a:lnSpc>
                <a:spcPct val="107000"/>
              </a:lnSpc>
              <a:spcAft>
                <a:spcPts val="800"/>
              </a:spcAft>
            </a:pPr>
            <a:r>
              <a:rPr lang="en-GB" sz="1800" kern="100">
                <a:effectLst/>
                <a:latin typeface="Calibri Light"/>
                <a:ea typeface="Calibri"/>
                <a:cs typeface="Calibri Light"/>
              </a:rPr>
              <a:t> </a:t>
            </a:r>
          </a:p>
          <a:p>
            <a:pPr>
              <a:lnSpc>
                <a:spcPct val="107000"/>
              </a:lnSpc>
              <a:spcAft>
                <a:spcPts val="800"/>
              </a:spcAft>
            </a:pPr>
            <a:r>
              <a:rPr lang="en-GB" sz="1800" kern="100">
                <a:effectLst/>
                <a:latin typeface="Calibri Light"/>
                <a:ea typeface="Calibri"/>
                <a:cs typeface="Calibri Light"/>
              </a:rPr>
              <a:t>The NHS offers rewarding opportunities to develop Data Science and AI methods that advance healthcare and improve people’s lives.</a:t>
            </a:r>
            <a:endParaRPr lang="en-GB" sz="1800" kern="100">
              <a:latin typeface="Calibri Light"/>
              <a:ea typeface="Calibri"/>
              <a:cs typeface="Calibri Light"/>
            </a:endParaRPr>
          </a:p>
          <a:p>
            <a:pPr>
              <a:lnSpc>
                <a:spcPct val="107000"/>
              </a:lnSpc>
              <a:spcAft>
                <a:spcPts val="800"/>
              </a:spcAft>
            </a:pPr>
            <a:r>
              <a:rPr lang="en-GB" sz="1800" kern="100">
                <a:effectLst/>
                <a:latin typeface="Calibri Light"/>
                <a:ea typeface="Calibri"/>
                <a:cs typeface="Calibri Light"/>
              </a:rPr>
              <a:t>You’ll help develop exciting and inspiring areas of healthcare currently being researched, such as personalised medicine or predictive models for early disease detection. Much of this work will directly contribute to building a smarter, more efficient and patient-centric healthcare system. In cyber and data security, the NHS works to protect care organisations from cyber attacks, as well as monitoring for new threats 24 hours a day.</a:t>
            </a:r>
          </a:p>
          <a:p>
            <a:pPr>
              <a:lnSpc>
                <a:spcPct val="107000"/>
              </a:lnSpc>
              <a:spcAft>
                <a:spcPts val="800"/>
              </a:spcAft>
            </a:pPr>
            <a:endParaRPr lang="en-GB" sz="1800" kern="10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900" b="0" i="0">
                <a:solidFill>
                  <a:srgbClr val="1D1D1D"/>
                </a:solidFill>
                <a:effectLst/>
                <a:latin typeface="Arial"/>
                <a:cs typeface="Arial"/>
              </a:rPr>
              <a:t>The Civil Service supports the government to implement its policies effectively. From benefits and pensions to employment services, prisons to driving licences, their work impacts every aspect of UK life.</a:t>
            </a:r>
            <a:endParaRPr lang="en-GB" sz="1800" b="0" i="0" kern="100">
              <a:solidFill>
                <a:srgbClr val="1D1D1D"/>
              </a:solidFill>
              <a:effectLst/>
              <a:latin typeface="Arial"/>
              <a:ea typeface="Calibri" panose="020F0502020204030204" pitchFamily="34" charset="0"/>
              <a:cs typeface="Arial"/>
            </a:endParaRPr>
          </a:p>
          <a:p>
            <a:pPr>
              <a:lnSpc>
                <a:spcPct val="107000"/>
              </a:lnSpc>
              <a:spcAft>
                <a:spcPts val="800"/>
              </a:spcAft>
            </a:pPr>
            <a:endParaRPr lang="en-GB" sz="1800" kern="100">
              <a:effectLst/>
              <a:latin typeface="Calibri Light" panose="020F03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900" b="0" i="0">
                <a:solidFill>
                  <a:srgbClr val="1D1D1D"/>
                </a:solidFill>
                <a:effectLst/>
                <a:latin typeface="Arial"/>
                <a:cs typeface="Arial"/>
              </a:rPr>
              <a:t>The UK Health Security Agency is a government department at the forefront of safeguarding the health of the nation, dedicated to protecting and improving public health and wellbeing across a vast array of diverse professional areas.</a:t>
            </a:r>
          </a:p>
          <a:p>
            <a:pPr>
              <a:lnSpc>
                <a:spcPct val="107000"/>
              </a:lnSpc>
              <a:spcAft>
                <a:spcPts val="800"/>
              </a:spcAft>
            </a:pPr>
            <a:endParaRPr lang="en-GB"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100">
                <a:effectLst/>
                <a:latin typeface="Calibri Light"/>
                <a:ea typeface="Calibri"/>
                <a:cs typeface="Calibri Light"/>
              </a:rPr>
              <a:t>All of these departments are dedicated to diversity, inclusion and supporting staff wellbeing. You’ll also work alongside inspiring and motivated colleagues within a great wider community.</a:t>
            </a:r>
          </a:p>
          <a:p>
            <a:pPr>
              <a:lnSpc>
                <a:spcPct val="107000"/>
              </a:lnSpc>
              <a:spcAft>
                <a:spcPts val="800"/>
              </a:spcAft>
            </a:pPr>
            <a:r>
              <a:rPr lang="en-GB" sz="1800" kern="100">
                <a:effectLst/>
                <a:latin typeface="Calibri Light"/>
                <a:ea typeface="Calibri"/>
                <a:cs typeface="Calibri Light"/>
              </a:rPr>
              <a:t> </a:t>
            </a: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27</a:t>
            </a:fld>
            <a:endParaRPr lang="en-GB" altLang="en-US"/>
          </a:p>
        </p:txBody>
      </p:sp>
    </p:spTree>
    <p:extLst>
      <p:ext uri="{BB962C8B-B14F-4D97-AF65-F5344CB8AC3E}">
        <p14:creationId xmlns:p14="http://schemas.microsoft.com/office/powerpoint/2010/main" val="3118474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7000"/>
              </a:lnSpc>
              <a:spcBef>
                <a:spcPct val="30000"/>
              </a:spcBef>
              <a:spcAft>
                <a:spcPts val="800"/>
              </a:spcAft>
              <a:buClrTx/>
              <a:buSzTx/>
              <a:buFontTx/>
              <a:buNone/>
              <a:tabLst/>
              <a:defRPr/>
            </a:pPr>
            <a:r>
              <a:rPr lang="en-GB" sz="1100" b="1" u="sng" kern="100">
                <a:effectLst/>
                <a:latin typeface="Calibri Light"/>
                <a:ea typeface="Calibri"/>
                <a:cs typeface="Calibri Light"/>
              </a:rPr>
              <a:t>Host:</a:t>
            </a:r>
          </a:p>
          <a:p>
            <a:pPr>
              <a:lnSpc>
                <a:spcPct val="107000"/>
              </a:lnSpc>
              <a:spcAft>
                <a:spcPts val="800"/>
              </a:spcAft>
            </a:pPr>
            <a:r>
              <a:rPr lang="en-US" sz="1100" b="1" kern="100">
                <a:effectLst/>
                <a:latin typeface="Calibri Light"/>
                <a:ea typeface="Calibri"/>
                <a:cs typeface="Calibri Light"/>
              </a:rPr>
              <a:t>Routes into these roles</a:t>
            </a:r>
            <a:endParaRPr lang="en-GB" sz="1100" kern="100">
              <a:effectLst/>
              <a:latin typeface="Calibri Light"/>
              <a:ea typeface="Calibri"/>
              <a:cs typeface="Calibri Light"/>
            </a:endParaRPr>
          </a:p>
          <a:p>
            <a:pPr>
              <a:lnSpc>
                <a:spcPct val="107000"/>
              </a:lnSpc>
              <a:spcAft>
                <a:spcPts val="800"/>
              </a:spcAft>
            </a:pPr>
            <a:r>
              <a:rPr lang="en-GB" sz="1100" i="1" kern="100">
                <a:effectLst/>
                <a:latin typeface="Calibri Light"/>
                <a:ea typeface="Calibri"/>
                <a:cs typeface="Calibri Light"/>
              </a:rPr>
              <a:t>Remind the students that links for some of the graduate programmes, internships and placements and websites with direct roles can be shared via the mailing list.</a:t>
            </a:r>
          </a:p>
          <a:p>
            <a:pPr>
              <a:lnSpc>
                <a:spcPct val="107000"/>
              </a:lnSpc>
              <a:spcAft>
                <a:spcPts val="800"/>
              </a:spcAft>
            </a:pPr>
            <a:r>
              <a:rPr lang="en-GB" sz="1100" kern="100">
                <a:effectLst/>
                <a:latin typeface="Calibri Light"/>
                <a:ea typeface="Calibri"/>
                <a:cs typeface="Calibri Light"/>
              </a:rPr>
              <a:t> </a:t>
            </a:r>
          </a:p>
          <a:p>
            <a:pPr>
              <a:lnSpc>
                <a:spcPct val="107000"/>
              </a:lnSpc>
              <a:spcAft>
                <a:spcPts val="800"/>
              </a:spcAft>
            </a:pPr>
            <a:r>
              <a:rPr lang="en-GB" sz="1100" kern="100">
                <a:effectLst/>
                <a:latin typeface="Calibri Light"/>
                <a:ea typeface="Calibri"/>
                <a:cs typeface="Calibri Light"/>
              </a:rPr>
              <a:t>There are several routes into these roles.  Check out each website directly, search job roles and always consider what transferable skills you have.</a:t>
            </a:r>
          </a:p>
          <a:p>
            <a:pPr>
              <a:lnSpc>
                <a:spcPct val="107000"/>
              </a:lnSpc>
              <a:spcAft>
                <a:spcPts val="800"/>
              </a:spcAft>
            </a:pPr>
            <a:r>
              <a:rPr lang="en-GB" sz="1100" kern="100">
                <a:effectLst/>
                <a:latin typeface="Calibri Light"/>
                <a:ea typeface="Calibri"/>
                <a:cs typeface="Calibri Light"/>
              </a:rPr>
              <a:t> </a:t>
            </a:r>
          </a:p>
          <a:p>
            <a:pPr>
              <a:lnSpc>
                <a:spcPct val="107000"/>
              </a:lnSpc>
              <a:spcAft>
                <a:spcPts val="800"/>
              </a:spcAft>
            </a:pPr>
            <a:r>
              <a:rPr lang="en-GB" sz="1100" kern="100">
                <a:effectLst/>
                <a:latin typeface="Calibri Light"/>
                <a:ea typeface="Calibri"/>
                <a:cs typeface="Calibri Light"/>
              </a:rPr>
              <a:t>If you are unsure your experience and qualifications are quite the right fit, consider </a:t>
            </a:r>
            <a:r>
              <a:rPr lang="en-GB" sz="1100" kern="100">
                <a:latin typeface="Calibri Light"/>
                <a:ea typeface="Calibri"/>
                <a:cs typeface="Calibri Light"/>
              </a:rPr>
              <a:t>getting in touch with the</a:t>
            </a:r>
            <a:r>
              <a:rPr lang="en-GB" sz="1100" kern="100">
                <a:effectLst/>
                <a:latin typeface="Calibri Light"/>
                <a:ea typeface="Calibri"/>
                <a:cs typeface="Calibri Light"/>
              </a:rPr>
              <a:t> recruitment manager and chatting through!</a:t>
            </a:r>
          </a:p>
          <a:p>
            <a:pPr>
              <a:lnSpc>
                <a:spcPct val="107000"/>
              </a:lnSpc>
              <a:spcAft>
                <a:spcPts val="800"/>
              </a:spcAft>
            </a:pPr>
            <a:r>
              <a:rPr lang="en-GB" sz="1100" kern="100">
                <a:effectLst/>
                <a:latin typeface="Calibri Light"/>
                <a:ea typeface="Calibri"/>
                <a:cs typeface="Calibri Light"/>
              </a:rPr>
              <a:t> </a:t>
            </a:r>
          </a:p>
          <a:p>
            <a:pPr>
              <a:lnSpc>
                <a:spcPct val="107000"/>
              </a:lnSpc>
              <a:spcAft>
                <a:spcPts val="800"/>
              </a:spcAft>
            </a:pPr>
            <a:r>
              <a:rPr lang="en-GB" sz="1100" kern="100">
                <a:effectLst/>
                <a:latin typeface="Calibri Light"/>
                <a:ea typeface="Calibri"/>
                <a:cs typeface="Calibri Light"/>
              </a:rPr>
              <a:t>Here are a few examples of routes to support your journey in </a:t>
            </a:r>
            <a:r>
              <a:rPr lang="en-GB" sz="1100" i="1" kern="100">
                <a:effectLst/>
                <a:latin typeface="Calibri Light"/>
                <a:ea typeface="Calibri"/>
                <a:cs typeface="Calibri Light"/>
              </a:rPr>
              <a:t>(read from the screen)</a:t>
            </a:r>
            <a:r>
              <a:rPr lang="en-GB" sz="1100" kern="100">
                <a:effectLst/>
                <a:latin typeface="Calibri Light"/>
                <a:ea typeface="Calibri"/>
                <a:cs typeface="Calibri Light"/>
              </a:rPr>
              <a:t>:</a:t>
            </a: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Graduate Programmes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The Civil Service fast stream – </a:t>
            </a:r>
            <a:r>
              <a:rPr lang="en-GB" sz="800" b="0" i="0" kern="100">
                <a:solidFill>
                  <a:srgbClr val="1D1D1D"/>
                </a:solidFill>
                <a:effectLst/>
                <a:latin typeface="Arial"/>
                <a:ea typeface="Calibri"/>
                <a:cs typeface="Arial"/>
              </a:rPr>
              <a:t>e</a:t>
            </a:r>
            <a:r>
              <a:rPr lang="en-GB" sz="800" b="0" i="0">
                <a:solidFill>
                  <a:srgbClr val="1D1D1D"/>
                </a:solidFill>
                <a:effectLst/>
                <a:latin typeface="Arial"/>
                <a:cs typeface="Arial"/>
              </a:rPr>
              <a:t>ach scheme offers real responsibility across various rewarding roles in government departments, providing structured learning, on-the-job coaching and mentoring, and a clear career path in a government profession. Many also offer the chance to study for a professional qualification.</a:t>
            </a:r>
            <a:r>
              <a:rPr lang="en-GB" sz="1100" kern="100">
                <a:effectLst/>
                <a:latin typeface="Calibri Light"/>
                <a:ea typeface="Calibri"/>
                <a:cs typeface="Calibri Light"/>
              </a:rPr>
              <a:t> Two new schemes have been introduced </a:t>
            </a:r>
            <a:r>
              <a:rPr lang="en-GB" sz="1100" kern="100">
                <a:latin typeface="Calibri Light"/>
                <a:ea typeface="Calibri"/>
                <a:cs typeface="Calibri Light"/>
              </a:rPr>
              <a:t>recently</a:t>
            </a:r>
            <a:r>
              <a:rPr lang="en-GB" sz="1100" kern="100">
                <a:effectLst/>
                <a:latin typeface="Calibri Light"/>
                <a:ea typeface="Calibri"/>
                <a:cs typeface="Calibri Light"/>
              </a:rPr>
              <a:t>: Risk Management and Cyber Security. Entering the civil service through this scheme would place you across multiple government departments.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NHS Graduate Management Training Scheme – this covers multiple areas of the NHS (e.g. finance and HR), but most relevant would be their Health Informatics or Health Analysis streams.</a:t>
            </a: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Internships and placements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Summer Placements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Internship programmes e.g. ‘Health Data Science Black Internship Programme’</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Civil Service fast stream internships </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Civil Service care leavers internship scheme – a scheme designed specifically for care leavers</a:t>
            </a: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Academic roles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Research Assistant roles usually require a masters.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Research Associate roles usually require a PhD.</a:t>
            </a:r>
          </a:p>
          <a:p>
            <a:pPr marL="742950" lvl="1" indent="-285750">
              <a:lnSpc>
                <a:spcPct val="107000"/>
              </a:lnSpc>
              <a:spcAft>
                <a:spcPts val="800"/>
              </a:spcAft>
              <a:buFont typeface="Times New Roman" panose="02020603050405020304" pitchFamily="18" charset="0"/>
              <a:buChar char="•"/>
              <a:tabLst>
                <a:tab pos="457200" algn="l"/>
              </a:tabLst>
            </a:pPr>
            <a:r>
              <a:rPr lang="en-GB" sz="1100" kern="100">
                <a:latin typeface="Calibri Light"/>
                <a:ea typeface="Calibri"/>
                <a:cs typeface="Calibri Light"/>
              </a:rPr>
              <a:t>Research internship programmes for undergrads</a:t>
            </a:r>
          </a:p>
          <a:p>
            <a:pPr marL="342900" lvl="0" indent="-342900">
              <a:lnSpc>
                <a:spcPct val="107000"/>
              </a:lnSpc>
              <a:spcAft>
                <a:spcPts val="800"/>
              </a:spcAft>
              <a:buFont typeface="Times New Roman" panose="02020603050405020304" pitchFamily="18" charset="0"/>
              <a:buChar char="•"/>
              <a:tabLst>
                <a:tab pos="457200" algn="l"/>
              </a:tabLst>
            </a:pPr>
            <a:r>
              <a:rPr lang="en-GB" sz="1100" kern="100">
                <a:effectLst/>
                <a:latin typeface="Calibri Light"/>
                <a:ea typeface="Calibri"/>
                <a:cs typeface="Calibri Light"/>
              </a:rPr>
              <a:t>Direct roles</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Applying directly for roles on the Civil Service Jobs portal</a:t>
            </a:r>
          </a:p>
          <a:p>
            <a:pPr marL="742950" lvl="1" indent="-285750">
              <a:lnSpc>
                <a:spcPct val="107000"/>
              </a:lnSpc>
              <a:spcAft>
                <a:spcPts val="800"/>
              </a:spcAft>
              <a:buFont typeface="Times New Roman" panose="02020603050405020304" pitchFamily="18" charset="0"/>
              <a:buChar char="•"/>
              <a:tabLst>
                <a:tab pos="914400" algn="l"/>
              </a:tabLst>
            </a:pPr>
            <a:r>
              <a:rPr lang="en-GB" sz="1100" kern="100">
                <a:effectLst/>
                <a:latin typeface="Calibri Light"/>
                <a:ea typeface="Calibri"/>
                <a:cs typeface="Calibri Light"/>
              </a:rPr>
              <a:t>Applying directly to either Central NHS England, or via NHS Trusts e.g. Barts Health NHS Trust, AI Centre for Value Based Healthcare or Guy’s and St Thomas’ NHS Foundation Trust. You might also find Cyber-specific roles via the NHS website or NHS Trusts, including Cyber trainee roles.</a:t>
            </a:r>
          </a:p>
          <a:p>
            <a:pPr>
              <a:lnSpc>
                <a:spcPct val="107000"/>
              </a:lnSpc>
              <a:spcAft>
                <a:spcPts val="800"/>
              </a:spcAft>
            </a:pPr>
            <a:endParaRPr lang="en-GB" sz="1100" kern="100">
              <a:effectLst/>
              <a:latin typeface="Calibri Light"/>
              <a:ea typeface="Calibri" panose="020F0502020204030204" pitchFamily="34" charset="0"/>
              <a:cs typeface="Calibri Light"/>
            </a:endParaRPr>
          </a:p>
          <a:p>
            <a:pPr>
              <a:lnSpc>
                <a:spcPct val="107000"/>
              </a:lnSpc>
              <a:spcAft>
                <a:spcPts val="800"/>
              </a:spcAft>
            </a:pPr>
            <a:br>
              <a:rPr lang="en-GB" sz="1100" b="1" u="sng" kern="100">
                <a:effectLst/>
                <a:latin typeface="Calibri Light" panose="020F0302020204030204" pitchFamily="34" charset="0"/>
                <a:ea typeface="Calibri" panose="020F0502020204030204" pitchFamily="34" charset="0"/>
                <a:cs typeface="Calibri Light"/>
              </a:rPr>
            </a:br>
            <a:r>
              <a:rPr lang="en-GB" sz="1100" b="1" u="sng" kern="100">
                <a:effectLst/>
                <a:latin typeface="Calibri Light"/>
                <a:ea typeface="Calibri"/>
                <a:cs typeface="Calibri Light"/>
              </a:rPr>
              <a:t>Important to know </a:t>
            </a:r>
            <a:endParaRPr lang="en-GB" sz="1100" kern="100">
              <a:effectLst/>
              <a:latin typeface="Calibri Light"/>
              <a:ea typeface="Calibri"/>
              <a:cs typeface="Calibri Light"/>
            </a:endParaRP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Not all public sector jobs require a technical background. There are, for example, medical doctors in hospitals working within AI fellowships.</a:t>
            </a:r>
          </a:p>
          <a:p>
            <a:pPr marL="342900" lvl="0" indent="-342900">
              <a:lnSpc>
                <a:spcPct val="107000"/>
              </a:lnSpc>
              <a:spcAft>
                <a:spcPts val="800"/>
              </a:spcAft>
              <a:buFont typeface="Arial" panose="020B0604020202020204" pitchFamily="34" charset="0"/>
              <a:buChar char="•"/>
              <a:tabLst>
                <a:tab pos="457200" algn="l"/>
              </a:tabLst>
            </a:pPr>
            <a:r>
              <a:rPr lang="en-GB" sz="1100" kern="100">
                <a:effectLst/>
                <a:latin typeface="Calibri Light"/>
                <a:ea typeface="Calibri"/>
                <a:cs typeface="Calibri Light"/>
              </a:rPr>
              <a:t>Some (but not all) roles may require security clearance and British citizenship.</a:t>
            </a:r>
          </a:p>
          <a:p>
            <a:pPr marL="342900" lvl="0" indent="-342900">
              <a:lnSpc>
                <a:spcPct val="107000"/>
              </a:lnSpc>
              <a:spcAft>
                <a:spcPts val="800"/>
              </a:spcAft>
              <a:buFont typeface="Arial" panose="020B0604020202020204" pitchFamily="34" charset="0"/>
              <a:buChar char="•"/>
              <a:tabLst>
                <a:tab pos="457200" algn="l"/>
              </a:tabLst>
            </a:pPr>
            <a:endParaRPr lang="en-GB" sz="1100" kern="100">
              <a:effectLst/>
              <a:latin typeface="Calibri Light" panose="020F03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7000"/>
              </a:lnSpc>
              <a:spcBef>
                <a:spcPct val="30000"/>
              </a:spcBef>
              <a:spcAft>
                <a:spcPts val="800"/>
              </a:spcAft>
              <a:buClrTx/>
              <a:buSzTx/>
              <a:buFont typeface="Arial" panose="020B0604020202020204" pitchFamily="34" charset="0"/>
              <a:buNone/>
              <a:tabLst>
                <a:tab pos="457200" algn="l"/>
              </a:tabLst>
              <a:defRPr/>
            </a:pPr>
            <a:r>
              <a:rPr lang="en-GB" sz="1100" b="1" u="sng" kern="100">
                <a:effectLst/>
                <a:latin typeface="Calibri Light"/>
                <a:ea typeface="Calibri"/>
                <a:cs typeface="Calibri Light"/>
              </a:rPr>
              <a:t>Notes:</a:t>
            </a:r>
            <a:br>
              <a:rPr lang="en-GB" sz="1100" b="1" u="sng" kern="100">
                <a:effectLst/>
                <a:latin typeface="Calibri Light" panose="020F0302020204030204" pitchFamily="34" charset="0"/>
                <a:ea typeface="Calibri" panose="020F0502020204030204" pitchFamily="34" charset="0"/>
                <a:cs typeface="Calibri Light"/>
              </a:rPr>
            </a:br>
            <a:r>
              <a:rPr lang="en-GB" sz="1100" b="0" u="none" kern="100">
                <a:effectLst/>
                <a:latin typeface="Calibri Light"/>
                <a:ea typeface="Calibri"/>
                <a:cs typeface="Calibri Light"/>
              </a:rPr>
              <a:t>For your knowledge, it may be worth knowing how the NHS is currently structured. The NHS is not one organisation – it is actually several, independent businesses working under the NHS ‘brand’ or umbrella. NHS England is currently the most central business under the NHS and will advertise some more ‘central’ roles, otherwise students will have to look at their local area and the Trusts therein for local jobs. Some Trusts include multiple hospitals or GP surgeries. </a:t>
            </a:r>
            <a:endParaRPr lang="en-GB" sz="1100" kern="100">
              <a:effectLst/>
              <a:latin typeface="Calibri Light"/>
              <a:ea typeface="Calibri"/>
              <a:cs typeface="Calibri Light"/>
            </a:endParaRPr>
          </a:p>
          <a:p>
            <a:pPr marL="0" lvl="0" indent="0">
              <a:lnSpc>
                <a:spcPct val="107000"/>
              </a:lnSpc>
              <a:spcAft>
                <a:spcPts val="800"/>
              </a:spcAft>
              <a:buFont typeface="Arial" panose="020B0604020202020204" pitchFamily="34" charset="0"/>
              <a:buNone/>
              <a:tabLst>
                <a:tab pos="457200" algn="l"/>
              </a:tabLst>
            </a:pP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28</a:t>
            </a:fld>
            <a:endParaRPr lang="en-GB" altLang="en-US"/>
          </a:p>
        </p:txBody>
      </p:sp>
    </p:spTree>
    <p:extLst>
      <p:ext uri="{BB962C8B-B14F-4D97-AF65-F5344CB8AC3E}">
        <p14:creationId xmlns:p14="http://schemas.microsoft.com/office/powerpoint/2010/main" val="223278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D33E-60DC-E34B-E59D-2EE847BBF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95DED-4F16-D778-0615-7B044DECFE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0CCD6-57EB-141C-0CAF-C26D9D5C9C2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5400" b="1" u="sng">
                <a:solidFill>
                  <a:prstClr val="black"/>
                </a:solidFill>
                <a:latin typeface="Arial"/>
                <a:cs typeface="Arial"/>
              </a:rPr>
              <a:t>Host:</a:t>
            </a:r>
          </a:p>
          <a:p>
            <a:pPr>
              <a:spcBef>
                <a:spcPct val="0"/>
              </a:spcBef>
              <a:defRPr/>
            </a:pPr>
            <a:r>
              <a:rPr lang="en-US" sz="5400" b="0" u="none">
                <a:solidFill>
                  <a:prstClr val="black"/>
                </a:solidFill>
                <a:latin typeface="Arial"/>
                <a:cs typeface="Arial"/>
              </a:rPr>
              <a:t>There are a number of things to consider when applying for </a:t>
            </a:r>
            <a:r>
              <a:rPr lang="en-US" sz="5400">
                <a:solidFill>
                  <a:prstClr val="black"/>
                </a:solidFill>
                <a:latin typeface="Arial"/>
                <a:cs typeface="Arial"/>
              </a:rPr>
              <a:t>jobs, some you can do before finding a role you want to apply to. </a:t>
            </a:r>
            <a:r>
              <a:rPr lang="en-US" sz="5400">
                <a:solidFill>
                  <a:prstClr val="black"/>
                </a:solidFill>
                <a:latin typeface="Arial"/>
                <a:ea typeface="Calibri"/>
                <a:cs typeface="Arial"/>
              </a:rPr>
              <a:t>But it is still important that you tailor you application for each role you apply to based on the job description.</a:t>
            </a:r>
            <a:endParaRPr lang="en-US" sz="4300">
              <a:solidFill>
                <a:prstClr val="black"/>
              </a:solidFill>
              <a:latin typeface="Calibri"/>
              <a:ea typeface="Calibri"/>
              <a:cs typeface="Calibri"/>
            </a:endParaRPr>
          </a:p>
          <a:p>
            <a:pPr>
              <a:spcBef>
                <a:spcPct val="0"/>
              </a:spcBef>
              <a:defRPr/>
            </a:pPr>
            <a:endParaRPr lang="en-US" sz="5400">
              <a:solidFill>
                <a:prstClr val="black"/>
              </a:solidFill>
              <a:latin typeface="Arial"/>
              <a:cs typeface="Arial"/>
            </a:endParaRPr>
          </a:p>
          <a:p>
            <a:pPr>
              <a:spcBef>
                <a:spcPct val="0"/>
              </a:spcBef>
              <a:defRPr/>
            </a:pPr>
            <a:r>
              <a:rPr lang="en-US" sz="5400">
                <a:solidFill>
                  <a:prstClr val="black"/>
                </a:solidFill>
                <a:latin typeface="Arial"/>
                <a:cs typeface="Arial"/>
              </a:rPr>
              <a:t>Much of the advice can be found on the national careers website but</a:t>
            </a:r>
            <a:r>
              <a:rPr lang="en-US" sz="5400" b="0" u="none">
                <a:solidFill>
                  <a:prstClr val="black"/>
                </a:solidFill>
                <a:latin typeface="Arial"/>
                <a:cs typeface="Arial"/>
              </a:rPr>
              <a:t> </a:t>
            </a:r>
            <a:r>
              <a:rPr lang="en-US" sz="5400">
                <a:solidFill>
                  <a:prstClr val="black"/>
                </a:solidFill>
                <a:latin typeface="Arial"/>
                <a:cs typeface="Arial"/>
              </a:rPr>
              <a:t>some general pointers are:</a:t>
            </a:r>
            <a:endParaRPr lang="en-US" sz="4300" b="0" u="none">
              <a:solidFill>
                <a:prstClr val="black"/>
              </a:solidFill>
              <a:latin typeface="Calibri"/>
              <a:ea typeface="Calibri"/>
              <a:cs typeface="Calibri"/>
            </a:endParaRPr>
          </a:p>
          <a:p>
            <a:pPr marL="914400" indent="-914400">
              <a:lnSpc>
                <a:spcPct val="200000"/>
              </a:lnSpc>
              <a:buFont typeface="+mj-lt"/>
              <a:buAutoNum type="arabicPeriod"/>
            </a:pPr>
            <a:r>
              <a:rPr lang="en-GB" sz="5400">
                <a:latin typeface="Arial"/>
                <a:cs typeface="Arial"/>
              </a:rPr>
              <a:t>Write a good CV / cover letter</a:t>
            </a:r>
          </a:p>
          <a:p>
            <a:pPr marL="914400" indent="-914400">
              <a:lnSpc>
                <a:spcPct val="200000"/>
              </a:lnSpc>
              <a:buFont typeface="+mj-lt"/>
              <a:buAutoNum type="arabicPeriod"/>
            </a:pPr>
            <a:r>
              <a:rPr lang="en-GB" sz="5400">
                <a:latin typeface="Arial"/>
                <a:cs typeface="Arial"/>
              </a:rPr>
              <a:t>Create a LinkedIn profile</a:t>
            </a:r>
          </a:p>
          <a:p>
            <a:pPr marL="914400" indent="-914400">
              <a:lnSpc>
                <a:spcPct val="200000"/>
              </a:lnSpc>
              <a:buFont typeface="+mj-lt"/>
              <a:buAutoNum type="arabicPeriod"/>
            </a:pPr>
            <a:r>
              <a:rPr lang="en-GB" sz="5400">
                <a:latin typeface="Arial"/>
                <a:cs typeface="Arial"/>
              </a:rPr>
              <a:t>Look at latest developments in the domain or in AI models</a:t>
            </a:r>
          </a:p>
          <a:p>
            <a:pPr marL="914400" indent="-914400">
              <a:lnSpc>
                <a:spcPct val="200000"/>
              </a:lnSpc>
              <a:buFont typeface="+mj-lt"/>
              <a:buAutoNum type="arabicPeriod"/>
            </a:pPr>
            <a:r>
              <a:rPr lang="en-GB" sz="5400">
                <a:latin typeface="Arial"/>
                <a:cs typeface="Arial"/>
              </a:rPr>
              <a:t>Have some examples of your code / analysis skills on GitHub or as a portfolio</a:t>
            </a:r>
          </a:p>
          <a:p>
            <a:pPr marL="914400" marR="0" indent="-914400" defTabSz="914400" latinLnBrk="0">
              <a:lnSpc>
                <a:spcPct val="200000"/>
              </a:lnSpc>
              <a:buClrTx/>
              <a:buSzTx/>
              <a:buFont typeface="+mj-lt"/>
              <a:buAutoNum type="arabicPeriod"/>
              <a:tabLst/>
            </a:pPr>
            <a:r>
              <a:rPr lang="en-GB" sz="5400">
                <a:latin typeface="Arial"/>
                <a:cs typeface="Arial"/>
              </a:rPr>
              <a:t>Research what the interview will be like (e.g. will you need to do a coding exercise) and consider whether you can prep example answers in advance</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sz="5400" b="0" u="none">
              <a:solidFill>
                <a:prstClr val="black"/>
              </a:solidFill>
              <a:latin typeface="Arial"/>
              <a:cs typeface="Arial"/>
            </a:endParaRPr>
          </a:p>
          <a:p>
            <a:pPr>
              <a:spcBef>
                <a:spcPct val="0"/>
              </a:spcBef>
              <a:defRPr/>
            </a:pPr>
            <a:r>
              <a:rPr lang="en-US" sz="5400">
                <a:solidFill>
                  <a:prstClr val="black"/>
                </a:solidFill>
                <a:latin typeface="Arial"/>
                <a:cs typeface="Arial"/>
              </a:rPr>
              <a:t>Lots of advice available </a:t>
            </a:r>
          </a:p>
        </p:txBody>
      </p:sp>
      <p:sp>
        <p:nvSpPr>
          <p:cNvPr id="4" name="Slide Number Placeholder 3">
            <a:extLst>
              <a:ext uri="{FF2B5EF4-FFF2-40B4-BE49-F238E27FC236}">
                <a16:creationId xmlns:a16="http://schemas.microsoft.com/office/drawing/2014/main" id="{4BF98EA9-3056-1910-F237-4F52E4C0B9E6}"/>
              </a:ext>
            </a:extLst>
          </p:cNvPr>
          <p:cNvSpPr>
            <a:spLocks noGrp="1"/>
          </p:cNvSpPr>
          <p:nvPr>
            <p:ph type="sldNum" sz="quarter" idx="5"/>
          </p:nvPr>
        </p:nvSpPr>
        <p:spPr/>
        <p:txBody>
          <a:bodyPr/>
          <a:lstStyle/>
          <a:p>
            <a:pPr>
              <a:defRPr/>
            </a:pPr>
            <a:fld id="{B20FE0A2-34EE-413D-B87D-BE548BE2D9D5}" type="slidenum">
              <a:rPr lang="en-GB" altLang="en-US" smtClean="0"/>
              <a:pPr>
                <a:defRPr/>
              </a:pPr>
              <a:t>29</a:t>
            </a:fld>
            <a:endParaRPr lang="en-GB" altLang="en-US"/>
          </a:p>
        </p:txBody>
      </p:sp>
    </p:spTree>
    <p:extLst>
      <p:ext uri="{BB962C8B-B14F-4D97-AF65-F5344CB8AC3E}">
        <p14:creationId xmlns:p14="http://schemas.microsoft.com/office/powerpoint/2010/main" val="26002746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defRPr/>
            </a:pPr>
            <a:r>
              <a:rPr lang="en-US" sz="5400" b="1" u="sng">
                <a:solidFill>
                  <a:prstClr val="black"/>
                </a:solidFill>
                <a:latin typeface="Arial"/>
                <a:cs typeface="Arial"/>
              </a:rPr>
              <a:t>Host: </a:t>
            </a:r>
            <a:endParaRPr lang="en-US"/>
          </a:p>
          <a:p>
            <a:pPr>
              <a:spcBef>
                <a:spcPct val="0"/>
              </a:spcBef>
              <a:defRPr/>
            </a:pPr>
            <a:r>
              <a:rPr lang="en-US" sz="5400" i="1">
                <a:solidFill>
                  <a:prstClr val="black"/>
                </a:solidFill>
                <a:latin typeface="Arial"/>
                <a:cs typeface="Arial"/>
              </a:rPr>
              <a:t>Tying up this section:</a:t>
            </a:r>
          </a:p>
          <a:p>
            <a:pPr>
              <a:spcBef>
                <a:spcPct val="0"/>
              </a:spcBef>
              <a:defRPr/>
            </a:pPr>
            <a:endParaRPr lang="en-US" sz="5400" i="1">
              <a:solidFill>
                <a:prstClr val="black"/>
              </a:solidFill>
              <a:latin typeface="Arial"/>
              <a:cs typeface="Arial"/>
            </a:endParaRPr>
          </a:p>
          <a:p>
            <a:pPr>
              <a:spcBef>
                <a:spcPct val="0"/>
              </a:spcBef>
              <a:defRPr/>
            </a:pPr>
            <a:r>
              <a:rPr lang="en-US" sz="5400">
                <a:solidFill>
                  <a:prstClr val="black"/>
                </a:solidFill>
                <a:latin typeface="Arial"/>
                <a:cs typeface="Arial"/>
              </a:rPr>
              <a:t>Earlier in</a:t>
            </a:r>
            <a:r>
              <a:rPr kumimoji="0" lang="en-US" sz="5400" b="0" i="0" u="none" strike="noStrike" kern="1200" cap="none" spc="0" normalizeH="0" baseline="0" noProof="0">
                <a:ln>
                  <a:noFill/>
                </a:ln>
                <a:solidFill>
                  <a:prstClr val="black"/>
                </a:solidFill>
                <a:effectLst/>
                <a:uLnTx/>
                <a:uFillTx/>
                <a:latin typeface="Arial"/>
                <a:ea typeface="+mn-ea"/>
                <a:cs typeface="Arial"/>
              </a:rPr>
              <a:t> this presentation, we have looked at some statistics surrounding diversity, and we have considered how a lack of diversity might impact both day-to-day life and systems and processes. </a:t>
            </a:r>
            <a:endParaRPr lang="en-US" sz="4300">
              <a:solidFill>
                <a:prstClr val="black"/>
              </a:solidFill>
              <a:latin typeface="Calibri"/>
              <a:ea typeface="Calibri"/>
              <a:cs typeface="Calibri"/>
            </a:endParaRPr>
          </a:p>
          <a:p>
            <a:pPr>
              <a:spcBef>
                <a:spcPct val="0"/>
              </a:spcBef>
              <a:defRPr/>
            </a:pPr>
            <a:r>
              <a:rPr lang="en-US" sz="5400">
                <a:solidFill>
                  <a:prstClr val="black"/>
                </a:solidFill>
                <a:latin typeface="Arial"/>
                <a:cs typeface="Arial"/>
              </a:rPr>
              <a:t>We've now also covered some of the many roles that you can have in data science and AI. </a:t>
            </a:r>
          </a:p>
          <a:p>
            <a:pPr>
              <a:spcBef>
                <a:spcPct val="0"/>
              </a:spcBef>
              <a:defRPr/>
            </a:pPr>
            <a:r>
              <a:rPr lang="en-US" sz="5400">
                <a:solidFill>
                  <a:prstClr val="black"/>
                </a:solidFill>
                <a:latin typeface="Arial"/>
                <a:cs typeface="Arial"/>
              </a:rPr>
              <a:t>So, to reiterate, why</a:t>
            </a:r>
            <a:r>
              <a:rPr kumimoji="0" lang="en-US" sz="5400" b="0" i="0" u="none" strike="noStrike" kern="1200" cap="none" spc="0" normalizeH="0" baseline="0" noProof="0">
                <a:ln>
                  <a:noFill/>
                </a:ln>
                <a:solidFill>
                  <a:prstClr val="black"/>
                </a:solidFill>
                <a:effectLst/>
                <a:uLnTx/>
                <a:uFillTx/>
                <a:latin typeface="Arial"/>
                <a:ea typeface="+mn-ea"/>
                <a:cs typeface="Arial"/>
              </a:rPr>
              <a:t> do we think it’s important to have diversity across </a:t>
            </a:r>
            <a:r>
              <a:rPr lang="en-US" sz="5400">
                <a:solidFill>
                  <a:prstClr val="black"/>
                </a:solidFill>
                <a:latin typeface="Arial"/>
                <a:cs typeface="Arial"/>
              </a:rPr>
              <a:t>data</a:t>
            </a:r>
            <a:r>
              <a:rPr kumimoji="0" lang="en-US" sz="5400" b="0" i="0" u="none" strike="noStrike" kern="1200" cap="none" spc="0" normalizeH="0" baseline="0" noProof="0">
                <a:ln>
                  <a:noFill/>
                </a:ln>
                <a:solidFill>
                  <a:prstClr val="black"/>
                </a:solidFill>
                <a:effectLst/>
                <a:uLnTx/>
                <a:uFillTx/>
                <a:latin typeface="Arial"/>
                <a:ea typeface="+mn-ea"/>
                <a:cs typeface="Arial"/>
              </a:rPr>
              <a:t> science and AI roles?</a:t>
            </a:r>
            <a:endParaRPr lang="en-US" sz="4300">
              <a:ea typeface="Calibri"/>
              <a:cs typeface="Calibri"/>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5400" b="1" i="0" u="none" strike="noStrike" kern="1200" cap="none" spc="0" normalizeH="0" baseline="0" noProof="0">
              <a:ln>
                <a:noFill/>
              </a:ln>
              <a:solidFill>
                <a:prstClr val="black"/>
              </a:solidFill>
              <a:effectLst/>
              <a:uLnTx/>
              <a:uFillTx/>
              <a:latin typeface="Arial"/>
              <a:ea typeface="+mn-ea"/>
              <a:cs typeface="Arial"/>
            </a:endParaRPr>
          </a:p>
          <a:p>
            <a:pPr marL="1143000" marR="0" lvl="0" indent="-114300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4400">
                <a:solidFill>
                  <a:prstClr val="black"/>
                </a:solidFill>
                <a:latin typeface="Arial"/>
                <a:cs typeface="Arial"/>
              </a:rPr>
              <a:t>Individuals feel encouraged to apply for certain jobs as they see themselves represented in a variety of roles and sectors.</a:t>
            </a:r>
          </a:p>
          <a:p>
            <a:pPr marL="1143000" marR="0" lvl="0" indent="-114300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4400" i="0" u="none" strike="noStrike" kern="1200" cap="none" spc="0" normalizeH="0" baseline="0" noProof="0">
                <a:ln>
                  <a:noFill/>
                </a:ln>
                <a:solidFill>
                  <a:prstClr val="black"/>
                </a:solidFill>
                <a:effectLst/>
                <a:uLnTx/>
                <a:uFillTx/>
                <a:latin typeface="Arial"/>
                <a:ea typeface="+mn-ea"/>
                <a:cs typeface="Arial"/>
              </a:rPr>
              <a:t>Individuals can bring their own experiences and diversity of thought to a role to ensure data science and AI is as unbiased and ethical as possible. This will have a wider impact on the health, safety and wellbeing of all groups that exist within society.</a:t>
            </a:r>
            <a:endParaRPr lang="en-US" sz="4400" i="0" u="none" strike="noStrike" kern="1200" cap="none" spc="0" normalizeH="0" baseline="0" noProof="0">
              <a:ln>
                <a:noFill/>
              </a:ln>
              <a:solidFill>
                <a:prstClr val="black"/>
              </a:solidFill>
              <a:effectLst/>
              <a:uLnTx/>
              <a:uFillTx/>
              <a:latin typeface="Arial"/>
              <a:cs typeface="Arial"/>
            </a:endParaRPr>
          </a:p>
          <a:p>
            <a:pPr marL="1143000" marR="0" lvl="0" indent="-114300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4400">
                <a:solidFill>
                  <a:prstClr val="black"/>
                </a:solidFill>
                <a:latin typeface="Arial"/>
                <a:cs typeface="Arial"/>
              </a:rPr>
              <a:t>Diversity across data science and AI ensures multiple groups are seen, heard and included.</a:t>
            </a:r>
            <a:endParaRPr lang="en-US" sz="4400" i="0" u="none" strike="noStrike" kern="1200" cap="none" spc="0" normalizeH="0" baseline="0" noProof="0">
              <a:ln>
                <a:noFill/>
              </a:ln>
              <a:solidFill>
                <a:prstClr val="black"/>
              </a:solidFill>
              <a:effectLst/>
              <a:uLnTx/>
              <a:uFillTx/>
              <a:latin typeface="Arial"/>
              <a:cs typeface="Arial"/>
            </a:endParaRPr>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30</a:t>
            </a:fld>
            <a:endParaRPr lang="en-GB" altLang="en-US"/>
          </a:p>
        </p:txBody>
      </p:sp>
    </p:spTree>
    <p:extLst>
      <p:ext uri="{BB962C8B-B14F-4D97-AF65-F5344CB8AC3E}">
        <p14:creationId xmlns:p14="http://schemas.microsoft.com/office/powerpoint/2010/main" val="2920876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100" b="1" i="0" u="sng" kern="100" dirty="0">
                <a:effectLst/>
                <a:latin typeface="Calibri Light" panose="020F0302020204030204" pitchFamily="34" charset="0"/>
                <a:ea typeface="Calibri" panose="020F0502020204030204" pitchFamily="34" charset="0"/>
                <a:cs typeface="Arial" panose="020B0604020202020204" pitchFamily="34" charset="0"/>
              </a:rPr>
              <a:t>Host:</a:t>
            </a:r>
          </a:p>
          <a:p>
            <a:pPr>
              <a:lnSpc>
                <a:spcPct val="107000"/>
              </a:lnSpc>
              <a:spcAft>
                <a:spcPts val="800"/>
              </a:spcAft>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Introduce the researcher in the spotlight: 10 mins session </a:t>
            </a:r>
          </a:p>
          <a:p>
            <a:pPr>
              <a:lnSpc>
                <a:spcPct val="107000"/>
              </a:lnSpc>
              <a:spcAft>
                <a:spcPts val="800"/>
              </a:spcAft>
            </a:pPr>
            <a:endParaRPr lang="en-US" sz="1100" b="1" i="1" kern="100" dirty="0">
              <a:effectLst/>
              <a:latin typeface="Calibri Light" panose="020F0302020204030204" pitchFamily="34" charset="0"/>
              <a:ea typeface="Calibri" panose="020F0502020204030204" pitchFamily="34" charset="0"/>
              <a:cs typeface="Arial" panose="020B0604020202020204" pitchFamily="34" charset="0"/>
            </a:endParaRPr>
          </a:p>
          <a:p>
            <a:pPr marL="171450"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Tell students their name</a:t>
            </a:r>
          </a:p>
          <a:p>
            <a:pPr marL="171450"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Tell students where they’re from</a:t>
            </a:r>
          </a:p>
          <a:p>
            <a:pPr marL="171450"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Tell students, in brief, what they’re going to cover:</a:t>
            </a:r>
          </a:p>
          <a:p>
            <a:pPr marL="1824328" lvl="1"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An overview of their trajectory into their current role</a:t>
            </a:r>
          </a:p>
          <a:p>
            <a:pPr marL="1824328" lvl="1"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An overview of challenges and successes in that trajectory</a:t>
            </a:r>
          </a:p>
          <a:p>
            <a:pPr marL="1824328" lvl="1"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Reasons for their career choice and any impact</a:t>
            </a:r>
          </a:p>
          <a:p>
            <a:pPr marL="1824328" lvl="1" indent="-171450">
              <a:lnSpc>
                <a:spcPct val="107000"/>
              </a:lnSpc>
              <a:spcAft>
                <a:spcPts val="800"/>
              </a:spcAft>
              <a:buFontTx/>
              <a:buChar char="-"/>
            </a:pPr>
            <a:r>
              <a:rPr lang="en-US" sz="1100" b="0" i="1" kern="100" dirty="0">
                <a:effectLst/>
                <a:latin typeface="Calibri Light" panose="020F0302020204030204" pitchFamily="34" charset="0"/>
                <a:ea typeface="Calibri" panose="020F0502020204030204" pitchFamily="34" charset="0"/>
                <a:cs typeface="Arial" panose="020B0604020202020204" pitchFamily="34" charset="0"/>
              </a:rPr>
              <a:t>Top tips </a:t>
            </a:r>
          </a:p>
          <a:p>
            <a:pPr marL="1824328" lvl="1" indent="-171450">
              <a:lnSpc>
                <a:spcPct val="107000"/>
              </a:lnSpc>
              <a:spcAft>
                <a:spcPts val="800"/>
              </a:spcAft>
              <a:buFontTx/>
              <a:buChar char="-"/>
            </a:pPr>
            <a:endParaRPr lang="en-GB" sz="1100" b="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sz="1100" b="0" i="1" kern="100" dirty="0">
                <a:effectLst/>
                <a:latin typeface="Calibri Light" panose="020F0302020204030204" pitchFamily="34" charset="0"/>
                <a:ea typeface="Calibri" panose="020F0502020204030204" pitchFamily="34" charset="0"/>
                <a:cs typeface="Arial" panose="020B0604020202020204" pitchFamily="34" charset="0"/>
              </a:rPr>
              <a:t>The talk will end with a short Q&amp;A session, using </a:t>
            </a:r>
            <a:r>
              <a:rPr lang="en-GB" sz="1100" b="0" i="1" kern="100" dirty="0" err="1">
                <a:effectLst/>
                <a:latin typeface="Calibri Light" panose="020F0302020204030204" pitchFamily="34" charset="0"/>
                <a:ea typeface="Calibri" panose="020F0502020204030204" pitchFamily="34" charset="0"/>
                <a:cs typeface="Arial" panose="020B0604020202020204" pitchFamily="34" charset="0"/>
              </a:rPr>
              <a:t>SliDo</a:t>
            </a:r>
            <a:endParaRPr lang="en-GB" b="0" dirty="0"/>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31</a:t>
            </a:fld>
            <a:endParaRPr lang="en-GB" altLang="en-US"/>
          </a:p>
        </p:txBody>
      </p:sp>
    </p:spTree>
    <p:extLst>
      <p:ext uri="{BB962C8B-B14F-4D97-AF65-F5344CB8AC3E}">
        <p14:creationId xmlns:p14="http://schemas.microsoft.com/office/powerpoint/2010/main" val="1902872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C47A-7CB1-C351-2004-2525BB6AE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237DC-04D3-E85E-5A60-F4B8F2403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78318-3226-05F6-0ABE-A371A92954FA}"/>
              </a:ext>
            </a:extLst>
          </p:cNvPr>
          <p:cNvSpPr>
            <a:spLocks noGrp="1"/>
          </p:cNvSpPr>
          <p:nvPr>
            <p:ph type="body" idx="1"/>
          </p:nvPr>
        </p:nvSpPr>
        <p:spPr/>
        <p:txBody>
          <a:bodyPr/>
          <a:lstStyle/>
          <a:p>
            <a:pPr marL="0" indent="0">
              <a:buFont typeface="Arial" panose="020B0604020202020204" pitchFamily="34" charset="0"/>
              <a:buNone/>
            </a:pPr>
            <a:r>
              <a:rPr lang="en-GB" b="1" u="sng"/>
              <a:t>Host:</a:t>
            </a:r>
          </a:p>
          <a:p>
            <a:pPr marL="0" indent="0">
              <a:buFont typeface="Arial" panose="020B0604020202020204" pitchFamily="34" charset="0"/>
              <a:buNone/>
            </a:pPr>
            <a:r>
              <a:rPr lang="en-GB" b="0" u="none"/>
              <a:t>To find out more about working in the data science and AI sector, you can access a free bank of short films on podcasts on our website. We’ve interviewed people from various roles and across the sector about their day to day, what skills they use, what they wish they’d known before entering the field, what misconceptions there are about working in the sector and what their roles entail, as well as a whole lot more.</a:t>
            </a:r>
          </a:p>
          <a:p>
            <a:pPr marL="0" indent="0">
              <a:buFont typeface="Arial" panose="020B0604020202020204" pitchFamily="34" charset="0"/>
              <a:buNone/>
            </a:pPr>
            <a:endParaRPr lang="en-GB" b="0" u="none"/>
          </a:p>
          <a:p>
            <a:pPr marL="0" indent="0">
              <a:buFont typeface="Arial" panose="020B0604020202020204" pitchFamily="34" charset="0"/>
              <a:buNone/>
            </a:pPr>
            <a:r>
              <a:rPr lang="en-GB" b="0" u="none"/>
              <a:t>Just type into google: The Alan Turing Institute’s Spotlight Series on data science and AI.</a:t>
            </a:r>
          </a:p>
          <a:p>
            <a:pPr marL="0" indent="0">
              <a:buFont typeface="Arial" panose="020B0604020202020204" pitchFamily="34" charset="0"/>
              <a:buNone/>
            </a:pPr>
            <a:endParaRPr lang="en-GB" b="1" u="sng"/>
          </a:p>
          <a:p>
            <a:pPr marL="0" indent="0">
              <a:buFont typeface="Arial" panose="020B0604020202020204" pitchFamily="34" charset="0"/>
              <a:buNone/>
            </a:pPr>
            <a:r>
              <a:rPr lang="en-GB" b="1" u="sng"/>
              <a:t>Notes:</a:t>
            </a:r>
          </a:p>
        </p:txBody>
      </p:sp>
      <p:sp>
        <p:nvSpPr>
          <p:cNvPr id="4" name="Slide Number Placeholder 3">
            <a:extLst>
              <a:ext uri="{FF2B5EF4-FFF2-40B4-BE49-F238E27FC236}">
                <a16:creationId xmlns:a16="http://schemas.microsoft.com/office/drawing/2014/main" id="{D94F08D6-9102-987A-9CF9-5C616154D755}"/>
              </a:ext>
            </a:extLst>
          </p:cNvPr>
          <p:cNvSpPr>
            <a:spLocks noGrp="1"/>
          </p:cNvSpPr>
          <p:nvPr>
            <p:ph type="sldNum" sz="quarter" idx="5"/>
          </p:nvPr>
        </p:nvSpPr>
        <p:spPr/>
        <p:txBody>
          <a:bodyPr/>
          <a:lstStyle/>
          <a:p>
            <a:pPr>
              <a:defRPr/>
            </a:pPr>
            <a:fld id="{B20FE0A2-34EE-413D-B87D-BE548BE2D9D5}" type="slidenum">
              <a:rPr lang="en-GB" altLang="en-US" smtClean="0"/>
              <a:pPr>
                <a:defRPr/>
              </a:pPr>
              <a:t>32</a:t>
            </a:fld>
            <a:endParaRPr lang="en-GB" altLang="en-US"/>
          </a:p>
        </p:txBody>
      </p:sp>
    </p:spTree>
    <p:extLst>
      <p:ext uri="{BB962C8B-B14F-4D97-AF65-F5344CB8AC3E}">
        <p14:creationId xmlns:p14="http://schemas.microsoft.com/office/powerpoint/2010/main" val="184772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900" b="1" i="0" u="sng">
                <a:solidFill>
                  <a:srgbClr val="FF0000"/>
                </a:solidFill>
                <a:effectLst/>
                <a:highlight>
                  <a:srgbClr val="FFFF00"/>
                </a:highlight>
                <a:latin typeface="Calibri Light" panose="020F0302020204030204" pitchFamily="34" charset="0"/>
              </a:rPr>
              <a:t>Host:</a:t>
            </a:r>
            <a:r>
              <a:rPr lang="en-GB" sz="900" b="1" i="0">
                <a:solidFill>
                  <a:srgbClr val="FF0000"/>
                </a:solidFill>
                <a:effectLst/>
                <a:highlight>
                  <a:srgbClr val="FFFF00"/>
                </a:highlight>
                <a:latin typeface="Calibri Light" panose="020F0302020204030204" pitchFamily="34" charset="0"/>
              </a:rPr>
              <a:t>​ ALLOW 5 mins at end of session to complete this form</a:t>
            </a:r>
            <a:endParaRPr lang="en-GB" sz="900" b="1" i="0">
              <a:solidFill>
                <a:srgbClr val="FF0000"/>
              </a:solidFill>
              <a:effectLst/>
              <a:highlight>
                <a:srgbClr val="FFFF00"/>
              </a:highlight>
              <a:latin typeface="Calibri" panose="020F0502020204030204" pitchFamily="34" charset="0"/>
            </a:endParaRPr>
          </a:p>
          <a:p>
            <a:r>
              <a:rPr lang="en-US" sz="900" b="0" i="0" u="none" strike="noStrike">
                <a:solidFill>
                  <a:srgbClr val="000000"/>
                </a:solidFill>
                <a:effectLst/>
                <a:latin typeface="Calibri Light"/>
                <a:ea typeface="Calibri Light"/>
                <a:cs typeface="Calibri Light"/>
              </a:rPr>
              <a:t>If we have piqued your interest, then do sign up to our mailing list and we will send you more </a:t>
            </a:r>
            <a:r>
              <a:rPr lang="en-US" sz="900">
                <a:solidFill>
                  <a:srgbClr val="000000"/>
                </a:solidFill>
                <a:latin typeface="Calibri Light"/>
                <a:ea typeface="Calibri Light"/>
                <a:cs typeface="Calibri Light"/>
              </a:rPr>
              <a:t>information, all</a:t>
            </a:r>
            <a:r>
              <a:rPr lang="en-US" sz="900" b="0" i="0" u="none" strike="noStrike">
                <a:solidFill>
                  <a:srgbClr val="000000"/>
                </a:solidFill>
                <a:effectLst/>
                <a:latin typeface="Calibri Light"/>
                <a:ea typeface="Calibri Light"/>
                <a:cs typeface="Calibri Light"/>
              </a:rPr>
              <a:t> relevant links, brochures and information on careers in these areas.</a:t>
            </a:r>
            <a:r>
              <a:rPr lang="en-GB" sz="900" b="0" i="0">
                <a:solidFill>
                  <a:srgbClr val="000000"/>
                </a:solidFill>
                <a:effectLst/>
                <a:latin typeface="Calibri Light"/>
                <a:ea typeface="Calibri Light"/>
                <a:cs typeface="Calibri Light"/>
              </a:rPr>
              <a:t>​</a:t>
            </a:r>
            <a:endParaRPr lang="en-GB" sz="900" b="0" i="0">
              <a:solidFill>
                <a:srgbClr val="444444"/>
              </a:solidFill>
              <a:effectLst/>
              <a:latin typeface="Calibri Light"/>
              <a:ea typeface="Calibri Light"/>
              <a:cs typeface="Calibri Light"/>
            </a:endParaRPr>
          </a:p>
          <a:p>
            <a:pPr algn="l" rtl="0" fontAlgn="base"/>
            <a:r>
              <a:rPr lang="en-US" sz="900" b="0" i="0" u="none" strike="noStrike">
                <a:solidFill>
                  <a:srgbClr val="000000"/>
                </a:solidFill>
                <a:effectLst/>
                <a:latin typeface="Calibri Light" panose="020F0302020204030204" pitchFamily="34" charset="0"/>
              </a:rPr>
              <a:t> </a:t>
            </a:r>
            <a:r>
              <a:rPr lang="en-GB" sz="900" b="0" i="0">
                <a:solidFill>
                  <a:srgbClr val="000000"/>
                </a:solidFill>
                <a:effectLst/>
                <a:latin typeface="Calibri Light" panose="020F0302020204030204" pitchFamily="34" charset="0"/>
              </a:rPr>
              <a:t>​</a:t>
            </a:r>
            <a:endParaRPr lang="en-GB" sz="900" b="0" i="0">
              <a:solidFill>
                <a:srgbClr val="444444"/>
              </a:solidFill>
              <a:effectLst/>
              <a:latin typeface="Calibri" panose="020F0502020204030204" pitchFamily="34" charset="0"/>
            </a:endParaRPr>
          </a:p>
          <a:p>
            <a:pPr algn="l" rtl="0" fontAlgn="base"/>
            <a:r>
              <a:rPr lang="en-US" sz="900" b="0" i="0" u="none" strike="noStrike">
                <a:solidFill>
                  <a:srgbClr val="000000"/>
                </a:solidFill>
                <a:effectLst/>
                <a:latin typeface="Calibri Light" panose="020F0302020204030204" pitchFamily="34" charset="0"/>
              </a:rPr>
              <a:t>This is a work in progress, and we will be adding information as opportunities come along.</a:t>
            </a:r>
            <a:r>
              <a:rPr lang="en-GB" sz="900" b="0" i="0">
                <a:solidFill>
                  <a:srgbClr val="000000"/>
                </a:solidFill>
                <a:effectLst/>
                <a:latin typeface="Calibri Light" panose="020F0302020204030204" pitchFamily="34" charset="0"/>
              </a:rPr>
              <a:t>​</a:t>
            </a:r>
            <a:endParaRPr lang="en-GB" sz="900" b="0" i="0">
              <a:solidFill>
                <a:srgbClr val="444444"/>
              </a:solidFill>
              <a:effectLst/>
              <a:latin typeface="Calibri" panose="020F0502020204030204" pitchFamily="34" charset="0"/>
            </a:endParaRPr>
          </a:p>
          <a:p>
            <a:pPr algn="l" rtl="0" fontAlgn="base"/>
            <a:r>
              <a:rPr lang="en-US" sz="900" b="0" i="0" u="none" strike="noStrike">
                <a:solidFill>
                  <a:srgbClr val="000000"/>
                </a:solidFill>
                <a:effectLst/>
                <a:latin typeface="Calibri Light" panose="020F0302020204030204" pitchFamily="34" charset="0"/>
              </a:rPr>
              <a:t> </a:t>
            </a:r>
            <a:r>
              <a:rPr lang="en-GB" sz="900" b="0" i="0">
                <a:solidFill>
                  <a:srgbClr val="000000"/>
                </a:solidFill>
                <a:effectLst/>
                <a:latin typeface="Calibri Light" panose="020F0302020204030204" pitchFamily="34" charset="0"/>
              </a:rPr>
              <a:t>​</a:t>
            </a:r>
            <a:endParaRPr lang="en-GB" sz="900" b="0" i="0">
              <a:solidFill>
                <a:srgbClr val="444444"/>
              </a:solidFill>
              <a:effectLst/>
              <a:latin typeface="Calibri" panose="020F0502020204030204" pitchFamily="34" charset="0"/>
            </a:endParaRPr>
          </a:p>
          <a:p>
            <a:pPr algn="l" rtl="0" fontAlgn="base"/>
            <a:r>
              <a:rPr lang="en-US" sz="900" b="0" i="0" u="none" strike="noStrike">
                <a:solidFill>
                  <a:srgbClr val="000000"/>
                </a:solidFill>
                <a:effectLst/>
                <a:latin typeface="Calibri Light" panose="020F0302020204030204" pitchFamily="34" charset="0"/>
              </a:rPr>
              <a:t>We have finished the talk with a few minutes to spare – this is to get your feedback. We would really appreciate you answering a few questions about the talk so we can ensure it is useful for future audiences. The feedback form also includes some questions around diversity – they are optional, but we would be hugely appreciative if you would take the time to answer them so that we can ensure our audiences are as diverse as possible.</a:t>
            </a:r>
            <a:r>
              <a:rPr lang="en-GB" sz="900" b="0" i="0">
                <a:solidFill>
                  <a:srgbClr val="000000"/>
                </a:solidFill>
                <a:effectLst/>
                <a:latin typeface="Calibri Light" panose="020F0302020204030204" pitchFamily="34" charset="0"/>
              </a:rPr>
              <a:t>​</a:t>
            </a:r>
            <a:endParaRPr lang="en-GB" sz="900" b="0" i="0">
              <a:solidFill>
                <a:srgbClr val="444444"/>
              </a:solidFill>
              <a:effectLst/>
              <a:latin typeface="Calibri" panose="020F0502020204030204" pitchFamily="34" charset="0"/>
            </a:endParaRPr>
          </a:p>
          <a:p>
            <a:pPr algn="l" rtl="0" fontAlgn="base"/>
            <a:r>
              <a:rPr lang="en-GB" sz="900" b="0" i="0">
                <a:solidFill>
                  <a:srgbClr val="000000"/>
                </a:solidFill>
                <a:effectLst/>
                <a:latin typeface="Calibri" panose="020F0502020204030204" pitchFamily="34" charset="0"/>
              </a:rPr>
              <a:t>​</a:t>
            </a:r>
            <a:endParaRPr lang="en-GB" sz="900" b="0" i="0">
              <a:solidFill>
                <a:srgbClr val="444444"/>
              </a:solidFill>
              <a:effectLst/>
              <a:latin typeface="Calibri" panose="020F0502020204030204" pitchFamily="34" charset="0"/>
            </a:endParaRPr>
          </a:p>
          <a:p>
            <a:pPr>
              <a:lnSpc>
                <a:spcPct val="107000"/>
              </a:lnSpc>
              <a:spcAft>
                <a:spcPts val="800"/>
              </a:spcAft>
            </a:pPr>
            <a:r>
              <a:rPr lang="en-US" sz="1800" b="1" kern="100">
                <a:effectLst/>
                <a:latin typeface="Calibri Light" panose="020F0302020204030204" pitchFamily="34" charset="0"/>
                <a:ea typeface="Calibri" panose="020F0502020204030204" pitchFamily="34" charset="0"/>
                <a:cs typeface="Times New Roman" panose="02020603050405020304" pitchFamily="18" charset="0"/>
              </a:rPr>
              <a:t> </a:t>
            </a:r>
            <a:endParaRPr lang="en-GB"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GB"/>
          </a:p>
        </p:txBody>
      </p:sp>
      <p:sp>
        <p:nvSpPr>
          <p:cNvPr id="4" name="Slide Number Placeholder 3"/>
          <p:cNvSpPr>
            <a:spLocks noGrp="1"/>
          </p:cNvSpPr>
          <p:nvPr>
            <p:ph type="sldNum" sz="quarter" idx="5"/>
          </p:nvPr>
        </p:nvSpPr>
        <p:spPr/>
        <p:txBody>
          <a:bodyPr/>
          <a:lstStyle/>
          <a:p>
            <a:pPr>
              <a:defRPr/>
            </a:pPr>
            <a:fld id="{B20FE0A2-34EE-413D-B87D-BE548BE2D9D5}" type="slidenum">
              <a:rPr lang="en-GB" altLang="en-US" smtClean="0"/>
              <a:pPr>
                <a:defRPr/>
              </a:pPr>
              <a:t>33</a:t>
            </a:fld>
            <a:endParaRPr lang="en-GB" altLang="en-US"/>
          </a:p>
        </p:txBody>
      </p:sp>
    </p:spTree>
    <p:extLst>
      <p:ext uri="{BB962C8B-B14F-4D97-AF65-F5344CB8AC3E}">
        <p14:creationId xmlns:p14="http://schemas.microsoft.com/office/powerpoint/2010/main" val="3055629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03DC-2EE2-47ED-91DD-18BD04DB7786}"/>
              </a:ext>
            </a:extLst>
          </p:cNvPr>
          <p:cNvSpPr>
            <a:spLocks noGrp="1"/>
          </p:cNvSpPr>
          <p:nvPr>
            <p:ph type="ctrTitle"/>
          </p:nvPr>
        </p:nvSpPr>
        <p:spPr>
          <a:xfrm>
            <a:off x="4751983" y="3499590"/>
            <a:ext cx="28511897" cy="7444669"/>
          </a:xfrm>
        </p:spPr>
        <p:txBody>
          <a:bodyPr anchor="b"/>
          <a:lstStyle>
            <a:lvl1pPr algn="ctr">
              <a:defRPr sz="18709"/>
            </a:lvl1pPr>
          </a:lstStyle>
          <a:p>
            <a:r>
              <a:rPr lang="en-US"/>
              <a:t>Click to edit Master title style</a:t>
            </a:r>
            <a:endParaRPr lang="en-GB"/>
          </a:p>
        </p:txBody>
      </p:sp>
      <p:sp>
        <p:nvSpPr>
          <p:cNvPr id="3" name="Subtitle 2">
            <a:extLst>
              <a:ext uri="{FF2B5EF4-FFF2-40B4-BE49-F238E27FC236}">
                <a16:creationId xmlns:a16="http://schemas.microsoft.com/office/drawing/2014/main" id="{7C0B7881-693F-462E-B0A9-21781019D38F}"/>
              </a:ext>
            </a:extLst>
          </p:cNvPr>
          <p:cNvSpPr>
            <a:spLocks noGrp="1"/>
          </p:cNvSpPr>
          <p:nvPr>
            <p:ph type="subTitle" idx="1"/>
          </p:nvPr>
        </p:nvSpPr>
        <p:spPr>
          <a:xfrm>
            <a:off x="4751983" y="11231355"/>
            <a:ext cx="28511897" cy="5162758"/>
          </a:xfrm>
        </p:spPr>
        <p:txBody>
          <a:bodyPr/>
          <a:lstStyle>
            <a:lvl1pPr marL="0" indent="0" algn="ctr">
              <a:buNone/>
              <a:defRPr sz="7483"/>
            </a:lvl1pPr>
            <a:lvl2pPr marL="1425595" indent="0" algn="ctr">
              <a:buNone/>
              <a:defRPr sz="6236"/>
            </a:lvl2pPr>
            <a:lvl3pPr marL="2851191" indent="0" algn="ctr">
              <a:buNone/>
              <a:defRPr sz="5613"/>
            </a:lvl3pPr>
            <a:lvl4pPr marL="4276786" indent="0" algn="ctr">
              <a:buNone/>
              <a:defRPr sz="4989"/>
            </a:lvl4pPr>
            <a:lvl5pPr marL="5702381" indent="0" algn="ctr">
              <a:buNone/>
              <a:defRPr sz="4989"/>
            </a:lvl5pPr>
            <a:lvl6pPr marL="7127977" indent="0" algn="ctr">
              <a:buNone/>
              <a:defRPr sz="4989"/>
            </a:lvl6pPr>
            <a:lvl7pPr marL="8553572" indent="0" algn="ctr">
              <a:buNone/>
              <a:defRPr sz="4989"/>
            </a:lvl7pPr>
            <a:lvl8pPr marL="9979167" indent="0" algn="ctr">
              <a:buNone/>
              <a:defRPr sz="4989"/>
            </a:lvl8pPr>
            <a:lvl9pPr marL="11404763" indent="0" algn="ctr">
              <a:buNone/>
              <a:defRPr sz="4989"/>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95A6571-F96A-4E6B-A4B7-5ECAD2F7914E}"/>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6ECAE9C5-CE23-4A4D-AD31-D805C91244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1EED59-713E-483E-A6B1-087B9A09F846}"/>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2938625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7A66-0084-44B2-B5CF-6BBF680700E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562EC99-79D1-4C4F-9922-AA090F8FBD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978625-8360-47C8-8E45-96C307889172}"/>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54F25D4B-6688-4769-AB27-84C45658FD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D32910-A666-4DEB-BBD1-289D3BC656AA}"/>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2443018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EF4B0-0000-439D-ADE7-9DE3513AF36E}"/>
              </a:ext>
            </a:extLst>
          </p:cNvPr>
          <p:cNvSpPr>
            <a:spLocks noGrp="1"/>
          </p:cNvSpPr>
          <p:nvPr>
            <p:ph type="title"/>
          </p:nvPr>
        </p:nvSpPr>
        <p:spPr>
          <a:xfrm>
            <a:off x="2593791" y="5331060"/>
            <a:ext cx="32788682" cy="8894992"/>
          </a:xfrm>
        </p:spPr>
        <p:txBody>
          <a:bodyPr anchor="b"/>
          <a:lstStyle>
            <a:lvl1pPr>
              <a:defRPr sz="18709"/>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FFA9C7A-45B8-4F5B-89BC-CD77523833D4}"/>
              </a:ext>
            </a:extLst>
          </p:cNvPr>
          <p:cNvSpPr>
            <a:spLocks noGrp="1"/>
          </p:cNvSpPr>
          <p:nvPr>
            <p:ph type="body" idx="1"/>
          </p:nvPr>
        </p:nvSpPr>
        <p:spPr>
          <a:xfrm>
            <a:off x="2593791" y="14310202"/>
            <a:ext cx="32788682" cy="4677666"/>
          </a:xfrm>
        </p:spPr>
        <p:txBody>
          <a:bodyPr/>
          <a:lstStyle>
            <a:lvl1pPr marL="0" indent="0">
              <a:buNone/>
              <a:defRPr sz="7483">
                <a:solidFill>
                  <a:schemeClr val="tx1">
                    <a:tint val="75000"/>
                  </a:schemeClr>
                </a:solidFill>
              </a:defRPr>
            </a:lvl1pPr>
            <a:lvl2pPr marL="1425595" indent="0">
              <a:buNone/>
              <a:defRPr sz="6236">
                <a:solidFill>
                  <a:schemeClr val="tx1">
                    <a:tint val="75000"/>
                  </a:schemeClr>
                </a:solidFill>
              </a:defRPr>
            </a:lvl2pPr>
            <a:lvl3pPr marL="2851191" indent="0">
              <a:buNone/>
              <a:defRPr sz="5613">
                <a:solidFill>
                  <a:schemeClr val="tx1">
                    <a:tint val="75000"/>
                  </a:schemeClr>
                </a:solidFill>
              </a:defRPr>
            </a:lvl3pPr>
            <a:lvl4pPr marL="4276786" indent="0">
              <a:buNone/>
              <a:defRPr sz="4989">
                <a:solidFill>
                  <a:schemeClr val="tx1">
                    <a:tint val="75000"/>
                  </a:schemeClr>
                </a:solidFill>
              </a:defRPr>
            </a:lvl4pPr>
            <a:lvl5pPr marL="5702381" indent="0">
              <a:buNone/>
              <a:defRPr sz="4989">
                <a:solidFill>
                  <a:schemeClr val="tx1">
                    <a:tint val="75000"/>
                  </a:schemeClr>
                </a:solidFill>
              </a:defRPr>
            </a:lvl5pPr>
            <a:lvl6pPr marL="7127977" indent="0">
              <a:buNone/>
              <a:defRPr sz="4989">
                <a:solidFill>
                  <a:schemeClr val="tx1">
                    <a:tint val="75000"/>
                  </a:schemeClr>
                </a:solidFill>
              </a:defRPr>
            </a:lvl6pPr>
            <a:lvl7pPr marL="8553572" indent="0">
              <a:buNone/>
              <a:defRPr sz="4989">
                <a:solidFill>
                  <a:schemeClr val="tx1">
                    <a:tint val="75000"/>
                  </a:schemeClr>
                </a:solidFill>
              </a:defRPr>
            </a:lvl7pPr>
            <a:lvl8pPr marL="9979167" indent="0">
              <a:buNone/>
              <a:defRPr sz="4989">
                <a:solidFill>
                  <a:schemeClr val="tx1">
                    <a:tint val="75000"/>
                  </a:schemeClr>
                </a:solidFill>
              </a:defRPr>
            </a:lvl8pPr>
            <a:lvl9pPr marL="11404763" indent="0">
              <a:buNone/>
              <a:defRPr sz="4989">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85E5AD-C645-4FEC-99AA-2DDE62B869D6}"/>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16810E6C-2AFE-4E70-9232-260309EDE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E10DE1-9486-44C0-B85F-F66630A83295}"/>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141836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5AEFB-9804-4A7F-B88B-CB0643FC09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F683E04-2405-40EF-BED0-50D126FEA7F8}"/>
              </a:ext>
            </a:extLst>
          </p:cNvPr>
          <p:cNvSpPr>
            <a:spLocks noGrp="1"/>
          </p:cNvSpPr>
          <p:nvPr>
            <p:ph sz="half" idx="1"/>
          </p:nvPr>
        </p:nvSpPr>
        <p:spPr>
          <a:xfrm>
            <a:off x="2613590" y="5692400"/>
            <a:ext cx="16156742"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6C96F97-6797-41F2-8754-C79EAA0B6267}"/>
              </a:ext>
            </a:extLst>
          </p:cNvPr>
          <p:cNvSpPr>
            <a:spLocks noGrp="1"/>
          </p:cNvSpPr>
          <p:nvPr>
            <p:ph sz="half" idx="2"/>
          </p:nvPr>
        </p:nvSpPr>
        <p:spPr>
          <a:xfrm>
            <a:off x="19245531" y="5692400"/>
            <a:ext cx="16156742"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3DA580D-C174-4DA0-9CDE-D0354229E1A3}"/>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6" name="Footer Placeholder 5">
            <a:extLst>
              <a:ext uri="{FF2B5EF4-FFF2-40B4-BE49-F238E27FC236}">
                <a16:creationId xmlns:a16="http://schemas.microsoft.com/office/drawing/2014/main" id="{6E1E309E-7E01-4F54-B852-ECA33ED181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521334-F0F8-4457-AB12-5247BC1CAA6E}"/>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1407233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D1DCD-E302-4ADF-80C0-4A1BB9281070}"/>
              </a:ext>
            </a:extLst>
          </p:cNvPr>
          <p:cNvSpPr>
            <a:spLocks noGrp="1"/>
          </p:cNvSpPr>
          <p:nvPr>
            <p:ph type="title"/>
          </p:nvPr>
        </p:nvSpPr>
        <p:spPr>
          <a:xfrm>
            <a:off x="2618542" y="1138482"/>
            <a:ext cx="32788682" cy="4133179"/>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2EDD12A-F9AD-485D-BBFA-C22309EB3448}"/>
              </a:ext>
            </a:extLst>
          </p:cNvPr>
          <p:cNvSpPr>
            <a:spLocks noGrp="1"/>
          </p:cNvSpPr>
          <p:nvPr>
            <p:ph type="body" idx="1"/>
          </p:nvPr>
        </p:nvSpPr>
        <p:spPr>
          <a:xfrm>
            <a:off x="2618544" y="5241960"/>
            <a:ext cx="16082490"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Click to edit Master text styles</a:t>
            </a:r>
          </a:p>
        </p:txBody>
      </p:sp>
      <p:sp>
        <p:nvSpPr>
          <p:cNvPr id="4" name="Content Placeholder 3">
            <a:extLst>
              <a:ext uri="{FF2B5EF4-FFF2-40B4-BE49-F238E27FC236}">
                <a16:creationId xmlns:a16="http://schemas.microsoft.com/office/drawing/2014/main" id="{2CA3EF13-B51C-41B1-A082-D48334453473}"/>
              </a:ext>
            </a:extLst>
          </p:cNvPr>
          <p:cNvSpPr>
            <a:spLocks noGrp="1"/>
          </p:cNvSpPr>
          <p:nvPr>
            <p:ph sz="half" idx="2"/>
          </p:nvPr>
        </p:nvSpPr>
        <p:spPr>
          <a:xfrm>
            <a:off x="2618544" y="7810963"/>
            <a:ext cx="16082490"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279523F-7539-4BDD-B3A0-B322E9876DFC}"/>
              </a:ext>
            </a:extLst>
          </p:cNvPr>
          <p:cNvSpPr>
            <a:spLocks noGrp="1"/>
          </p:cNvSpPr>
          <p:nvPr>
            <p:ph type="body" sz="quarter" idx="3"/>
          </p:nvPr>
        </p:nvSpPr>
        <p:spPr>
          <a:xfrm>
            <a:off x="19245531" y="5241960"/>
            <a:ext cx="16161693"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Click to edit Master text styles</a:t>
            </a:r>
          </a:p>
        </p:txBody>
      </p:sp>
      <p:sp>
        <p:nvSpPr>
          <p:cNvPr id="6" name="Content Placeholder 5">
            <a:extLst>
              <a:ext uri="{FF2B5EF4-FFF2-40B4-BE49-F238E27FC236}">
                <a16:creationId xmlns:a16="http://schemas.microsoft.com/office/drawing/2014/main" id="{A148499A-A4B5-4FE3-8021-3174D3947A7E}"/>
              </a:ext>
            </a:extLst>
          </p:cNvPr>
          <p:cNvSpPr>
            <a:spLocks noGrp="1"/>
          </p:cNvSpPr>
          <p:nvPr>
            <p:ph sz="quarter" idx="4"/>
          </p:nvPr>
        </p:nvSpPr>
        <p:spPr>
          <a:xfrm>
            <a:off x="19245531" y="7810963"/>
            <a:ext cx="161616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81D2511-CFE6-4B35-95F0-7A8DDD41D56D}"/>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8" name="Footer Placeholder 7">
            <a:extLst>
              <a:ext uri="{FF2B5EF4-FFF2-40B4-BE49-F238E27FC236}">
                <a16:creationId xmlns:a16="http://schemas.microsoft.com/office/drawing/2014/main" id="{5678C0D9-2506-4181-8C27-19A916A367C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3910F9A-8D69-4937-BB17-1C89F3354F68}"/>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386833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7B69-D993-4362-9D98-5C5A85276C0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9DC7095-5832-4107-95CA-7386BD82D688}"/>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4" name="Footer Placeholder 3">
            <a:extLst>
              <a:ext uri="{FF2B5EF4-FFF2-40B4-BE49-F238E27FC236}">
                <a16:creationId xmlns:a16="http://schemas.microsoft.com/office/drawing/2014/main" id="{5D38B951-B96D-4631-A7D1-0EB5A0DA47F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53B5566-6F84-46CB-A912-07BB57D253FB}"/>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431074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BB7FD4-28C9-4F5A-AB8B-85A2258CBF6B}"/>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3" name="Footer Placeholder 2">
            <a:extLst>
              <a:ext uri="{FF2B5EF4-FFF2-40B4-BE49-F238E27FC236}">
                <a16:creationId xmlns:a16="http://schemas.microsoft.com/office/drawing/2014/main" id="{79A30879-B3F4-43D4-9D8D-49FC3BA843E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05424BC-ED50-4496-8BBA-0F162933C3BC}"/>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3168987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A6974-C398-4263-981F-5FF078C17DD6}"/>
              </a:ext>
            </a:extLst>
          </p:cNvPr>
          <p:cNvSpPr>
            <a:spLocks noGrp="1"/>
          </p:cNvSpPr>
          <p:nvPr>
            <p:ph type="title"/>
          </p:nvPr>
        </p:nvSpPr>
        <p:spPr>
          <a:xfrm>
            <a:off x="2618544" y="1425575"/>
            <a:ext cx="12261104" cy="4989513"/>
          </a:xfrm>
        </p:spPr>
        <p:txBody>
          <a:bodyPr anchor="b"/>
          <a:lstStyle>
            <a:lvl1pPr>
              <a:defRPr sz="9978"/>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8054797-151F-4D2A-8731-1015E902D81E}"/>
              </a:ext>
            </a:extLst>
          </p:cNvPr>
          <p:cNvSpPr>
            <a:spLocks noGrp="1"/>
          </p:cNvSpPr>
          <p:nvPr>
            <p:ph idx="1"/>
          </p:nvPr>
        </p:nvSpPr>
        <p:spPr>
          <a:xfrm>
            <a:off x="16161693" y="3078847"/>
            <a:ext cx="19245531" cy="15196234"/>
          </a:xfrm>
        </p:spPr>
        <p:txBody>
          <a:bodyPr/>
          <a:lstStyle>
            <a:lvl1pPr>
              <a:defRPr sz="9978"/>
            </a:lvl1pPr>
            <a:lvl2pPr>
              <a:defRPr sz="8731"/>
            </a:lvl2pPr>
            <a:lvl3pPr>
              <a:defRPr sz="7483"/>
            </a:lvl3pPr>
            <a:lvl4pPr>
              <a:defRPr sz="6236"/>
            </a:lvl4pPr>
            <a:lvl5pPr>
              <a:defRPr sz="6236"/>
            </a:lvl5pPr>
            <a:lvl6pPr>
              <a:defRPr sz="6236"/>
            </a:lvl6pPr>
            <a:lvl7pPr>
              <a:defRPr sz="6236"/>
            </a:lvl7pPr>
            <a:lvl8pPr>
              <a:defRPr sz="6236"/>
            </a:lvl8pPr>
            <a:lvl9pPr>
              <a:defRPr sz="6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8ABF2AE-23FE-4DCF-A935-607A09CDDDF5}"/>
              </a:ext>
            </a:extLst>
          </p:cNvPr>
          <p:cNvSpPr>
            <a:spLocks noGrp="1"/>
          </p:cNvSpPr>
          <p:nvPr>
            <p:ph type="body" sz="half" idx="2"/>
          </p:nvPr>
        </p:nvSpPr>
        <p:spPr>
          <a:xfrm>
            <a:off x="2618544" y="6415088"/>
            <a:ext cx="1226110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Click to edit Master text styles</a:t>
            </a:r>
          </a:p>
        </p:txBody>
      </p:sp>
      <p:sp>
        <p:nvSpPr>
          <p:cNvPr id="5" name="Date Placeholder 4">
            <a:extLst>
              <a:ext uri="{FF2B5EF4-FFF2-40B4-BE49-F238E27FC236}">
                <a16:creationId xmlns:a16="http://schemas.microsoft.com/office/drawing/2014/main" id="{867DC983-2301-4E82-B173-83E71A702EF9}"/>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6" name="Footer Placeholder 5">
            <a:extLst>
              <a:ext uri="{FF2B5EF4-FFF2-40B4-BE49-F238E27FC236}">
                <a16:creationId xmlns:a16="http://schemas.microsoft.com/office/drawing/2014/main" id="{FAB9ABF6-8F8C-4011-8F78-EEF9857265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0247F0-CDFF-45B7-892F-1A27D318AF4A}"/>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3016485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DF06-6DD3-4997-9F2D-1980E9102578}"/>
              </a:ext>
            </a:extLst>
          </p:cNvPr>
          <p:cNvSpPr>
            <a:spLocks noGrp="1"/>
          </p:cNvSpPr>
          <p:nvPr>
            <p:ph type="title"/>
          </p:nvPr>
        </p:nvSpPr>
        <p:spPr>
          <a:xfrm>
            <a:off x="2618544" y="1425575"/>
            <a:ext cx="12261104" cy="4989513"/>
          </a:xfrm>
        </p:spPr>
        <p:txBody>
          <a:bodyPr anchor="b"/>
          <a:lstStyle>
            <a:lvl1pPr>
              <a:defRPr sz="9978"/>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7DCC7A3-9E2A-4C76-BD0B-134C570C6531}"/>
              </a:ext>
            </a:extLst>
          </p:cNvPr>
          <p:cNvSpPr>
            <a:spLocks noGrp="1"/>
          </p:cNvSpPr>
          <p:nvPr>
            <p:ph type="pic" idx="1"/>
          </p:nvPr>
        </p:nvSpPr>
        <p:spPr>
          <a:xfrm>
            <a:off x="16161693" y="3078847"/>
            <a:ext cx="19245531" cy="15196234"/>
          </a:xfrm>
        </p:spPr>
        <p:txBody>
          <a:bodyPr/>
          <a:lstStyle>
            <a:lvl1pPr marL="0" indent="0">
              <a:buNone/>
              <a:defRPr sz="9978"/>
            </a:lvl1pPr>
            <a:lvl2pPr marL="1425595" indent="0">
              <a:buNone/>
              <a:defRPr sz="8731"/>
            </a:lvl2pPr>
            <a:lvl3pPr marL="2851191" indent="0">
              <a:buNone/>
              <a:defRPr sz="7483"/>
            </a:lvl3pPr>
            <a:lvl4pPr marL="4276786" indent="0">
              <a:buNone/>
              <a:defRPr sz="6236"/>
            </a:lvl4pPr>
            <a:lvl5pPr marL="5702381" indent="0">
              <a:buNone/>
              <a:defRPr sz="6236"/>
            </a:lvl5pPr>
            <a:lvl6pPr marL="7127977" indent="0">
              <a:buNone/>
              <a:defRPr sz="6236"/>
            </a:lvl6pPr>
            <a:lvl7pPr marL="8553572" indent="0">
              <a:buNone/>
              <a:defRPr sz="6236"/>
            </a:lvl7pPr>
            <a:lvl8pPr marL="9979167" indent="0">
              <a:buNone/>
              <a:defRPr sz="6236"/>
            </a:lvl8pPr>
            <a:lvl9pPr marL="11404763" indent="0">
              <a:buNone/>
              <a:defRPr sz="6236"/>
            </a:lvl9pPr>
          </a:lstStyle>
          <a:p>
            <a:endParaRPr lang="en-GB"/>
          </a:p>
        </p:txBody>
      </p:sp>
      <p:sp>
        <p:nvSpPr>
          <p:cNvPr id="4" name="Text Placeholder 3">
            <a:extLst>
              <a:ext uri="{FF2B5EF4-FFF2-40B4-BE49-F238E27FC236}">
                <a16:creationId xmlns:a16="http://schemas.microsoft.com/office/drawing/2014/main" id="{7CB1FA90-081E-42EF-B84B-F883A96D4195}"/>
              </a:ext>
            </a:extLst>
          </p:cNvPr>
          <p:cNvSpPr>
            <a:spLocks noGrp="1"/>
          </p:cNvSpPr>
          <p:nvPr>
            <p:ph type="body" sz="half" idx="2"/>
          </p:nvPr>
        </p:nvSpPr>
        <p:spPr>
          <a:xfrm>
            <a:off x="2618544" y="6415088"/>
            <a:ext cx="1226110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Click to edit Master text styles</a:t>
            </a:r>
          </a:p>
        </p:txBody>
      </p:sp>
      <p:sp>
        <p:nvSpPr>
          <p:cNvPr id="5" name="Date Placeholder 4">
            <a:extLst>
              <a:ext uri="{FF2B5EF4-FFF2-40B4-BE49-F238E27FC236}">
                <a16:creationId xmlns:a16="http://schemas.microsoft.com/office/drawing/2014/main" id="{378E1A5A-E533-41EB-B5D0-DAA0965D4B32}"/>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6" name="Footer Placeholder 5">
            <a:extLst>
              <a:ext uri="{FF2B5EF4-FFF2-40B4-BE49-F238E27FC236}">
                <a16:creationId xmlns:a16="http://schemas.microsoft.com/office/drawing/2014/main" id="{E783AE9E-0931-409F-A864-01601EF1718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87C299-4F91-4148-B7E5-2D2AC308D762}"/>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2171715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3FCE-6D73-49AB-BB47-F8D205130A7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2823FA9-1F73-41D2-B38B-D067E60470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99C2B8-F67E-4C5D-BFD2-89BFE89A8F71}"/>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A4561E4D-EF6C-4938-B4B8-330B3CC21F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734863-70BA-4BA2-9E8C-788111BFA6B5}"/>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94506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5788E6-DB86-4595-B7CB-FB16FFC83577}"/>
              </a:ext>
            </a:extLst>
          </p:cNvPr>
          <p:cNvSpPr>
            <a:spLocks noGrp="1"/>
          </p:cNvSpPr>
          <p:nvPr>
            <p:ph type="title" orient="vert"/>
          </p:nvPr>
        </p:nvSpPr>
        <p:spPr>
          <a:xfrm>
            <a:off x="27205102" y="1138480"/>
            <a:ext cx="8197170" cy="1812163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52B34F2-8C4B-4DE8-A4BD-B47771B88C57}"/>
              </a:ext>
            </a:extLst>
          </p:cNvPr>
          <p:cNvSpPr>
            <a:spLocks noGrp="1"/>
          </p:cNvSpPr>
          <p:nvPr>
            <p:ph type="body" orient="vert" idx="1"/>
          </p:nvPr>
        </p:nvSpPr>
        <p:spPr>
          <a:xfrm>
            <a:off x="2613591" y="1138480"/>
            <a:ext cx="24116313"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390AE7-27DB-44B2-81D1-8C7765508B61}"/>
              </a:ext>
            </a:extLst>
          </p:cNvPr>
          <p:cNvSpPr>
            <a:spLocks noGrp="1"/>
          </p:cNvSpPr>
          <p:nvPr>
            <p:ph type="dt" sz="half" idx="10"/>
          </p:nvPr>
        </p:nvSpPr>
        <p:spPr/>
        <p:txBody>
          <a:body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6EAF6326-1742-4D55-AB5E-A1585B4997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0D6A8F-629A-4E94-8D2E-C96121F47B46}"/>
              </a:ext>
            </a:extLst>
          </p:cNvPr>
          <p:cNvSpPr>
            <a:spLocks noGrp="1"/>
          </p:cNvSpPr>
          <p:nvPr>
            <p:ph type="sldNum" sz="quarter" idx="12"/>
          </p:nvPr>
        </p:nvSpPr>
        <p:spPr/>
        <p:txBody>
          <a:bodyPr/>
          <a:lstStyle/>
          <a:p>
            <a:fld id="{948E7A71-8A15-4D33-AFC5-DFCBFC50B887}" type="slidenum">
              <a:rPr lang="en-GB" smtClean="0"/>
              <a:t>‹#›</a:t>
            </a:fld>
            <a:endParaRPr lang="en-GB"/>
          </a:p>
        </p:txBody>
      </p:sp>
    </p:spTree>
    <p:extLst>
      <p:ext uri="{BB962C8B-B14F-4D97-AF65-F5344CB8AC3E}">
        <p14:creationId xmlns:p14="http://schemas.microsoft.com/office/powerpoint/2010/main" val="4212825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Section divider, no image (Dark)">
    <p:bg>
      <p:bgPr>
        <a:solidFill>
          <a:schemeClr val="tx2"/>
        </a:solidFill>
        <a:effectLst/>
      </p:bgPr>
    </p:bg>
    <p:spTree>
      <p:nvGrpSpPr>
        <p:cNvPr id="1" name=""/>
        <p:cNvGrpSpPr/>
        <p:nvPr/>
      </p:nvGrpSpPr>
      <p:grpSpPr>
        <a:xfrm>
          <a:off x="0" y="0"/>
          <a:ext cx="0" cy="0"/>
          <a:chOff x="0" y="0"/>
          <a:chExt cx="0" cy="0"/>
        </a:xfrm>
      </p:grpSpPr>
      <p:sp>
        <p:nvSpPr>
          <p:cNvPr id="16" name="Title 7">
            <a:extLst>
              <a:ext uri="{FF2B5EF4-FFF2-40B4-BE49-F238E27FC236}">
                <a16:creationId xmlns:a16="http://schemas.microsoft.com/office/drawing/2014/main" id="{F4CF05EA-F898-4007-AD46-0661D2E50EA1}"/>
              </a:ext>
            </a:extLst>
          </p:cNvPr>
          <p:cNvSpPr>
            <a:spLocks noGrp="1"/>
          </p:cNvSpPr>
          <p:nvPr>
            <p:ph type="title" hasCustomPrompt="1"/>
          </p:nvPr>
        </p:nvSpPr>
        <p:spPr>
          <a:xfrm>
            <a:off x="1795197" y="9083610"/>
            <a:ext cx="34425475" cy="2376008"/>
          </a:xfrm>
        </p:spPr>
        <p:txBody>
          <a:bodyPr/>
          <a:lstStyle>
            <a:lvl1pPr>
              <a:lnSpc>
                <a:spcPct val="100000"/>
              </a:lnSpc>
              <a:defRPr sz="14134" b="0">
                <a:solidFill>
                  <a:schemeClr val="bg1"/>
                </a:solidFill>
              </a:defRPr>
            </a:lvl1pPr>
          </a:lstStyle>
          <a:p>
            <a:r>
              <a:rPr lang="en-US"/>
              <a:t>Section divider title</a:t>
            </a:r>
            <a:endParaRPr lang="en-GB"/>
          </a:p>
        </p:txBody>
      </p:sp>
      <p:cxnSp>
        <p:nvCxnSpPr>
          <p:cNvPr id="18" name="Straight Connector 17">
            <a:extLst>
              <a:ext uri="{FF2B5EF4-FFF2-40B4-BE49-F238E27FC236}">
                <a16:creationId xmlns:a16="http://schemas.microsoft.com/office/drawing/2014/main" id="{522F9DB4-9D8E-427B-99DD-E998B980D507}"/>
              </a:ext>
            </a:extLst>
          </p:cNvPr>
          <p:cNvCxnSpPr>
            <a:cxnSpLocks/>
          </p:cNvCxnSpPr>
          <p:nvPr userDrawn="1"/>
        </p:nvCxnSpPr>
        <p:spPr>
          <a:xfrm>
            <a:off x="1795197" y="9083610"/>
            <a:ext cx="3442547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598574"/>
      </p:ext>
    </p:extLst>
  </p:cSld>
  <p:clrMapOvr>
    <a:masterClrMapping/>
  </p:clrMapOvr>
  <p:extLst>
    <p:ext uri="{DCECCB84-F9BA-43D5-87BE-67443E8EF086}">
      <p15:sldGuideLst xmlns:p15="http://schemas.microsoft.com/office/powerpoint/2012/main">
        <p15:guide id="2" pos="272">
          <p15:clr>
            <a:srgbClr val="FBAE40"/>
          </p15:clr>
        </p15:guide>
        <p15:guide id="3" orient="horz" pos="2981">
          <p15:clr>
            <a:srgbClr val="FBAE40"/>
          </p15:clr>
        </p15:guide>
        <p15:guide id="4" orient="horz" pos="259">
          <p15:clr>
            <a:srgbClr val="FBAE40"/>
          </p15:clr>
        </p15:guide>
        <p15:guide id="5" pos="5488">
          <p15:clr>
            <a:srgbClr val="FBAE40"/>
          </p15:clr>
        </p15:guide>
        <p15:guide id="6" pos="30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no content">
    <p:spTree>
      <p:nvGrpSpPr>
        <p:cNvPr id="1" name=""/>
        <p:cNvGrpSpPr/>
        <p:nvPr/>
      </p:nvGrpSpPr>
      <p:grpSpPr>
        <a:xfrm>
          <a:off x="0" y="0"/>
          <a:ext cx="0" cy="0"/>
          <a:chOff x="0" y="0"/>
          <a:chExt cx="0" cy="0"/>
        </a:xfrm>
      </p:grpSpPr>
      <p:sp>
        <p:nvSpPr>
          <p:cNvPr id="8" name="Title 7"/>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19DDE1E0-EE2C-45DE-9148-0261E27AE51B}"/>
              </a:ext>
            </a:extLst>
          </p:cNvPr>
          <p:cNvSpPr>
            <a:spLocks noGrp="1"/>
          </p:cNvSpPr>
          <p:nvPr>
            <p:ph type="dt" sz="half" idx="15"/>
          </p:nvPr>
        </p:nvSpPr>
        <p:spPr/>
        <p:txBody>
          <a:bodyPr/>
          <a:lstStyle>
            <a:lvl1pPr>
              <a:defRPr/>
            </a:lvl1pPr>
          </a:lstStyle>
          <a:p>
            <a:pPr>
              <a:defRPr/>
            </a:pPr>
            <a:fld id="{D69152B6-83C3-4567-96CF-D19AF203925A}" type="datetime1">
              <a:rPr lang="en-GB" smtClean="0"/>
              <a:t>03/03/2026</a:t>
            </a:fld>
            <a:endParaRPr lang="en-GB"/>
          </a:p>
        </p:txBody>
      </p:sp>
      <p:sp>
        <p:nvSpPr>
          <p:cNvPr id="5" name="Slide Number Placeholder 5">
            <a:extLst>
              <a:ext uri="{FF2B5EF4-FFF2-40B4-BE49-F238E27FC236}">
                <a16:creationId xmlns:a16="http://schemas.microsoft.com/office/drawing/2014/main" id="{4800508B-71A0-427E-8E7A-E086E3EDCF47}"/>
              </a:ext>
            </a:extLst>
          </p:cNvPr>
          <p:cNvSpPr>
            <a:spLocks noGrp="1"/>
          </p:cNvSpPr>
          <p:nvPr>
            <p:ph type="sldNum" sz="quarter" idx="16"/>
          </p:nvPr>
        </p:nvSpPr>
        <p:spPr/>
        <p:txBody>
          <a:bodyPr/>
          <a:lstStyle>
            <a:lvl1pPr>
              <a:defRPr/>
            </a:lvl1pPr>
          </a:lstStyle>
          <a:p>
            <a:pPr>
              <a:defRPr/>
            </a:pPr>
            <a:fld id="{0723F4AA-6BDB-435B-B70F-96D631AC163B}" type="slidenum">
              <a:rPr lang="en-GB" altLang="en-US"/>
              <a:pPr>
                <a:defRPr/>
              </a:pPr>
              <a:t>‹#›</a:t>
            </a:fld>
            <a:endParaRPr lang="en-GB" altLang="en-US"/>
          </a:p>
        </p:txBody>
      </p:sp>
      <p:sp>
        <p:nvSpPr>
          <p:cNvPr id="7" name="Rectangle 6">
            <a:extLst>
              <a:ext uri="{FF2B5EF4-FFF2-40B4-BE49-F238E27FC236}">
                <a16:creationId xmlns:a16="http://schemas.microsoft.com/office/drawing/2014/main" id="{0AE0BBD1-F037-4859-9F9A-032B9CA15F4B}"/>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3476673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no content">
    <p:bg>
      <p:bgRef idx="1001">
        <a:schemeClr val="bg1"/>
      </p:bgRef>
    </p:bg>
    <p:spTree>
      <p:nvGrpSpPr>
        <p:cNvPr id="1" name=""/>
        <p:cNvGrpSpPr/>
        <p:nvPr/>
      </p:nvGrpSpPr>
      <p:grpSpPr>
        <a:xfrm>
          <a:off x="0" y="0"/>
          <a:ext cx="0" cy="0"/>
          <a:chOff x="0" y="0"/>
          <a:chExt cx="0" cy="0"/>
        </a:xfrm>
      </p:grpSpPr>
      <p:sp>
        <p:nvSpPr>
          <p:cNvPr id="16" name="Picture Placeholder 12">
            <a:extLst>
              <a:ext uri="{FF2B5EF4-FFF2-40B4-BE49-F238E27FC236}">
                <a16:creationId xmlns:a16="http://schemas.microsoft.com/office/drawing/2014/main" id="{89CBEF1C-7738-49C1-A33D-F7BE43F287A2}"/>
              </a:ext>
            </a:extLst>
          </p:cNvPr>
          <p:cNvSpPr>
            <a:spLocks noGrp="1"/>
          </p:cNvSpPr>
          <p:nvPr>
            <p:ph type="pic" sz="quarter" idx="18" hasCustomPrompt="1"/>
          </p:nvPr>
        </p:nvSpPr>
        <p:spPr>
          <a:xfrm>
            <a:off x="32396420" y="3180853"/>
            <a:ext cx="3812150" cy="1353601"/>
          </a:xfrm>
        </p:spPr>
        <p:txBody>
          <a:bodyPr/>
          <a:lstStyle>
            <a:lvl1pPr>
              <a:defRPr sz="3398" b="0"/>
            </a:lvl1pPr>
          </a:lstStyle>
          <a:p>
            <a:pPr lvl="0"/>
            <a:r>
              <a:rPr lang="en-US" noProof="0"/>
              <a:t>Click icon to add logo</a:t>
            </a:r>
            <a:endParaRPr lang="en-GB" noProof="0"/>
          </a:p>
        </p:txBody>
      </p:sp>
      <p:sp>
        <p:nvSpPr>
          <p:cNvPr id="17" name="Picture Placeholder 12">
            <a:extLst>
              <a:ext uri="{FF2B5EF4-FFF2-40B4-BE49-F238E27FC236}">
                <a16:creationId xmlns:a16="http://schemas.microsoft.com/office/drawing/2014/main" id="{9535718A-EC82-4038-AE9D-E32036D97D7E}"/>
              </a:ext>
            </a:extLst>
          </p:cNvPr>
          <p:cNvSpPr>
            <a:spLocks noGrp="1"/>
          </p:cNvSpPr>
          <p:nvPr>
            <p:ph type="pic" sz="quarter" idx="19" hasCustomPrompt="1"/>
          </p:nvPr>
        </p:nvSpPr>
        <p:spPr>
          <a:xfrm>
            <a:off x="32396420" y="5155008"/>
            <a:ext cx="3812150" cy="1353601"/>
          </a:xfrm>
        </p:spPr>
        <p:txBody>
          <a:bodyPr/>
          <a:lstStyle>
            <a:lvl1pPr>
              <a:defRPr sz="3398" b="0"/>
            </a:lvl1pPr>
          </a:lstStyle>
          <a:p>
            <a:pPr lvl="0"/>
            <a:r>
              <a:rPr lang="en-US" noProof="0"/>
              <a:t>Click icon to add logo</a:t>
            </a:r>
            <a:endParaRPr lang="en-GB" noProof="0"/>
          </a:p>
        </p:txBody>
      </p:sp>
      <p:sp>
        <p:nvSpPr>
          <p:cNvPr id="19" name="Picture Placeholder 12">
            <a:extLst>
              <a:ext uri="{FF2B5EF4-FFF2-40B4-BE49-F238E27FC236}">
                <a16:creationId xmlns:a16="http://schemas.microsoft.com/office/drawing/2014/main" id="{457AC0C2-4F30-47D5-B7C0-D6BED871419A}"/>
              </a:ext>
            </a:extLst>
          </p:cNvPr>
          <p:cNvSpPr>
            <a:spLocks noGrp="1"/>
          </p:cNvSpPr>
          <p:nvPr>
            <p:ph type="pic" sz="quarter" idx="20" hasCustomPrompt="1"/>
          </p:nvPr>
        </p:nvSpPr>
        <p:spPr>
          <a:xfrm>
            <a:off x="27597710" y="5155008"/>
            <a:ext cx="3812150" cy="1353601"/>
          </a:xfrm>
        </p:spPr>
        <p:txBody>
          <a:bodyPr/>
          <a:lstStyle>
            <a:lvl1pPr>
              <a:defRPr sz="3398" b="0"/>
            </a:lvl1pPr>
          </a:lstStyle>
          <a:p>
            <a:pPr lvl="0"/>
            <a:r>
              <a:rPr lang="en-US" noProof="0"/>
              <a:t>Click icon to add logo</a:t>
            </a:r>
            <a:endParaRPr lang="en-GB" noProof="0"/>
          </a:p>
        </p:txBody>
      </p:sp>
      <p:sp>
        <p:nvSpPr>
          <p:cNvPr id="20" name="Picture Placeholder 12">
            <a:extLst>
              <a:ext uri="{FF2B5EF4-FFF2-40B4-BE49-F238E27FC236}">
                <a16:creationId xmlns:a16="http://schemas.microsoft.com/office/drawing/2014/main" id="{DB6463A4-B1C2-4DF6-A9A5-2966FB9D43D7}"/>
              </a:ext>
            </a:extLst>
          </p:cNvPr>
          <p:cNvSpPr>
            <a:spLocks noGrp="1"/>
          </p:cNvSpPr>
          <p:nvPr>
            <p:ph type="pic" sz="quarter" idx="21" hasCustomPrompt="1"/>
          </p:nvPr>
        </p:nvSpPr>
        <p:spPr>
          <a:xfrm>
            <a:off x="27594282" y="3180853"/>
            <a:ext cx="3812150" cy="1353601"/>
          </a:xfrm>
        </p:spPr>
        <p:txBody>
          <a:bodyPr/>
          <a:lstStyle>
            <a:lvl1pPr>
              <a:defRPr sz="3398" b="0"/>
            </a:lvl1pPr>
          </a:lstStyle>
          <a:p>
            <a:pPr lvl="0"/>
            <a:r>
              <a:rPr lang="en-US" noProof="0"/>
              <a:t>Click icon to add logo</a:t>
            </a:r>
            <a:endParaRPr lang="en-GB" noProof="0"/>
          </a:p>
        </p:txBody>
      </p:sp>
    </p:spTree>
    <p:extLst>
      <p:ext uri="{BB962C8B-B14F-4D97-AF65-F5344CB8AC3E}">
        <p14:creationId xmlns:p14="http://schemas.microsoft.com/office/powerpoint/2010/main" val="86031194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with Image Polygon (light bg)">
    <p:bg>
      <p:bgPr>
        <a:solidFill>
          <a:srgbClr val="E6E6E6"/>
        </a:solidFill>
        <a:effectLst/>
      </p:bgPr>
    </p:bg>
    <p:spTree>
      <p:nvGrpSpPr>
        <p:cNvPr id="1" name=""/>
        <p:cNvGrpSpPr/>
        <p:nvPr/>
      </p:nvGrpSpPr>
      <p:grpSpPr>
        <a:xfrm>
          <a:off x="0" y="0"/>
          <a:ext cx="0" cy="0"/>
          <a:chOff x="0" y="0"/>
          <a:chExt cx="0" cy="0"/>
        </a:xfrm>
      </p:grpSpPr>
      <p:sp>
        <p:nvSpPr>
          <p:cNvPr id="15" name="Picture Placeholder 14"/>
          <p:cNvSpPr>
            <a:spLocks noGrp="1"/>
          </p:cNvSpPr>
          <p:nvPr>
            <p:ph type="pic" sz="quarter" idx="13"/>
          </p:nvPr>
        </p:nvSpPr>
        <p:spPr>
          <a:xfrm>
            <a:off x="15747549" y="0"/>
            <a:ext cx="22268319" cy="19007667"/>
          </a:xfrm>
          <a:custGeom>
            <a:avLst/>
            <a:gdLst>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0 w 5356225"/>
              <a:gd name="connsiteY6" fmla="*/ 4572000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2925147 w 5356225"/>
              <a:gd name="connsiteY6" fmla="*/ 2430624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289041 w 5356225"/>
              <a:gd name="connsiteY6" fmla="*/ 2206689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820886 w 5356225"/>
              <a:gd name="connsiteY6" fmla="*/ 1870787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359021 w 5356225"/>
              <a:gd name="connsiteY6" fmla="*/ 2006081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1 w 5356225"/>
              <a:gd name="connsiteY5" fmla="*/ 2006081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99502 w 5356225"/>
              <a:gd name="connsiteY5" fmla="*/ 1975124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0 w 5356225"/>
              <a:gd name="connsiteY5" fmla="*/ 2013224 h 4572000"/>
              <a:gd name="connsiteX6" fmla="*/ 0 w 5356225"/>
              <a:gd name="connsiteY6" fmla="*/ 0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6225" h="4572000">
                <a:moveTo>
                  <a:pt x="0" y="0"/>
                </a:moveTo>
                <a:lnTo>
                  <a:pt x="5356225" y="0"/>
                </a:lnTo>
                <a:lnTo>
                  <a:pt x="5356225" y="0"/>
                </a:lnTo>
                <a:lnTo>
                  <a:pt x="5356225" y="4572000"/>
                </a:lnTo>
                <a:lnTo>
                  <a:pt x="5356225" y="4572000"/>
                </a:lnTo>
                <a:lnTo>
                  <a:pt x="3359020" y="2013224"/>
                </a:lnTo>
                <a:lnTo>
                  <a:pt x="0" y="0"/>
                </a:lnTo>
                <a:close/>
              </a:path>
            </a:pathLst>
          </a:custGeom>
          <a:solidFill>
            <a:schemeClr val="bg1">
              <a:lumMod val="85000"/>
            </a:schemeClr>
          </a:solidFill>
        </p:spPr>
        <p:txBody>
          <a:bodyPr/>
          <a:lstStyle>
            <a:lvl1pPr algn="ctr">
              <a:defRPr b="0"/>
            </a:lvl1pPr>
          </a:lstStyle>
          <a:p>
            <a:pPr lvl="0"/>
            <a:r>
              <a:rPr lang="en-US" noProof="0"/>
              <a:t>Click icon to add picture</a:t>
            </a:r>
            <a:endParaRPr lang="en-GB" noProof="0"/>
          </a:p>
        </p:txBody>
      </p:sp>
      <p:sp>
        <p:nvSpPr>
          <p:cNvPr id="6" name="TextBox 4">
            <a:extLst>
              <a:ext uri="{FF2B5EF4-FFF2-40B4-BE49-F238E27FC236}">
                <a16:creationId xmlns:a16="http://schemas.microsoft.com/office/drawing/2014/main" id="{4AF4EE99-6FEE-42D3-860B-599D4E558DCD}"/>
              </a:ext>
            </a:extLst>
          </p:cNvPr>
          <p:cNvSpPr txBox="1">
            <a:spLocks noChangeArrowheads="1"/>
          </p:cNvSpPr>
          <p:nvPr userDrawn="1"/>
        </p:nvSpPr>
        <p:spPr bwMode="auto">
          <a:xfrm>
            <a:off x="5385581" y="19634658"/>
            <a:ext cx="14968746" cy="6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r>
              <a:rPr lang="en-GB" altLang="en-US" sz="3327"/>
              <a:t>The Alan Turing Institute</a:t>
            </a:r>
          </a:p>
        </p:txBody>
      </p:sp>
      <p:cxnSp>
        <p:nvCxnSpPr>
          <p:cNvPr id="7" name="Straight Connector 5">
            <a:extLst>
              <a:ext uri="{FF2B5EF4-FFF2-40B4-BE49-F238E27FC236}">
                <a16:creationId xmlns:a16="http://schemas.microsoft.com/office/drawing/2014/main" id="{E9E18ACC-BB54-453A-A3D9-AF5D1DCEA316}"/>
              </a:ext>
            </a:extLst>
          </p:cNvPr>
          <p:cNvCxnSpPr/>
          <p:nvPr userDrawn="1"/>
        </p:nvCxnSpPr>
        <p:spPr>
          <a:xfrm>
            <a:off x="1795197" y="19608257"/>
            <a:ext cx="3442547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1795193" y="7848112"/>
            <a:ext cx="25894490" cy="2544333"/>
          </a:xfrm>
        </p:spPr>
        <p:txBody>
          <a:bodyPr/>
          <a:lstStyle>
            <a:lvl1pPr>
              <a:lnSpc>
                <a:spcPct val="100000"/>
              </a:lnSpc>
              <a:defRPr sz="14134" b="1">
                <a:solidFill>
                  <a:schemeClr val="tx1"/>
                </a:solidFill>
              </a:defRPr>
            </a:lvl1pPr>
          </a:lstStyle>
          <a:p>
            <a:r>
              <a:rPr lang="en-US"/>
              <a:t>Click to edit Master title style</a:t>
            </a:r>
            <a:endParaRPr lang="en-GB"/>
          </a:p>
        </p:txBody>
      </p:sp>
      <p:sp>
        <p:nvSpPr>
          <p:cNvPr id="11" name="Date Placeholder 1">
            <a:extLst>
              <a:ext uri="{FF2B5EF4-FFF2-40B4-BE49-F238E27FC236}">
                <a16:creationId xmlns:a16="http://schemas.microsoft.com/office/drawing/2014/main" id="{D2BA7735-2333-43F4-B2BF-F926BE4CC1F3}"/>
              </a:ext>
            </a:extLst>
          </p:cNvPr>
          <p:cNvSpPr>
            <a:spLocks noGrp="1"/>
          </p:cNvSpPr>
          <p:nvPr>
            <p:ph type="dt" sz="half" idx="15"/>
          </p:nvPr>
        </p:nvSpPr>
        <p:spPr/>
        <p:txBody>
          <a:bodyPr/>
          <a:lstStyle>
            <a:lvl1pPr>
              <a:defRPr>
                <a:solidFill>
                  <a:schemeClr val="tx1"/>
                </a:solidFill>
              </a:defRPr>
            </a:lvl1pPr>
          </a:lstStyle>
          <a:p>
            <a:pPr>
              <a:defRPr/>
            </a:pPr>
            <a:fld id="{B3683742-5251-4929-90E0-2918DEC7220D}" type="datetime1">
              <a:rPr lang="en-US" smtClean="0"/>
              <a:t>3/3/2026</a:t>
            </a:fld>
            <a:endParaRPr lang="en-GB"/>
          </a:p>
        </p:txBody>
      </p:sp>
      <p:sp>
        <p:nvSpPr>
          <p:cNvPr id="12" name="Slide Number Placeholder 3">
            <a:extLst>
              <a:ext uri="{FF2B5EF4-FFF2-40B4-BE49-F238E27FC236}">
                <a16:creationId xmlns:a16="http://schemas.microsoft.com/office/drawing/2014/main" id="{8DEFB274-1493-45D9-ACFC-CEDDDB96F548}"/>
              </a:ext>
            </a:extLst>
          </p:cNvPr>
          <p:cNvSpPr>
            <a:spLocks noGrp="1"/>
          </p:cNvSpPr>
          <p:nvPr>
            <p:ph type="sldNum" sz="quarter" idx="16"/>
          </p:nvPr>
        </p:nvSpPr>
        <p:spPr/>
        <p:txBody>
          <a:bodyPr/>
          <a:lstStyle>
            <a:lvl1pPr>
              <a:defRPr/>
            </a:lvl1pPr>
          </a:lstStyle>
          <a:p>
            <a:pPr>
              <a:defRPr/>
            </a:pPr>
            <a:fld id="{B578FBAC-47EC-49AB-B823-5197C67F0760}" type="slidenum">
              <a:rPr lang="en-GB" altLang="en-US"/>
              <a:pPr>
                <a:defRPr/>
              </a:pPr>
              <a:t>‹#›</a:t>
            </a:fld>
            <a:endParaRPr lang="en-GB" altLang="en-US"/>
          </a:p>
        </p:txBody>
      </p:sp>
      <p:sp>
        <p:nvSpPr>
          <p:cNvPr id="2" name="Rectangle 1">
            <a:extLst>
              <a:ext uri="{FF2B5EF4-FFF2-40B4-BE49-F238E27FC236}">
                <a16:creationId xmlns:a16="http://schemas.microsoft.com/office/drawing/2014/main" id="{04FC0F6C-55F0-4536-8E87-B69AC1305A87}"/>
              </a:ext>
            </a:extLst>
          </p:cNvPr>
          <p:cNvSpPr/>
          <p:nvPr userDrawn="1"/>
        </p:nvSpPr>
        <p:spPr>
          <a:xfrm>
            <a:off x="1795193" y="7632037"/>
            <a:ext cx="25894490" cy="2993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1803167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olygon (dark dg)">
    <p:bg>
      <p:bgPr>
        <a:solidFill>
          <a:srgbClr val="404040"/>
        </a:solidFill>
        <a:effectLst/>
      </p:bgPr>
    </p:bg>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id="{8EE18E70-7502-4E0F-8EC1-1C1B9EE7265B}"/>
              </a:ext>
            </a:extLst>
          </p:cNvPr>
          <p:cNvSpPr txBox="1">
            <a:spLocks noChangeArrowheads="1"/>
          </p:cNvSpPr>
          <p:nvPr userDrawn="1"/>
        </p:nvSpPr>
        <p:spPr bwMode="auto">
          <a:xfrm>
            <a:off x="5385581" y="19634658"/>
            <a:ext cx="14968746" cy="6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r>
              <a:rPr lang="en-GB" altLang="en-US" sz="3327">
                <a:solidFill>
                  <a:schemeClr val="bg1"/>
                </a:solidFill>
              </a:rPr>
              <a:t>The Alan Turing Institute</a:t>
            </a:r>
          </a:p>
        </p:txBody>
      </p:sp>
      <p:cxnSp>
        <p:nvCxnSpPr>
          <p:cNvPr id="7" name="Straight Connector 5">
            <a:extLst>
              <a:ext uri="{FF2B5EF4-FFF2-40B4-BE49-F238E27FC236}">
                <a16:creationId xmlns:a16="http://schemas.microsoft.com/office/drawing/2014/main" id="{0C394799-DA55-420D-9FFF-2A9FEBFE55AF}"/>
              </a:ext>
            </a:extLst>
          </p:cNvPr>
          <p:cNvCxnSpPr/>
          <p:nvPr userDrawn="1"/>
        </p:nvCxnSpPr>
        <p:spPr>
          <a:xfrm>
            <a:off x="1795197" y="19608257"/>
            <a:ext cx="34425475"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11" descr="ATI_logo_white.ai">
            <a:extLst>
              <a:ext uri="{FF2B5EF4-FFF2-40B4-BE49-F238E27FC236}">
                <a16:creationId xmlns:a16="http://schemas.microsoft.com/office/drawing/2014/main" id="{AC5B6B32-AC06-4123-B59B-DEA7C560C85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795196" y="1795172"/>
            <a:ext cx="5741979" cy="239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Picture Placeholder 14"/>
          <p:cNvSpPr>
            <a:spLocks noGrp="1"/>
          </p:cNvSpPr>
          <p:nvPr>
            <p:ph type="pic" sz="quarter" idx="13"/>
          </p:nvPr>
        </p:nvSpPr>
        <p:spPr>
          <a:xfrm>
            <a:off x="15747549" y="0"/>
            <a:ext cx="22268319" cy="19007667"/>
          </a:xfrm>
          <a:custGeom>
            <a:avLst/>
            <a:gdLst>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0 w 5356225"/>
              <a:gd name="connsiteY6" fmla="*/ 4572000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2925147 w 5356225"/>
              <a:gd name="connsiteY6" fmla="*/ 2430624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289041 w 5356225"/>
              <a:gd name="connsiteY6" fmla="*/ 2206689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820886 w 5356225"/>
              <a:gd name="connsiteY6" fmla="*/ 1870787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359021 w 5356225"/>
              <a:gd name="connsiteY6" fmla="*/ 2006081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1 w 5356225"/>
              <a:gd name="connsiteY5" fmla="*/ 2006081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99502 w 5356225"/>
              <a:gd name="connsiteY5" fmla="*/ 1975124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0 w 5356225"/>
              <a:gd name="connsiteY5" fmla="*/ 2013224 h 4572000"/>
              <a:gd name="connsiteX6" fmla="*/ 0 w 5356225"/>
              <a:gd name="connsiteY6" fmla="*/ 0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6225" h="4572000">
                <a:moveTo>
                  <a:pt x="0" y="0"/>
                </a:moveTo>
                <a:lnTo>
                  <a:pt x="5356225" y="0"/>
                </a:lnTo>
                <a:lnTo>
                  <a:pt x="5356225" y="0"/>
                </a:lnTo>
                <a:lnTo>
                  <a:pt x="5356225" y="4572000"/>
                </a:lnTo>
                <a:lnTo>
                  <a:pt x="5356225" y="4572000"/>
                </a:lnTo>
                <a:lnTo>
                  <a:pt x="3359020" y="2013224"/>
                </a:lnTo>
                <a:lnTo>
                  <a:pt x="0" y="0"/>
                </a:lnTo>
                <a:close/>
              </a:path>
            </a:pathLst>
          </a:custGeom>
          <a:solidFill>
            <a:schemeClr val="bg1">
              <a:lumMod val="85000"/>
            </a:schemeClr>
          </a:solidFill>
        </p:spPr>
        <p:txBody>
          <a:bodyPr/>
          <a:lstStyle>
            <a:lvl1pPr algn="ctr">
              <a:defRPr b="0"/>
            </a:lvl1pPr>
          </a:lstStyle>
          <a:p>
            <a:pPr lvl="0"/>
            <a:r>
              <a:rPr lang="en-US" noProof="0"/>
              <a:t>Click icon to add picture</a:t>
            </a:r>
            <a:endParaRPr lang="en-GB" noProof="0"/>
          </a:p>
        </p:txBody>
      </p:sp>
      <p:sp>
        <p:nvSpPr>
          <p:cNvPr id="10" name="Date Placeholder 1">
            <a:extLst>
              <a:ext uri="{FF2B5EF4-FFF2-40B4-BE49-F238E27FC236}">
                <a16:creationId xmlns:a16="http://schemas.microsoft.com/office/drawing/2014/main" id="{9B561648-857D-4B6B-8706-B5D40722772D}"/>
              </a:ext>
            </a:extLst>
          </p:cNvPr>
          <p:cNvSpPr>
            <a:spLocks noGrp="1"/>
          </p:cNvSpPr>
          <p:nvPr>
            <p:ph type="dt" sz="half" idx="15"/>
          </p:nvPr>
        </p:nvSpPr>
        <p:spPr/>
        <p:txBody>
          <a:bodyPr/>
          <a:lstStyle>
            <a:lvl1pPr>
              <a:defRPr>
                <a:solidFill>
                  <a:schemeClr val="bg1"/>
                </a:solidFill>
              </a:defRPr>
            </a:lvl1pPr>
          </a:lstStyle>
          <a:p>
            <a:pPr>
              <a:defRPr/>
            </a:pPr>
            <a:fld id="{EA341E90-B792-4655-B331-B42CDD2774EF}" type="datetime1">
              <a:rPr lang="en-US" smtClean="0"/>
              <a:t>3/3/2026</a:t>
            </a:fld>
            <a:endParaRPr lang="en-GB"/>
          </a:p>
        </p:txBody>
      </p:sp>
      <p:sp>
        <p:nvSpPr>
          <p:cNvPr id="12" name="Slide Number Placeholder 3">
            <a:extLst>
              <a:ext uri="{FF2B5EF4-FFF2-40B4-BE49-F238E27FC236}">
                <a16:creationId xmlns:a16="http://schemas.microsoft.com/office/drawing/2014/main" id="{310EE622-E353-4CD0-8370-7639E185E44A}"/>
              </a:ext>
            </a:extLst>
          </p:cNvPr>
          <p:cNvSpPr>
            <a:spLocks noGrp="1"/>
          </p:cNvSpPr>
          <p:nvPr>
            <p:ph type="sldNum" sz="quarter" idx="16"/>
          </p:nvPr>
        </p:nvSpPr>
        <p:spPr/>
        <p:txBody>
          <a:bodyPr/>
          <a:lstStyle>
            <a:lvl1pPr>
              <a:defRPr>
                <a:solidFill>
                  <a:schemeClr val="bg1"/>
                </a:solidFill>
              </a:defRPr>
            </a:lvl1pPr>
          </a:lstStyle>
          <a:p>
            <a:pPr>
              <a:defRPr/>
            </a:pPr>
            <a:fld id="{94FA6F94-6CA3-486A-85D9-F6DBC7AB311A}" type="slidenum">
              <a:rPr lang="en-GB" altLang="en-US"/>
              <a:pPr>
                <a:defRPr/>
              </a:pPr>
              <a:t>‹#›</a:t>
            </a:fld>
            <a:endParaRPr lang="en-GB" altLang="en-US"/>
          </a:p>
        </p:txBody>
      </p:sp>
      <p:sp>
        <p:nvSpPr>
          <p:cNvPr id="13" name="Rectangle 12">
            <a:extLst>
              <a:ext uri="{FF2B5EF4-FFF2-40B4-BE49-F238E27FC236}">
                <a16:creationId xmlns:a16="http://schemas.microsoft.com/office/drawing/2014/main" id="{564C1BDB-33CC-4BEF-A547-6A55FA12790D}"/>
              </a:ext>
            </a:extLst>
          </p:cNvPr>
          <p:cNvSpPr/>
          <p:nvPr userDrawn="1"/>
        </p:nvSpPr>
        <p:spPr>
          <a:xfrm>
            <a:off x="1795193" y="7632037"/>
            <a:ext cx="25894490" cy="29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
        <p:nvSpPr>
          <p:cNvPr id="16" name="Title 7">
            <a:extLst>
              <a:ext uri="{FF2B5EF4-FFF2-40B4-BE49-F238E27FC236}">
                <a16:creationId xmlns:a16="http://schemas.microsoft.com/office/drawing/2014/main" id="{F4CF05EA-F898-4007-AD46-0661D2E50EA1}"/>
              </a:ext>
            </a:extLst>
          </p:cNvPr>
          <p:cNvSpPr>
            <a:spLocks noGrp="1"/>
          </p:cNvSpPr>
          <p:nvPr>
            <p:ph type="title"/>
          </p:nvPr>
        </p:nvSpPr>
        <p:spPr>
          <a:xfrm>
            <a:off x="1795193" y="7848112"/>
            <a:ext cx="25894490" cy="2544333"/>
          </a:xfrm>
        </p:spPr>
        <p:txBody>
          <a:bodyPr/>
          <a:lstStyle>
            <a:lvl1pPr>
              <a:lnSpc>
                <a:spcPct val="100000"/>
              </a:lnSpc>
              <a:defRPr sz="14134" b="1">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97977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Slide Dark">
    <p:bg>
      <p:bgPr>
        <a:solidFill>
          <a:srgbClr val="404040"/>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871C8010-C10A-4680-87CD-8A2A30BCE242}"/>
              </a:ext>
            </a:extLst>
          </p:cNvPr>
          <p:cNvSpPr txBox="1">
            <a:spLocks noChangeArrowheads="1"/>
          </p:cNvSpPr>
          <p:nvPr userDrawn="1"/>
        </p:nvSpPr>
        <p:spPr bwMode="auto">
          <a:xfrm>
            <a:off x="5385581" y="19634658"/>
            <a:ext cx="14968746" cy="6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r>
              <a:rPr lang="en-GB" altLang="en-US" sz="3327">
                <a:solidFill>
                  <a:schemeClr val="bg1"/>
                </a:solidFill>
              </a:rPr>
              <a:t>The Alan Turing Institute</a:t>
            </a:r>
          </a:p>
        </p:txBody>
      </p:sp>
      <p:cxnSp>
        <p:nvCxnSpPr>
          <p:cNvPr id="5" name="Straight Connector 5">
            <a:extLst>
              <a:ext uri="{FF2B5EF4-FFF2-40B4-BE49-F238E27FC236}">
                <a16:creationId xmlns:a16="http://schemas.microsoft.com/office/drawing/2014/main" id="{8371B85C-0188-4221-8821-B68670C6C3FA}"/>
              </a:ext>
            </a:extLst>
          </p:cNvPr>
          <p:cNvCxnSpPr/>
          <p:nvPr userDrawn="1"/>
        </p:nvCxnSpPr>
        <p:spPr>
          <a:xfrm>
            <a:off x="1795197" y="19608257"/>
            <a:ext cx="34425475"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Date Placeholder 1">
            <a:extLst>
              <a:ext uri="{FF2B5EF4-FFF2-40B4-BE49-F238E27FC236}">
                <a16:creationId xmlns:a16="http://schemas.microsoft.com/office/drawing/2014/main" id="{D789B564-B65F-4C15-BAD8-3C1B8B545D5A}"/>
              </a:ext>
            </a:extLst>
          </p:cNvPr>
          <p:cNvSpPr>
            <a:spLocks noGrp="1"/>
          </p:cNvSpPr>
          <p:nvPr>
            <p:ph type="dt" sz="half" idx="15"/>
          </p:nvPr>
        </p:nvSpPr>
        <p:spPr/>
        <p:txBody>
          <a:bodyPr/>
          <a:lstStyle>
            <a:lvl1pPr>
              <a:defRPr>
                <a:solidFill>
                  <a:schemeClr val="bg1"/>
                </a:solidFill>
              </a:defRPr>
            </a:lvl1pPr>
          </a:lstStyle>
          <a:p>
            <a:pPr>
              <a:defRPr/>
            </a:pPr>
            <a:fld id="{AF123749-D969-4DD2-9868-2215C26833D4}" type="datetime1">
              <a:rPr lang="en-US" smtClean="0"/>
              <a:t>3/3/2026</a:t>
            </a:fld>
            <a:endParaRPr lang="en-GB"/>
          </a:p>
        </p:txBody>
      </p:sp>
      <p:sp>
        <p:nvSpPr>
          <p:cNvPr id="7" name="Slide Number Placeholder 3">
            <a:extLst>
              <a:ext uri="{FF2B5EF4-FFF2-40B4-BE49-F238E27FC236}">
                <a16:creationId xmlns:a16="http://schemas.microsoft.com/office/drawing/2014/main" id="{A1CB9F07-C025-4D57-80FD-D6BDBC2D84BD}"/>
              </a:ext>
            </a:extLst>
          </p:cNvPr>
          <p:cNvSpPr>
            <a:spLocks noGrp="1"/>
          </p:cNvSpPr>
          <p:nvPr>
            <p:ph type="sldNum" sz="quarter" idx="16"/>
          </p:nvPr>
        </p:nvSpPr>
        <p:spPr/>
        <p:txBody>
          <a:bodyPr/>
          <a:lstStyle>
            <a:lvl1pPr>
              <a:defRPr>
                <a:solidFill>
                  <a:schemeClr val="bg1"/>
                </a:solidFill>
              </a:defRPr>
            </a:lvl1pPr>
          </a:lstStyle>
          <a:p>
            <a:pPr>
              <a:defRPr/>
            </a:pPr>
            <a:fld id="{2CAE0F74-7337-4072-91EA-E6767868A127}" type="slidenum">
              <a:rPr lang="en-GB" altLang="en-US"/>
              <a:pPr>
                <a:defRPr/>
              </a:pPr>
              <a:t>‹#›</a:t>
            </a:fld>
            <a:endParaRPr lang="en-GB" altLang="en-US"/>
          </a:p>
        </p:txBody>
      </p:sp>
      <p:sp>
        <p:nvSpPr>
          <p:cNvPr id="9" name="Title 7">
            <a:extLst>
              <a:ext uri="{FF2B5EF4-FFF2-40B4-BE49-F238E27FC236}">
                <a16:creationId xmlns:a16="http://schemas.microsoft.com/office/drawing/2014/main" id="{2E6F1581-B58A-429C-8271-FD022B15C411}"/>
              </a:ext>
            </a:extLst>
          </p:cNvPr>
          <p:cNvSpPr>
            <a:spLocks noGrp="1"/>
          </p:cNvSpPr>
          <p:nvPr>
            <p:ph type="title"/>
          </p:nvPr>
        </p:nvSpPr>
        <p:spPr>
          <a:xfrm>
            <a:off x="1795192" y="1411447"/>
            <a:ext cx="34423813" cy="2544333"/>
          </a:xfrm>
        </p:spPr>
        <p:txBody>
          <a:bodyPr/>
          <a:lstStyle>
            <a:lvl1pPr>
              <a:lnSpc>
                <a:spcPct val="100000"/>
              </a:lnSpc>
              <a:defRPr sz="13305" b="0">
                <a:solidFill>
                  <a:schemeClr val="bg1"/>
                </a:solidFill>
              </a:defRPr>
            </a:lvl1pPr>
          </a:lstStyle>
          <a:p>
            <a:r>
              <a:rPr lang="en-US"/>
              <a:t>Click to edit Master title style</a:t>
            </a:r>
            <a:endParaRPr lang="en-GB"/>
          </a:p>
        </p:txBody>
      </p:sp>
      <p:sp>
        <p:nvSpPr>
          <p:cNvPr id="10" name="Rectangle 9">
            <a:extLst>
              <a:ext uri="{FF2B5EF4-FFF2-40B4-BE49-F238E27FC236}">
                <a16:creationId xmlns:a16="http://schemas.microsoft.com/office/drawing/2014/main" id="{976F1A75-16D6-4BC8-B120-1A5EA3D437FF}"/>
              </a:ext>
            </a:extLst>
          </p:cNvPr>
          <p:cNvSpPr/>
          <p:nvPr userDrawn="1"/>
        </p:nvSpPr>
        <p:spPr>
          <a:xfrm>
            <a:off x="1795192" y="1424637"/>
            <a:ext cx="34423813" cy="119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23238117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Light">
    <p:bg>
      <p:bgPr>
        <a:solidFill>
          <a:srgbClr val="E6E6E6"/>
        </a:solidFill>
        <a:effectLst/>
      </p:bgPr>
    </p:bg>
    <p:spTree>
      <p:nvGrpSpPr>
        <p:cNvPr id="1" name=""/>
        <p:cNvGrpSpPr/>
        <p:nvPr/>
      </p:nvGrpSpPr>
      <p:grpSpPr>
        <a:xfrm>
          <a:off x="0" y="0"/>
          <a:ext cx="0" cy="0"/>
          <a:chOff x="0" y="0"/>
          <a:chExt cx="0" cy="0"/>
        </a:xfrm>
      </p:grpSpPr>
      <p:sp>
        <p:nvSpPr>
          <p:cNvPr id="4" name="Date Placeholder 1">
            <a:extLst>
              <a:ext uri="{FF2B5EF4-FFF2-40B4-BE49-F238E27FC236}">
                <a16:creationId xmlns:a16="http://schemas.microsoft.com/office/drawing/2014/main" id="{F5B9C085-8AC3-4268-A366-B29751EB4ED6}"/>
              </a:ext>
            </a:extLst>
          </p:cNvPr>
          <p:cNvSpPr>
            <a:spLocks noGrp="1"/>
          </p:cNvSpPr>
          <p:nvPr>
            <p:ph type="dt" sz="half" idx="15"/>
          </p:nvPr>
        </p:nvSpPr>
        <p:spPr/>
        <p:txBody>
          <a:bodyPr/>
          <a:lstStyle>
            <a:lvl1pPr>
              <a:defRPr>
                <a:solidFill>
                  <a:schemeClr val="tx1"/>
                </a:solidFill>
              </a:defRPr>
            </a:lvl1pPr>
          </a:lstStyle>
          <a:p>
            <a:pPr>
              <a:defRPr/>
            </a:pPr>
            <a:fld id="{FFBA732A-1546-4313-975B-EC42DC7D6814}" type="datetime1">
              <a:rPr lang="en-US" smtClean="0"/>
              <a:t>3/3/2026</a:t>
            </a:fld>
            <a:endParaRPr lang="en-GB"/>
          </a:p>
        </p:txBody>
      </p:sp>
      <p:sp>
        <p:nvSpPr>
          <p:cNvPr id="5" name="Slide Number Placeholder 3">
            <a:extLst>
              <a:ext uri="{FF2B5EF4-FFF2-40B4-BE49-F238E27FC236}">
                <a16:creationId xmlns:a16="http://schemas.microsoft.com/office/drawing/2014/main" id="{87F7D7AC-845A-4E23-94DD-FD72BA0F006E}"/>
              </a:ext>
            </a:extLst>
          </p:cNvPr>
          <p:cNvSpPr>
            <a:spLocks noGrp="1"/>
          </p:cNvSpPr>
          <p:nvPr>
            <p:ph type="sldNum" sz="quarter" idx="16"/>
          </p:nvPr>
        </p:nvSpPr>
        <p:spPr/>
        <p:txBody>
          <a:bodyPr/>
          <a:lstStyle>
            <a:lvl1pPr>
              <a:defRPr/>
            </a:lvl1pPr>
          </a:lstStyle>
          <a:p>
            <a:pPr>
              <a:defRPr/>
            </a:pPr>
            <a:fld id="{9E1EE291-2B04-4E73-B2CF-D9C06A3805FD}" type="slidenum">
              <a:rPr lang="en-GB" altLang="en-US"/>
              <a:pPr>
                <a:defRPr/>
              </a:pPr>
              <a:t>‹#›</a:t>
            </a:fld>
            <a:endParaRPr lang="en-GB" altLang="en-US"/>
          </a:p>
        </p:txBody>
      </p:sp>
      <p:sp>
        <p:nvSpPr>
          <p:cNvPr id="6" name="Title 7">
            <a:extLst>
              <a:ext uri="{FF2B5EF4-FFF2-40B4-BE49-F238E27FC236}">
                <a16:creationId xmlns:a16="http://schemas.microsoft.com/office/drawing/2014/main" id="{46458DB0-81E4-473C-8F05-E673AC6AA71D}"/>
              </a:ext>
            </a:extLst>
          </p:cNvPr>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
        <p:nvSpPr>
          <p:cNvPr id="7" name="Rectangle 6">
            <a:extLst>
              <a:ext uri="{FF2B5EF4-FFF2-40B4-BE49-F238E27FC236}">
                <a16:creationId xmlns:a16="http://schemas.microsoft.com/office/drawing/2014/main" id="{49DD2D0D-BFE2-4B5F-B262-A88AE171CB5E}"/>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1850218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ivider Slide White">
    <p:spTree>
      <p:nvGrpSpPr>
        <p:cNvPr id="1" name=""/>
        <p:cNvGrpSpPr/>
        <p:nvPr/>
      </p:nvGrpSpPr>
      <p:grpSpPr>
        <a:xfrm>
          <a:off x="0" y="0"/>
          <a:ext cx="0" cy="0"/>
          <a:chOff x="0" y="0"/>
          <a:chExt cx="0" cy="0"/>
        </a:xfrm>
      </p:grpSpPr>
      <p:sp>
        <p:nvSpPr>
          <p:cNvPr id="8" name="Title 7"/>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19DDE1E0-EE2C-45DE-9148-0261E27AE51B}"/>
              </a:ext>
            </a:extLst>
          </p:cNvPr>
          <p:cNvSpPr>
            <a:spLocks noGrp="1"/>
          </p:cNvSpPr>
          <p:nvPr>
            <p:ph type="dt" sz="half" idx="15"/>
          </p:nvPr>
        </p:nvSpPr>
        <p:spPr/>
        <p:txBody>
          <a:bodyPr/>
          <a:lstStyle>
            <a:lvl1pPr>
              <a:defRPr/>
            </a:lvl1pPr>
          </a:lstStyle>
          <a:p>
            <a:pPr>
              <a:defRPr/>
            </a:pPr>
            <a:fld id="{CBCD2FD7-70C6-4461-AC83-43B854802DDA}" type="datetime1">
              <a:rPr lang="en-US" smtClean="0"/>
              <a:t>3/3/2026</a:t>
            </a:fld>
            <a:endParaRPr lang="en-GB"/>
          </a:p>
        </p:txBody>
      </p:sp>
      <p:sp>
        <p:nvSpPr>
          <p:cNvPr id="5" name="Slide Number Placeholder 5">
            <a:extLst>
              <a:ext uri="{FF2B5EF4-FFF2-40B4-BE49-F238E27FC236}">
                <a16:creationId xmlns:a16="http://schemas.microsoft.com/office/drawing/2014/main" id="{4800508B-71A0-427E-8E7A-E086E3EDCF47}"/>
              </a:ext>
            </a:extLst>
          </p:cNvPr>
          <p:cNvSpPr>
            <a:spLocks noGrp="1"/>
          </p:cNvSpPr>
          <p:nvPr>
            <p:ph type="sldNum" sz="quarter" idx="16"/>
          </p:nvPr>
        </p:nvSpPr>
        <p:spPr/>
        <p:txBody>
          <a:bodyPr/>
          <a:lstStyle>
            <a:lvl1pPr>
              <a:defRPr/>
            </a:lvl1pPr>
          </a:lstStyle>
          <a:p>
            <a:pPr>
              <a:defRPr/>
            </a:pPr>
            <a:fld id="{0723F4AA-6BDB-435B-B70F-96D631AC163B}" type="slidenum">
              <a:rPr lang="en-GB" altLang="en-US"/>
              <a:pPr>
                <a:defRPr/>
              </a:pPr>
              <a:t>‹#›</a:t>
            </a:fld>
            <a:endParaRPr lang="en-GB" altLang="en-US"/>
          </a:p>
        </p:txBody>
      </p:sp>
      <p:sp>
        <p:nvSpPr>
          <p:cNvPr id="7" name="Rectangle 6">
            <a:extLst>
              <a:ext uri="{FF2B5EF4-FFF2-40B4-BE49-F238E27FC236}">
                <a16:creationId xmlns:a16="http://schemas.microsoft.com/office/drawing/2014/main" id="{0AE0BBD1-F037-4859-9F9A-032B9CA15F4B}"/>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37072181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3pPr marL="1795982" indent="-1047657">
              <a:defRPr/>
            </a:lvl3pPr>
            <a:lvl4pPr marL="3591961" indent="-1047657">
              <a:defRPr/>
            </a:lvl4pPr>
            <a:lvl5pPr marL="5387943" indent="-1047657">
              <a:defRPr/>
            </a:lvl5pPr>
            <a:lvl6pPr indent="-1047657">
              <a:defRPr/>
            </a:lvl6pPr>
            <a:lvl7pPr indent="-1047657">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22BAAF-63B8-4AB8-8C6A-3CE7F66DBEB6}"/>
              </a:ext>
            </a:extLst>
          </p:cNvPr>
          <p:cNvSpPr>
            <a:spLocks noGrp="1"/>
          </p:cNvSpPr>
          <p:nvPr>
            <p:ph type="dt" sz="half" idx="10"/>
          </p:nvPr>
        </p:nvSpPr>
        <p:spPr/>
        <p:txBody>
          <a:bodyPr/>
          <a:lstStyle>
            <a:lvl1pPr>
              <a:defRPr/>
            </a:lvl1pPr>
          </a:lstStyle>
          <a:p>
            <a:pPr>
              <a:defRPr/>
            </a:pPr>
            <a:fld id="{3FA94DEC-B7DE-4B97-A7E2-9CB8110B0875}" type="datetime1">
              <a:rPr lang="en-US" smtClean="0"/>
              <a:t>3/3/2026</a:t>
            </a:fld>
            <a:endParaRPr lang="en-GB"/>
          </a:p>
        </p:txBody>
      </p:sp>
      <p:sp>
        <p:nvSpPr>
          <p:cNvPr id="5" name="Slide Number Placeholder 5">
            <a:extLst>
              <a:ext uri="{FF2B5EF4-FFF2-40B4-BE49-F238E27FC236}">
                <a16:creationId xmlns:a16="http://schemas.microsoft.com/office/drawing/2014/main" id="{CAC404C7-7B93-412B-8DC9-E56CD266AB71}"/>
              </a:ext>
            </a:extLst>
          </p:cNvPr>
          <p:cNvSpPr>
            <a:spLocks noGrp="1"/>
          </p:cNvSpPr>
          <p:nvPr>
            <p:ph type="sldNum" sz="quarter" idx="11"/>
          </p:nvPr>
        </p:nvSpPr>
        <p:spPr/>
        <p:txBody>
          <a:bodyPr/>
          <a:lstStyle>
            <a:lvl1pPr>
              <a:defRPr/>
            </a:lvl1pPr>
          </a:lstStyle>
          <a:p>
            <a:pPr>
              <a:defRPr/>
            </a:pPr>
            <a:fld id="{9CDA4729-CA73-46FD-B7FB-3083EDFB8E2B}" type="slidenum">
              <a:rPr lang="en-GB" altLang="en-US"/>
              <a:pPr>
                <a:defRPr/>
              </a:pPr>
              <a:t>‹#›</a:t>
            </a:fld>
            <a:endParaRPr lang="en-GB" altLang="en-US"/>
          </a:p>
        </p:txBody>
      </p:sp>
      <p:sp>
        <p:nvSpPr>
          <p:cNvPr id="6" name="Title 7">
            <a:extLst>
              <a:ext uri="{FF2B5EF4-FFF2-40B4-BE49-F238E27FC236}">
                <a16:creationId xmlns:a16="http://schemas.microsoft.com/office/drawing/2014/main" id="{681CA01A-567E-48A3-8D45-58C342F8A7A9}"/>
              </a:ext>
            </a:extLst>
          </p:cNvPr>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
        <p:nvSpPr>
          <p:cNvPr id="7" name="Rectangle 6">
            <a:extLst>
              <a:ext uri="{FF2B5EF4-FFF2-40B4-BE49-F238E27FC236}">
                <a16:creationId xmlns:a16="http://schemas.microsoft.com/office/drawing/2014/main" id="{D52ABB75-115E-465D-B19F-A054C4049C7D}"/>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24370998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6022" y="1796000"/>
            <a:ext cx="34423813" cy="9878000"/>
          </a:xfrm>
        </p:spPr>
        <p:txBody>
          <a:bodyPr/>
          <a:lstStyle>
            <a:lvl1pPr>
              <a:lnSpc>
                <a:spcPct val="85000"/>
              </a:lnSpc>
              <a:spcAft>
                <a:spcPts val="7483"/>
              </a:spcAft>
              <a:defRPr sz="9978" b="0" baseline="0"/>
            </a:lvl1pPr>
            <a:lvl2pPr>
              <a:defRPr sz="7483" b="1"/>
            </a:lvl2pPr>
            <a:lvl3pPr marL="0" indent="0">
              <a:buFontTx/>
              <a:buNone/>
              <a:defRPr sz="7483"/>
            </a:lvl3pPr>
            <a:lvl4pPr marL="1945645" indent="-972822">
              <a:defRPr sz="7483"/>
            </a:lvl4pPr>
            <a:lvl5pPr marL="2918470" indent="-972822">
              <a:defRPr sz="7483"/>
            </a:lvl5pPr>
            <a:lvl6pPr>
              <a:defRPr sz="7483"/>
            </a:lvl6pPr>
            <a:lvl7pPr>
              <a:defRPr sz="7483"/>
            </a:lvl7pPr>
          </a:lstStyle>
          <a:p>
            <a:pPr lvl="0"/>
            <a:r>
              <a:rPr lang="en-US"/>
              <a:t>Click to edit Master text styles</a:t>
            </a:r>
          </a:p>
          <a:p>
            <a:pPr lvl="1"/>
            <a:r>
              <a:rPr lang="en-US"/>
              <a:t>Second level</a:t>
            </a:r>
          </a:p>
          <a:p>
            <a:pPr lvl="2"/>
            <a:r>
              <a:rPr lang="en-US"/>
              <a:t>Third level</a:t>
            </a:r>
          </a:p>
        </p:txBody>
      </p:sp>
      <p:sp>
        <p:nvSpPr>
          <p:cNvPr id="11" name="Picture Placeholder 10"/>
          <p:cNvSpPr>
            <a:spLocks noGrp="1"/>
          </p:cNvSpPr>
          <p:nvPr>
            <p:ph type="pic" sz="quarter" idx="13"/>
          </p:nvPr>
        </p:nvSpPr>
        <p:spPr>
          <a:xfrm>
            <a:off x="1796025" y="6360833"/>
            <a:ext cx="8980125" cy="224500"/>
          </a:xfrm>
          <a:solidFill>
            <a:schemeClr val="tx1"/>
          </a:solidFill>
        </p:spPr>
        <p:txBody>
          <a:bodyPr/>
          <a:lstStyle>
            <a:lvl1pPr>
              <a:defRPr sz="415" b="0" baseline="0">
                <a:solidFill>
                  <a:schemeClr val="tx1"/>
                </a:solidFill>
              </a:defRPr>
            </a:lvl1pPr>
          </a:lstStyle>
          <a:p>
            <a:pPr lvl="0"/>
            <a:r>
              <a:rPr lang="en-US" noProof="0"/>
              <a:t>Click icon to add picture</a:t>
            </a:r>
            <a:endParaRPr lang="en-GB" noProof="0"/>
          </a:p>
        </p:txBody>
      </p:sp>
      <p:sp>
        <p:nvSpPr>
          <p:cNvPr id="13" name="Picture Placeholder 12"/>
          <p:cNvSpPr>
            <a:spLocks noGrp="1"/>
          </p:cNvSpPr>
          <p:nvPr>
            <p:ph type="pic" sz="quarter" idx="14"/>
          </p:nvPr>
        </p:nvSpPr>
        <p:spPr>
          <a:xfrm>
            <a:off x="1796025" y="12871333"/>
            <a:ext cx="4490063" cy="4490000"/>
          </a:xfrm>
        </p:spPr>
        <p:txBody>
          <a:bodyPr/>
          <a:lstStyle>
            <a:lvl1pPr>
              <a:defRPr sz="4156" b="0"/>
            </a:lvl1pPr>
          </a:lstStyle>
          <a:p>
            <a:pPr lvl="0"/>
            <a:r>
              <a:rPr lang="en-US" noProof="0"/>
              <a:t>Click icon to add picture</a:t>
            </a:r>
            <a:endParaRPr lang="en-GB" noProof="0"/>
          </a:p>
        </p:txBody>
      </p:sp>
      <p:sp>
        <p:nvSpPr>
          <p:cNvPr id="14" name="Picture Placeholder 12"/>
          <p:cNvSpPr>
            <a:spLocks noGrp="1"/>
          </p:cNvSpPr>
          <p:nvPr>
            <p:ph type="pic" sz="quarter" idx="15"/>
          </p:nvPr>
        </p:nvSpPr>
        <p:spPr>
          <a:xfrm>
            <a:off x="13769525" y="12871333"/>
            <a:ext cx="4490063" cy="4490000"/>
          </a:xfrm>
        </p:spPr>
        <p:txBody>
          <a:bodyPr/>
          <a:lstStyle>
            <a:lvl1pPr>
              <a:defRPr sz="4156" b="0"/>
            </a:lvl1pPr>
          </a:lstStyle>
          <a:p>
            <a:pPr lvl="0"/>
            <a:r>
              <a:rPr lang="en-US" noProof="0"/>
              <a:t>Click icon to add picture</a:t>
            </a:r>
            <a:endParaRPr lang="en-GB" noProof="0"/>
          </a:p>
        </p:txBody>
      </p:sp>
      <p:sp>
        <p:nvSpPr>
          <p:cNvPr id="15" name="Picture Placeholder 12"/>
          <p:cNvSpPr>
            <a:spLocks noGrp="1"/>
          </p:cNvSpPr>
          <p:nvPr>
            <p:ph type="pic" sz="quarter" idx="16"/>
          </p:nvPr>
        </p:nvSpPr>
        <p:spPr>
          <a:xfrm>
            <a:off x="19756275" y="12871333"/>
            <a:ext cx="4490063" cy="4490000"/>
          </a:xfrm>
        </p:spPr>
        <p:txBody>
          <a:bodyPr/>
          <a:lstStyle>
            <a:lvl1pPr>
              <a:defRPr sz="4156" b="0"/>
            </a:lvl1pPr>
          </a:lstStyle>
          <a:p>
            <a:pPr lvl="0"/>
            <a:r>
              <a:rPr lang="en-US" noProof="0"/>
              <a:t>Click icon to add picture</a:t>
            </a:r>
            <a:endParaRPr lang="en-GB" noProof="0"/>
          </a:p>
        </p:txBody>
      </p:sp>
      <p:sp>
        <p:nvSpPr>
          <p:cNvPr id="16" name="Picture Placeholder 12"/>
          <p:cNvSpPr>
            <a:spLocks noGrp="1"/>
          </p:cNvSpPr>
          <p:nvPr>
            <p:ph type="pic" sz="quarter" idx="17"/>
          </p:nvPr>
        </p:nvSpPr>
        <p:spPr>
          <a:xfrm>
            <a:off x="25743025" y="12871333"/>
            <a:ext cx="4490063" cy="4490000"/>
          </a:xfrm>
        </p:spPr>
        <p:txBody>
          <a:bodyPr/>
          <a:lstStyle>
            <a:lvl1pPr>
              <a:defRPr sz="4156" b="0"/>
            </a:lvl1pPr>
          </a:lstStyle>
          <a:p>
            <a:pPr lvl="0"/>
            <a:r>
              <a:rPr lang="en-US" noProof="0"/>
              <a:t>Click icon to add picture</a:t>
            </a:r>
            <a:endParaRPr lang="en-GB" noProof="0"/>
          </a:p>
        </p:txBody>
      </p:sp>
      <p:sp>
        <p:nvSpPr>
          <p:cNvPr id="18" name="Picture Placeholder 12"/>
          <p:cNvSpPr>
            <a:spLocks noGrp="1"/>
          </p:cNvSpPr>
          <p:nvPr>
            <p:ph type="pic" sz="quarter" idx="19"/>
          </p:nvPr>
        </p:nvSpPr>
        <p:spPr>
          <a:xfrm>
            <a:off x="31729775" y="12871333"/>
            <a:ext cx="4490063" cy="4490000"/>
          </a:xfrm>
        </p:spPr>
        <p:txBody>
          <a:bodyPr/>
          <a:lstStyle>
            <a:lvl1pPr>
              <a:defRPr sz="4156" b="0"/>
            </a:lvl1pPr>
          </a:lstStyle>
          <a:p>
            <a:pPr lvl="0"/>
            <a:r>
              <a:rPr lang="en-US" noProof="0"/>
              <a:t>Click icon to add picture</a:t>
            </a:r>
            <a:endParaRPr lang="en-GB" noProof="0"/>
          </a:p>
        </p:txBody>
      </p:sp>
      <p:sp>
        <p:nvSpPr>
          <p:cNvPr id="17" name="Picture Placeholder 12"/>
          <p:cNvSpPr>
            <a:spLocks noGrp="1"/>
          </p:cNvSpPr>
          <p:nvPr>
            <p:ph type="pic" sz="quarter" idx="21"/>
          </p:nvPr>
        </p:nvSpPr>
        <p:spPr>
          <a:xfrm>
            <a:off x="7782775" y="12871333"/>
            <a:ext cx="4490063" cy="4490000"/>
          </a:xfrm>
        </p:spPr>
        <p:txBody>
          <a:bodyPr/>
          <a:lstStyle>
            <a:lvl1pPr>
              <a:defRPr sz="4156" b="0"/>
            </a:lvl1pPr>
          </a:lstStyle>
          <a:p>
            <a:pPr lvl="0"/>
            <a:r>
              <a:rPr lang="en-US" noProof="0"/>
              <a:t>Click icon to add picture</a:t>
            </a:r>
            <a:endParaRPr lang="en-GB" noProof="0"/>
          </a:p>
        </p:txBody>
      </p:sp>
      <p:sp>
        <p:nvSpPr>
          <p:cNvPr id="12" name="Date Placeholder 3">
            <a:extLst>
              <a:ext uri="{FF2B5EF4-FFF2-40B4-BE49-F238E27FC236}">
                <a16:creationId xmlns:a16="http://schemas.microsoft.com/office/drawing/2014/main" id="{625C8C3B-1B48-4871-A27A-E21F2C18FFF9}"/>
              </a:ext>
            </a:extLst>
          </p:cNvPr>
          <p:cNvSpPr>
            <a:spLocks noGrp="1"/>
          </p:cNvSpPr>
          <p:nvPr>
            <p:ph type="dt" sz="half" idx="22"/>
          </p:nvPr>
        </p:nvSpPr>
        <p:spPr/>
        <p:txBody>
          <a:bodyPr/>
          <a:lstStyle>
            <a:lvl1pPr>
              <a:defRPr/>
            </a:lvl1pPr>
          </a:lstStyle>
          <a:p>
            <a:pPr>
              <a:defRPr/>
            </a:pPr>
            <a:fld id="{50F7B037-EADE-4FAE-91C0-80DCF89985AE}" type="datetime1">
              <a:rPr lang="en-US" smtClean="0"/>
              <a:t>3/3/2026</a:t>
            </a:fld>
            <a:endParaRPr lang="en-GB"/>
          </a:p>
        </p:txBody>
      </p:sp>
      <p:sp>
        <p:nvSpPr>
          <p:cNvPr id="19" name="Slide Number Placeholder 5">
            <a:extLst>
              <a:ext uri="{FF2B5EF4-FFF2-40B4-BE49-F238E27FC236}">
                <a16:creationId xmlns:a16="http://schemas.microsoft.com/office/drawing/2014/main" id="{8B452863-23BB-408C-8690-5ACA294022B5}"/>
              </a:ext>
            </a:extLst>
          </p:cNvPr>
          <p:cNvSpPr>
            <a:spLocks noGrp="1"/>
          </p:cNvSpPr>
          <p:nvPr>
            <p:ph type="sldNum" sz="quarter" idx="23"/>
          </p:nvPr>
        </p:nvSpPr>
        <p:spPr/>
        <p:txBody>
          <a:bodyPr/>
          <a:lstStyle>
            <a:lvl1pPr>
              <a:defRPr/>
            </a:lvl1pPr>
          </a:lstStyle>
          <a:p>
            <a:pPr>
              <a:defRPr/>
            </a:pPr>
            <a:fld id="{351013DD-1452-4B0F-9E7A-AB6E0392C2A1}" type="slidenum">
              <a:rPr lang="en-GB" altLang="en-US"/>
              <a:pPr>
                <a:defRPr/>
              </a:pPr>
              <a:t>‹#›</a:t>
            </a:fld>
            <a:endParaRPr lang="en-GB" altLang="en-US"/>
          </a:p>
        </p:txBody>
      </p:sp>
      <p:sp>
        <p:nvSpPr>
          <p:cNvPr id="20" name="Rectangle 19">
            <a:extLst>
              <a:ext uri="{FF2B5EF4-FFF2-40B4-BE49-F238E27FC236}">
                <a16:creationId xmlns:a16="http://schemas.microsoft.com/office/drawing/2014/main" id="{3AD8D25E-5D4A-4348-9095-DFA43477E15C}"/>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2793095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ro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8ECBD2-724D-44E0-B506-603A94A123C2}"/>
              </a:ext>
            </a:extLst>
          </p:cNvPr>
          <p:cNvSpPr>
            <a:spLocks noGrp="1"/>
          </p:cNvSpPr>
          <p:nvPr>
            <p:ph type="dt" sz="half" idx="21"/>
          </p:nvPr>
        </p:nvSpPr>
        <p:spPr/>
        <p:txBody>
          <a:bodyPr/>
          <a:lstStyle>
            <a:lvl1pPr>
              <a:defRPr/>
            </a:lvl1pPr>
          </a:lstStyle>
          <a:p>
            <a:pPr>
              <a:defRPr/>
            </a:pPr>
            <a:fld id="{111E98C5-DF07-4A9B-8796-005250B528B3}" type="datetime1">
              <a:rPr lang="en-US" smtClean="0"/>
              <a:t>3/3/2026</a:t>
            </a:fld>
            <a:endParaRPr lang="en-GB"/>
          </a:p>
        </p:txBody>
      </p:sp>
      <p:sp>
        <p:nvSpPr>
          <p:cNvPr id="5" name="Slide Number Placeholder 5">
            <a:extLst>
              <a:ext uri="{FF2B5EF4-FFF2-40B4-BE49-F238E27FC236}">
                <a16:creationId xmlns:a16="http://schemas.microsoft.com/office/drawing/2014/main" id="{D4A33973-F439-4630-9F01-06C4371A2376}"/>
              </a:ext>
            </a:extLst>
          </p:cNvPr>
          <p:cNvSpPr>
            <a:spLocks noGrp="1"/>
          </p:cNvSpPr>
          <p:nvPr>
            <p:ph type="sldNum" sz="quarter" idx="22"/>
          </p:nvPr>
        </p:nvSpPr>
        <p:spPr/>
        <p:txBody>
          <a:bodyPr/>
          <a:lstStyle>
            <a:lvl1pPr>
              <a:defRPr/>
            </a:lvl1pPr>
          </a:lstStyle>
          <a:p>
            <a:pPr>
              <a:defRPr/>
            </a:pPr>
            <a:fld id="{7105BD0D-EBF5-429D-BD54-7FC942F384EC}" type="slidenum">
              <a:rPr lang="en-GB" altLang="en-US"/>
              <a:pPr>
                <a:defRPr/>
              </a:pPr>
              <a:t>‹#›</a:t>
            </a:fld>
            <a:endParaRPr lang="en-GB" altLang="en-US"/>
          </a:p>
        </p:txBody>
      </p:sp>
      <p:sp>
        <p:nvSpPr>
          <p:cNvPr id="6" name="Rectangle 5">
            <a:extLst>
              <a:ext uri="{FF2B5EF4-FFF2-40B4-BE49-F238E27FC236}">
                <a16:creationId xmlns:a16="http://schemas.microsoft.com/office/drawing/2014/main" id="{663B4455-0CE4-4CC6-86D1-485B27B50035}"/>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
        <p:nvSpPr>
          <p:cNvPr id="10" name="Title 7">
            <a:extLst>
              <a:ext uri="{FF2B5EF4-FFF2-40B4-BE49-F238E27FC236}">
                <a16:creationId xmlns:a16="http://schemas.microsoft.com/office/drawing/2014/main" id="{A2A60ACF-2223-4A15-91FB-C09331069E3B}"/>
              </a:ext>
            </a:extLst>
          </p:cNvPr>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4175335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796025" y="5088667"/>
            <a:ext cx="16313894" cy="13470000"/>
          </a:xfrm>
        </p:spPr>
        <p:txBody>
          <a:bodyPr/>
          <a:lstStyle>
            <a:lvl1pPr>
              <a:defRPr sz="5404"/>
            </a:lvl1pPr>
            <a:lvl2pPr>
              <a:defRPr sz="5404"/>
            </a:lvl2pPr>
            <a:lvl3pPr indent="-748325">
              <a:defRPr sz="5404"/>
            </a:lvl3pPr>
            <a:lvl4pPr indent="-748325">
              <a:defRPr sz="5404"/>
            </a:lvl4pPr>
            <a:lvl5pPr indent="-748325">
              <a:defRPr sz="5404"/>
            </a:lvl5pPr>
            <a:lvl6pPr indent="-748325">
              <a:defRPr sz="5404" baseline="0"/>
            </a:lvl6pPr>
            <a:lvl7pPr indent="-748325">
              <a:defRPr sz="5404"/>
            </a:lvl7pPr>
            <a:lvl8pPr>
              <a:defRPr sz="7483"/>
            </a:lvl8pPr>
            <a:lvl9pPr>
              <a:defRPr sz="748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9905944" y="5088667"/>
            <a:ext cx="16313894" cy="13470000"/>
          </a:xfrm>
        </p:spPr>
        <p:txBody>
          <a:bodyPr/>
          <a:lstStyle>
            <a:lvl1pPr>
              <a:defRPr sz="5404"/>
            </a:lvl1pPr>
            <a:lvl2pPr>
              <a:defRPr sz="5404"/>
            </a:lvl2pPr>
            <a:lvl3pPr indent="-748325">
              <a:defRPr sz="5404"/>
            </a:lvl3pPr>
            <a:lvl4pPr indent="-748325">
              <a:defRPr sz="5404"/>
            </a:lvl4pPr>
            <a:lvl5pPr indent="-748325">
              <a:defRPr sz="5404" baseline="0"/>
            </a:lvl5pPr>
            <a:lvl6pPr indent="-748325">
              <a:defRPr sz="5404"/>
            </a:lvl6pPr>
            <a:lvl7pPr indent="-748325">
              <a:defRPr sz="5404"/>
            </a:lvl7pPr>
            <a:lvl8pPr>
              <a:defRPr sz="7483"/>
            </a:lvl8pPr>
            <a:lvl9pPr>
              <a:defRPr sz="748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BBCA3FE1-876B-4B9F-8344-8F718338971C}"/>
              </a:ext>
            </a:extLst>
          </p:cNvPr>
          <p:cNvSpPr>
            <a:spLocks noGrp="1"/>
          </p:cNvSpPr>
          <p:nvPr>
            <p:ph type="dt" sz="half" idx="10"/>
          </p:nvPr>
        </p:nvSpPr>
        <p:spPr/>
        <p:txBody>
          <a:bodyPr/>
          <a:lstStyle>
            <a:lvl1pPr>
              <a:defRPr/>
            </a:lvl1pPr>
          </a:lstStyle>
          <a:p>
            <a:pPr>
              <a:defRPr/>
            </a:pPr>
            <a:fld id="{6E5D954E-7EF5-4303-BCE5-C30C3B0E54E1}" type="datetime1">
              <a:rPr lang="en-US" smtClean="0"/>
              <a:t>3/3/2026</a:t>
            </a:fld>
            <a:endParaRPr lang="en-GB"/>
          </a:p>
        </p:txBody>
      </p:sp>
      <p:sp>
        <p:nvSpPr>
          <p:cNvPr id="6" name="Slide Number Placeholder 5">
            <a:extLst>
              <a:ext uri="{FF2B5EF4-FFF2-40B4-BE49-F238E27FC236}">
                <a16:creationId xmlns:a16="http://schemas.microsoft.com/office/drawing/2014/main" id="{69A7202A-1758-49DC-8055-0F9FACFCE9F7}"/>
              </a:ext>
            </a:extLst>
          </p:cNvPr>
          <p:cNvSpPr>
            <a:spLocks noGrp="1"/>
          </p:cNvSpPr>
          <p:nvPr>
            <p:ph type="sldNum" sz="quarter" idx="11"/>
          </p:nvPr>
        </p:nvSpPr>
        <p:spPr/>
        <p:txBody>
          <a:bodyPr/>
          <a:lstStyle>
            <a:lvl1pPr>
              <a:defRPr/>
            </a:lvl1pPr>
          </a:lstStyle>
          <a:p>
            <a:pPr>
              <a:defRPr/>
            </a:pPr>
            <a:fld id="{128FA4FC-8334-40DA-9595-BE83E1ECD18D}" type="slidenum">
              <a:rPr lang="en-GB" altLang="en-US"/>
              <a:pPr>
                <a:defRPr/>
              </a:pPr>
              <a:t>‹#›</a:t>
            </a:fld>
            <a:endParaRPr lang="en-GB" altLang="en-US"/>
          </a:p>
        </p:txBody>
      </p:sp>
    </p:spTree>
    <p:extLst>
      <p:ext uri="{BB962C8B-B14F-4D97-AF65-F5344CB8AC3E}">
        <p14:creationId xmlns:p14="http://schemas.microsoft.com/office/powerpoint/2010/main" val="289571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act Details">
    <p:bg>
      <p:bgPr>
        <a:solidFill>
          <a:srgbClr val="404040"/>
        </a:solidFill>
        <a:effectLst/>
      </p:bgPr>
    </p:bg>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676DD3BB-A8C8-44E0-85A7-8F180878BA59}"/>
              </a:ext>
            </a:extLst>
          </p:cNvPr>
          <p:cNvSpPr txBox="1">
            <a:spLocks noChangeArrowheads="1"/>
          </p:cNvSpPr>
          <p:nvPr userDrawn="1"/>
        </p:nvSpPr>
        <p:spPr bwMode="auto">
          <a:xfrm>
            <a:off x="5385581" y="19634658"/>
            <a:ext cx="14968746" cy="6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r>
              <a:rPr lang="en-GB" altLang="en-US" sz="3327">
                <a:solidFill>
                  <a:schemeClr val="bg1"/>
                </a:solidFill>
              </a:rPr>
              <a:t>The Alan Turing Institute</a:t>
            </a:r>
          </a:p>
        </p:txBody>
      </p:sp>
      <p:cxnSp>
        <p:nvCxnSpPr>
          <p:cNvPr id="5" name="Straight Connector 5">
            <a:extLst>
              <a:ext uri="{FF2B5EF4-FFF2-40B4-BE49-F238E27FC236}">
                <a16:creationId xmlns:a16="http://schemas.microsoft.com/office/drawing/2014/main" id="{66A13792-893F-453A-854B-23B09BC6C1AF}"/>
              </a:ext>
            </a:extLst>
          </p:cNvPr>
          <p:cNvCxnSpPr/>
          <p:nvPr userDrawn="1"/>
        </p:nvCxnSpPr>
        <p:spPr>
          <a:xfrm>
            <a:off x="1795197" y="19608257"/>
            <a:ext cx="34425475"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9" descr="ATI_logo_white.ai">
            <a:extLst>
              <a:ext uri="{FF2B5EF4-FFF2-40B4-BE49-F238E27FC236}">
                <a16:creationId xmlns:a16="http://schemas.microsoft.com/office/drawing/2014/main" id="{9DF29087-D290-4B3A-A800-022C8840A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900793" y="1900767"/>
            <a:ext cx="5022584" cy="209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8"/>
          <p:cNvSpPr>
            <a:spLocks noGrp="1"/>
          </p:cNvSpPr>
          <p:nvPr>
            <p:ph type="body" sz="quarter" idx="13"/>
          </p:nvPr>
        </p:nvSpPr>
        <p:spPr>
          <a:xfrm>
            <a:off x="1796025" y="12871333"/>
            <a:ext cx="23947000" cy="3741667"/>
          </a:xfrm>
        </p:spPr>
        <p:txBody>
          <a:bodyPr/>
          <a:lstStyle>
            <a:lvl1pPr>
              <a:defRPr sz="7483" b="1">
                <a:solidFill>
                  <a:schemeClr val="bg1"/>
                </a:solidFill>
              </a:defRPr>
            </a:lvl1pPr>
            <a:lvl2pPr marL="972822" indent="-972822">
              <a:buFont typeface="Arial" pitchFamily="34" charset="0"/>
              <a:buChar char="–"/>
              <a:defRPr sz="7483">
                <a:solidFill>
                  <a:schemeClr val="bg1"/>
                </a:solidFill>
              </a:defRPr>
            </a:lvl2pPr>
            <a:lvl3pPr marL="1945645">
              <a:defRPr sz="7483">
                <a:solidFill>
                  <a:schemeClr val="bg1"/>
                </a:solidFill>
              </a:defRPr>
            </a:lvl3pPr>
            <a:lvl4pPr marL="2918470">
              <a:defRPr sz="7483">
                <a:solidFill>
                  <a:schemeClr val="bg1"/>
                </a:solidFill>
              </a:defRPr>
            </a:lvl4pPr>
            <a:lvl5pPr marL="3891292">
              <a:defRPr sz="7483">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1796025" y="12497167"/>
            <a:ext cx="12647010" cy="224500"/>
          </a:xfrm>
          <a:solidFill>
            <a:schemeClr val="bg1"/>
          </a:solidFill>
        </p:spPr>
        <p:txBody>
          <a:bodyPr/>
          <a:lstStyle>
            <a:lvl1pPr>
              <a:defRPr sz="415" b="0" baseline="0">
                <a:solidFill>
                  <a:schemeClr val="tx1"/>
                </a:solidFill>
              </a:defRPr>
            </a:lvl1pPr>
          </a:lstStyle>
          <a:p>
            <a:pPr lvl="0"/>
            <a:r>
              <a:rPr lang="en-US" noProof="0"/>
              <a:t>Click icon to add picture</a:t>
            </a:r>
            <a:endParaRPr lang="en-GB" noProof="0"/>
          </a:p>
        </p:txBody>
      </p:sp>
      <p:sp>
        <p:nvSpPr>
          <p:cNvPr id="7" name="Date Placeholder 1">
            <a:extLst>
              <a:ext uri="{FF2B5EF4-FFF2-40B4-BE49-F238E27FC236}">
                <a16:creationId xmlns:a16="http://schemas.microsoft.com/office/drawing/2014/main" id="{F33FD4B3-D552-4731-A7AF-1C3D4533A424}"/>
              </a:ext>
            </a:extLst>
          </p:cNvPr>
          <p:cNvSpPr>
            <a:spLocks noGrp="1"/>
          </p:cNvSpPr>
          <p:nvPr>
            <p:ph type="dt" sz="half" idx="15"/>
          </p:nvPr>
        </p:nvSpPr>
        <p:spPr/>
        <p:txBody>
          <a:bodyPr/>
          <a:lstStyle>
            <a:lvl1pPr>
              <a:defRPr>
                <a:solidFill>
                  <a:schemeClr val="bg1"/>
                </a:solidFill>
              </a:defRPr>
            </a:lvl1pPr>
          </a:lstStyle>
          <a:p>
            <a:pPr>
              <a:defRPr/>
            </a:pPr>
            <a:fld id="{E25BA17C-A6A9-44B0-B24E-F5B9F7A14D85}" type="datetime1">
              <a:rPr lang="en-US" smtClean="0"/>
              <a:t>3/3/2026</a:t>
            </a:fld>
            <a:endParaRPr lang="en-GB"/>
          </a:p>
        </p:txBody>
      </p:sp>
      <p:sp>
        <p:nvSpPr>
          <p:cNvPr id="8" name="Slide Number Placeholder 3">
            <a:extLst>
              <a:ext uri="{FF2B5EF4-FFF2-40B4-BE49-F238E27FC236}">
                <a16:creationId xmlns:a16="http://schemas.microsoft.com/office/drawing/2014/main" id="{6AD7EC05-A11A-4736-92A0-3F65A9E76EA2}"/>
              </a:ext>
            </a:extLst>
          </p:cNvPr>
          <p:cNvSpPr>
            <a:spLocks noGrp="1"/>
          </p:cNvSpPr>
          <p:nvPr>
            <p:ph type="sldNum" sz="quarter" idx="16"/>
          </p:nvPr>
        </p:nvSpPr>
        <p:spPr/>
        <p:txBody>
          <a:bodyPr/>
          <a:lstStyle>
            <a:lvl1pPr>
              <a:defRPr>
                <a:solidFill>
                  <a:schemeClr val="bg1"/>
                </a:solidFill>
              </a:defRPr>
            </a:lvl1pPr>
          </a:lstStyle>
          <a:p>
            <a:pPr>
              <a:defRPr/>
            </a:pPr>
            <a:fld id="{DC439F6A-78F2-4692-956A-FE4F6A87BD04}" type="slidenum">
              <a:rPr lang="en-GB" altLang="en-US"/>
              <a:pPr>
                <a:defRPr/>
              </a:pPr>
              <a:t>‹#›</a:t>
            </a:fld>
            <a:endParaRPr lang="en-GB" altLang="en-US"/>
          </a:p>
        </p:txBody>
      </p:sp>
    </p:spTree>
    <p:extLst>
      <p:ext uri="{BB962C8B-B14F-4D97-AF65-F5344CB8AC3E}">
        <p14:creationId xmlns:p14="http://schemas.microsoft.com/office/powerpoint/2010/main" val="1744745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41710ECF-1F4C-404C-9FAB-BFCD8A35F250}"/>
              </a:ext>
            </a:extLst>
          </p:cNvPr>
          <p:cNvSpPr>
            <a:spLocks noGrp="1"/>
          </p:cNvSpPr>
          <p:nvPr>
            <p:ph type="dt" sz="half" idx="10"/>
          </p:nvPr>
        </p:nvSpPr>
        <p:spPr/>
        <p:txBody>
          <a:bodyPr/>
          <a:lstStyle>
            <a:lvl1pPr>
              <a:defRPr/>
            </a:lvl1pPr>
          </a:lstStyle>
          <a:p>
            <a:pPr>
              <a:defRPr/>
            </a:pPr>
            <a:fld id="{652C7649-B18B-45FF-8C50-4F96B849356E}" type="datetime1">
              <a:rPr lang="en-US" smtClean="0"/>
              <a:t>3/3/2026</a:t>
            </a:fld>
            <a:endParaRPr lang="en-GB"/>
          </a:p>
        </p:txBody>
      </p:sp>
      <p:sp>
        <p:nvSpPr>
          <p:cNvPr id="4" name="Slide Number Placeholder 5">
            <a:extLst>
              <a:ext uri="{FF2B5EF4-FFF2-40B4-BE49-F238E27FC236}">
                <a16:creationId xmlns:a16="http://schemas.microsoft.com/office/drawing/2014/main" id="{7188A90A-AE44-495E-9E36-6C9137BAFDE3}"/>
              </a:ext>
            </a:extLst>
          </p:cNvPr>
          <p:cNvSpPr>
            <a:spLocks noGrp="1"/>
          </p:cNvSpPr>
          <p:nvPr>
            <p:ph type="sldNum" sz="quarter" idx="11"/>
          </p:nvPr>
        </p:nvSpPr>
        <p:spPr/>
        <p:txBody>
          <a:bodyPr/>
          <a:lstStyle>
            <a:lvl1pPr>
              <a:defRPr/>
            </a:lvl1pPr>
          </a:lstStyle>
          <a:p>
            <a:pPr>
              <a:defRPr/>
            </a:pPr>
            <a:fld id="{C5C0F2F6-87B3-49D6-9633-F12FBF454F01}" type="slidenum">
              <a:rPr lang="en-GB" altLang="en-US"/>
              <a:pPr>
                <a:defRPr/>
              </a:pPr>
              <a:t>‹#›</a:t>
            </a:fld>
            <a:endParaRPr lang="en-GB" altLang="en-US"/>
          </a:p>
        </p:txBody>
      </p:sp>
      <p:sp>
        <p:nvSpPr>
          <p:cNvPr id="5" name="Title 7">
            <a:extLst>
              <a:ext uri="{FF2B5EF4-FFF2-40B4-BE49-F238E27FC236}">
                <a16:creationId xmlns:a16="http://schemas.microsoft.com/office/drawing/2014/main" id="{2246877A-178E-471D-B307-49D284631B22}"/>
              </a:ext>
            </a:extLst>
          </p:cNvPr>
          <p:cNvSpPr>
            <a:spLocks noGrp="1"/>
          </p:cNvSpPr>
          <p:nvPr>
            <p:ph type="title"/>
          </p:nvPr>
        </p:nvSpPr>
        <p:spPr>
          <a:xfrm>
            <a:off x="1795192" y="1411447"/>
            <a:ext cx="34423813" cy="2544333"/>
          </a:xfrm>
        </p:spPr>
        <p:txBody>
          <a:bodyPr/>
          <a:lstStyle>
            <a:lvl1pPr>
              <a:lnSpc>
                <a:spcPct val="100000"/>
              </a:lnSpc>
              <a:defRPr sz="13305" b="0">
                <a:solidFill>
                  <a:schemeClr val="tx1"/>
                </a:solidFill>
              </a:defRPr>
            </a:lvl1pPr>
          </a:lstStyle>
          <a:p>
            <a:r>
              <a:rPr lang="en-US"/>
              <a:t>Click to edit Master title style</a:t>
            </a:r>
            <a:endParaRPr lang="en-GB"/>
          </a:p>
        </p:txBody>
      </p:sp>
      <p:sp>
        <p:nvSpPr>
          <p:cNvPr id="6" name="Rectangle 5">
            <a:extLst>
              <a:ext uri="{FF2B5EF4-FFF2-40B4-BE49-F238E27FC236}">
                <a16:creationId xmlns:a16="http://schemas.microsoft.com/office/drawing/2014/main" id="{AF49CC3A-F852-411D-B0EE-0702C531C81C}"/>
              </a:ext>
            </a:extLst>
          </p:cNvPr>
          <p:cNvSpPr/>
          <p:nvPr userDrawn="1"/>
        </p:nvSpPr>
        <p:spPr>
          <a:xfrm>
            <a:off x="1795192" y="1424637"/>
            <a:ext cx="34423813" cy="119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483"/>
          </a:p>
        </p:txBody>
      </p:sp>
    </p:spTree>
    <p:extLst>
      <p:ext uri="{BB962C8B-B14F-4D97-AF65-F5344CB8AC3E}">
        <p14:creationId xmlns:p14="http://schemas.microsoft.com/office/powerpoint/2010/main" val="28182308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1C6A178-01F4-4197-A4ED-2541F5E32075}"/>
              </a:ext>
            </a:extLst>
          </p:cNvPr>
          <p:cNvSpPr>
            <a:spLocks noGrp="1"/>
          </p:cNvSpPr>
          <p:nvPr>
            <p:ph type="dt" sz="half" idx="10"/>
          </p:nvPr>
        </p:nvSpPr>
        <p:spPr/>
        <p:txBody>
          <a:bodyPr/>
          <a:lstStyle>
            <a:lvl1pPr>
              <a:defRPr/>
            </a:lvl1pPr>
          </a:lstStyle>
          <a:p>
            <a:pPr>
              <a:defRPr/>
            </a:pPr>
            <a:fld id="{7C4D95BA-5C55-48B1-B4CD-55DD6A06884B}" type="datetime1">
              <a:rPr lang="en-US" smtClean="0"/>
              <a:t>3/3/2026</a:t>
            </a:fld>
            <a:endParaRPr lang="en-GB"/>
          </a:p>
        </p:txBody>
      </p:sp>
      <p:sp>
        <p:nvSpPr>
          <p:cNvPr id="3" name="Slide Number Placeholder 5">
            <a:extLst>
              <a:ext uri="{FF2B5EF4-FFF2-40B4-BE49-F238E27FC236}">
                <a16:creationId xmlns:a16="http://schemas.microsoft.com/office/drawing/2014/main" id="{BB4D1037-5046-4EC1-82FA-1EAAE64E26DA}"/>
              </a:ext>
            </a:extLst>
          </p:cNvPr>
          <p:cNvSpPr>
            <a:spLocks noGrp="1"/>
          </p:cNvSpPr>
          <p:nvPr>
            <p:ph type="sldNum" sz="quarter" idx="11"/>
          </p:nvPr>
        </p:nvSpPr>
        <p:spPr/>
        <p:txBody>
          <a:bodyPr/>
          <a:lstStyle>
            <a:lvl1pPr>
              <a:defRPr/>
            </a:lvl1pPr>
          </a:lstStyle>
          <a:p>
            <a:pPr>
              <a:defRPr/>
            </a:pPr>
            <a:fld id="{3EBBF90B-B6CB-4080-A483-201BC8321953}" type="slidenum">
              <a:rPr lang="en-GB" altLang="en-US"/>
              <a:pPr>
                <a:defRPr/>
              </a:pPr>
              <a:t>‹#›</a:t>
            </a:fld>
            <a:endParaRPr lang="en-GB" altLang="en-US"/>
          </a:p>
        </p:txBody>
      </p:sp>
    </p:spTree>
    <p:extLst>
      <p:ext uri="{BB962C8B-B14F-4D97-AF65-F5344CB8AC3E}">
        <p14:creationId xmlns:p14="http://schemas.microsoft.com/office/powerpoint/2010/main" val="40764302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with Polygon (light bg)">
    <p:spTree>
      <p:nvGrpSpPr>
        <p:cNvPr id="1" name=""/>
        <p:cNvGrpSpPr/>
        <p:nvPr/>
      </p:nvGrpSpPr>
      <p:grpSpPr>
        <a:xfrm>
          <a:off x="0" y="0"/>
          <a:ext cx="0" cy="0"/>
          <a:chOff x="0" y="0"/>
          <a:chExt cx="0" cy="0"/>
        </a:xfrm>
      </p:grpSpPr>
      <p:sp>
        <p:nvSpPr>
          <p:cNvPr id="15" name="Picture Placeholder 14"/>
          <p:cNvSpPr>
            <a:spLocks noGrp="1"/>
          </p:cNvSpPr>
          <p:nvPr>
            <p:ph type="pic" sz="quarter" idx="13" hasCustomPrompt="1"/>
          </p:nvPr>
        </p:nvSpPr>
        <p:spPr>
          <a:xfrm>
            <a:off x="15747549" y="0"/>
            <a:ext cx="22268319" cy="19007667"/>
          </a:xfrm>
          <a:custGeom>
            <a:avLst/>
            <a:gdLst>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0 w 5356225"/>
              <a:gd name="connsiteY6" fmla="*/ 4572000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2925147 w 5356225"/>
              <a:gd name="connsiteY6" fmla="*/ 2430624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289041 w 5356225"/>
              <a:gd name="connsiteY6" fmla="*/ 2206689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820886 w 5356225"/>
              <a:gd name="connsiteY6" fmla="*/ 1870787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359021 w 5356225"/>
              <a:gd name="connsiteY6" fmla="*/ 2006081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1 w 5356225"/>
              <a:gd name="connsiteY5" fmla="*/ 2006081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99502 w 5356225"/>
              <a:gd name="connsiteY5" fmla="*/ 1975124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0 w 5356225"/>
              <a:gd name="connsiteY5" fmla="*/ 2013224 h 4572000"/>
              <a:gd name="connsiteX6" fmla="*/ 0 w 5356225"/>
              <a:gd name="connsiteY6" fmla="*/ 0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6225" h="4572000">
                <a:moveTo>
                  <a:pt x="0" y="0"/>
                </a:moveTo>
                <a:lnTo>
                  <a:pt x="5356225" y="0"/>
                </a:lnTo>
                <a:lnTo>
                  <a:pt x="5356225" y="0"/>
                </a:lnTo>
                <a:lnTo>
                  <a:pt x="5356225" y="4572000"/>
                </a:lnTo>
                <a:lnTo>
                  <a:pt x="5356225" y="4572000"/>
                </a:lnTo>
                <a:lnTo>
                  <a:pt x="3359020" y="2013224"/>
                </a:lnTo>
                <a:lnTo>
                  <a:pt x="0" y="0"/>
                </a:lnTo>
                <a:close/>
              </a:path>
            </a:pathLst>
          </a:custGeom>
          <a:solidFill>
            <a:schemeClr val="accent5"/>
          </a:solidFill>
        </p:spPr>
        <p:txBody>
          <a:bodyPr/>
          <a:lstStyle>
            <a:lvl1pPr algn="r">
              <a:defRPr/>
            </a:lvl1pPr>
          </a:lstStyle>
          <a:p>
            <a:r>
              <a:rPr lang="en-GB"/>
              <a:t> </a:t>
            </a:r>
          </a:p>
        </p:txBody>
      </p:sp>
      <p:sp>
        <p:nvSpPr>
          <p:cNvPr id="2" name="Date Placeholder 1"/>
          <p:cNvSpPr>
            <a:spLocks noGrp="1"/>
          </p:cNvSpPr>
          <p:nvPr>
            <p:ph type="dt" sz="half" idx="10"/>
          </p:nvPr>
        </p:nvSpPr>
        <p:spPr/>
        <p:txBody>
          <a:bodyPr/>
          <a:lstStyle>
            <a:lvl1pPr>
              <a:defRPr>
                <a:solidFill>
                  <a:schemeClr val="tx1"/>
                </a:solidFill>
              </a:defRPr>
            </a:lvl1pPr>
          </a:lstStyle>
          <a:p>
            <a:fld id="{7067E9E9-2E9C-447B-8931-6866408E1786}" type="datetime1">
              <a:rPr lang="en-US" smtClean="0"/>
              <a:t>3/3/2026</a:t>
            </a:fld>
            <a:endParaRPr lang="en-GB"/>
          </a:p>
        </p:txBody>
      </p:sp>
      <p:sp>
        <p:nvSpPr>
          <p:cNvPr id="3" name="Footer Placeholder 2"/>
          <p:cNvSpPr>
            <a:spLocks noGrp="1"/>
          </p:cNvSpPr>
          <p:nvPr>
            <p:ph type="ftr" sz="quarter" idx="11"/>
          </p:nvPr>
        </p:nvSpPr>
        <p:spPr/>
        <p:txBody>
          <a:bodyPr/>
          <a:lstStyle>
            <a:lvl1pPr>
              <a:defRPr>
                <a:solidFill>
                  <a:schemeClr val="tx1"/>
                </a:solidFill>
              </a:defRPr>
            </a:lvl1pPr>
          </a:lstStyle>
          <a:p>
            <a:endParaRPr lang="en-GB"/>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0B868178-02AE-42FC-958D-6B8F13B60175}" type="slidenum">
              <a:rPr lang="en-GB" smtClean="0"/>
              <a:pPr/>
              <a:t>‹#›</a:t>
            </a:fld>
            <a:endParaRPr lang="en-GB"/>
          </a:p>
        </p:txBody>
      </p:sp>
      <p:sp>
        <p:nvSpPr>
          <p:cNvPr id="5" name="TextBox 4"/>
          <p:cNvSpPr txBox="1"/>
          <p:nvPr userDrawn="1"/>
        </p:nvSpPr>
        <p:spPr>
          <a:xfrm>
            <a:off x="5388075" y="19636267"/>
            <a:ext cx="14966875" cy="598667"/>
          </a:xfrm>
          <a:prstGeom prst="rect">
            <a:avLst/>
          </a:prstGeom>
          <a:noFill/>
        </p:spPr>
        <p:txBody>
          <a:bodyPr wrap="square" lIns="0" tIns="0" rIns="0" bIns="0" rtlCol="0" anchor="b" anchorCtr="0">
            <a:noAutofit/>
          </a:bodyPr>
          <a:lstStyle/>
          <a:p>
            <a:pPr marL="0" marR="0" indent="0" algn="l" defTabSz="3801494" rtl="0" eaLnBrk="1" fontAlgn="auto" latinLnBrk="0" hangingPunct="1">
              <a:lnSpc>
                <a:spcPct val="100000"/>
              </a:lnSpc>
              <a:spcBef>
                <a:spcPts val="0"/>
              </a:spcBef>
              <a:spcAft>
                <a:spcPts val="0"/>
              </a:spcAft>
              <a:buClrTx/>
              <a:buSzTx/>
              <a:buFont typeface="Arial" panose="020B0604020202020204" pitchFamily="34" charset="0"/>
              <a:buNone/>
              <a:tabLst/>
            </a:pPr>
            <a:r>
              <a:rPr kumimoji="0" lang="en-GB" sz="3327" b="0" i="0" u="none" strike="noStrike" kern="1200" cap="none" spc="0" normalizeH="0" baseline="0" noProof="0">
                <a:ln>
                  <a:noFill/>
                </a:ln>
                <a:solidFill>
                  <a:schemeClr val="tx1"/>
                </a:solidFill>
                <a:effectLst/>
                <a:uLnTx/>
                <a:uFillTx/>
                <a:latin typeface="+mn-lt"/>
                <a:ea typeface="+mn-ea"/>
                <a:cs typeface="+mn-cs"/>
              </a:rPr>
              <a:t>The Alan Turing Institute</a:t>
            </a:r>
          </a:p>
        </p:txBody>
      </p:sp>
      <p:cxnSp>
        <p:nvCxnSpPr>
          <p:cNvPr id="6" name="Straight Connector 5"/>
          <p:cNvCxnSpPr/>
          <p:nvPr userDrawn="1"/>
        </p:nvCxnSpPr>
        <p:spPr>
          <a:xfrm>
            <a:off x="1796025" y="19606333"/>
            <a:ext cx="3442381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1796025" y="8231667"/>
            <a:ext cx="34423813" cy="2544333"/>
          </a:xfrm>
        </p:spPr>
        <p:txBody>
          <a:bodyPr/>
          <a:lstStyle>
            <a:lvl1pPr>
              <a:defRPr sz="22865" b="0">
                <a:solidFill>
                  <a:schemeClr val="tx1"/>
                </a:solidFill>
              </a:defRPr>
            </a:lvl1pPr>
          </a:lstStyle>
          <a:p>
            <a:r>
              <a:rPr lang="en-US"/>
              <a:t>Click to edit Master title style</a:t>
            </a:r>
            <a:endParaRPr lang="en-GB"/>
          </a:p>
        </p:txBody>
      </p:sp>
      <p:sp>
        <p:nvSpPr>
          <p:cNvPr id="10" name="Subtitle 2"/>
          <p:cNvSpPr>
            <a:spLocks noGrp="1"/>
          </p:cNvSpPr>
          <p:nvPr>
            <p:ph type="subTitle" idx="1"/>
          </p:nvPr>
        </p:nvSpPr>
        <p:spPr>
          <a:xfrm>
            <a:off x="1796025" y="11075333"/>
            <a:ext cx="34423813" cy="2245000"/>
          </a:xfrm>
        </p:spPr>
        <p:txBody>
          <a:bodyPr/>
          <a:lstStyle>
            <a:lvl1pPr marL="0" indent="0" algn="l">
              <a:lnSpc>
                <a:spcPct val="85000"/>
              </a:lnSpc>
              <a:buNone/>
              <a:defRPr sz="14134" b="0">
                <a:solidFill>
                  <a:schemeClr val="tx1"/>
                </a:solidFill>
              </a:defRPr>
            </a:lvl1pPr>
            <a:lvl2pPr marL="1900747" indent="0" algn="ctr">
              <a:buNone/>
              <a:defRPr>
                <a:solidFill>
                  <a:schemeClr val="tx1">
                    <a:tint val="75000"/>
                  </a:schemeClr>
                </a:solidFill>
              </a:defRPr>
            </a:lvl2pPr>
            <a:lvl3pPr marL="3801494" indent="0" algn="ctr">
              <a:buNone/>
              <a:defRPr>
                <a:solidFill>
                  <a:schemeClr val="tx1">
                    <a:tint val="75000"/>
                  </a:schemeClr>
                </a:solidFill>
              </a:defRPr>
            </a:lvl3pPr>
            <a:lvl4pPr marL="5702238" indent="0" algn="ctr">
              <a:buNone/>
              <a:defRPr>
                <a:solidFill>
                  <a:schemeClr val="tx1">
                    <a:tint val="75000"/>
                  </a:schemeClr>
                </a:solidFill>
              </a:defRPr>
            </a:lvl4pPr>
            <a:lvl5pPr marL="7602985" indent="0" algn="ctr">
              <a:buNone/>
              <a:defRPr>
                <a:solidFill>
                  <a:schemeClr val="tx1">
                    <a:tint val="75000"/>
                  </a:schemeClr>
                </a:solidFill>
              </a:defRPr>
            </a:lvl5pPr>
            <a:lvl6pPr marL="9503732" indent="0" algn="ctr">
              <a:buNone/>
              <a:defRPr>
                <a:solidFill>
                  <a:schemeClr val="tx1">
                    <a:tint val="75000"/>
                  </a:schemeClr>
                </a:solidFill>
              </a:defRPr>
            </a:lvl6pPr>
            <a:lvl7pPr marL="11404479" indent="0" algn="ctr">
              <a:buNone/>
              <a:defRPr>
                <a:solidFill>
                  <a:schemeClr val="tx1">
                    <a:tint val="75000"/>
                  </a:schemeClr>
                </a:solidFill>
              </a:defRPr>
            </a:lvl7pPr>
            <a:lvl8pPr marL="13305223" indent="0" algn="ctr">
              <a:buNone/>
              <a:defRPr>
                <a:solidFill>
                  <a:schemeClr val="tx1">
                    <a:tint val="75000"/>
                  </a:schemeClr>
                </a:solidFill>
              </a:defRPr>
            </a:lvl8pPr>
            <a:lvl9pPr marL="15205970" indent="0" algn="ctr">
              <a:buNone/>
              <a:defRPr>
                <a:solidFill>
                  <a:schemeClr val="tx1">
                    <a:tint val="75000"/>
                  </a:schemeClr>
                </a:solidFill>
              </a:defRPr>
            </a:lvl9pPr>
          </a:lstStyle>
          <a:p>
            <a:r>
              <a:rPr lang="en-US"/>
              <a:t>Click to edit Master subtitle style</a:t>
            </a:r>
            <a:endParaRPr lang="en-GB"/>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88599" y="1808369"/>
            <a:ext cx="5742706" cy="2394667"/>
          </a:xfrm>
          <a:prstGeom prst="rect">
            <a:avLst/>
          </a:prstGeom>
        </p:spPr>
      </p:pic>
      <p:sp>
        <p:nvSpPr>
          <p:cNvPr id="16" name="Picture Placeholder 10"/>
          <p:cNvSpPr>
            <a:spLocks noGrp="1"/>
          </p:cNvSpPr>
          <p:nvPr>
            <p:ph type="pic" sz="quarter" idx="14" hasCustomPrompt="1"/>
          </p:nvPr>
        </p:nvSpPr>
        <p:spPr>
          <a:xfrm>
            <a:off x="1796025" y="7707833"/>
            <a:ext cx="34423813" cy="179600"/>
          </a:xfrm>
          <a:solidFill>
            <a:schemeClr val="tx1"/>
          </a:solidFill>
        </p:spPr>
        <p:txBody>
          <a:bodyPr/>
          <a:lstStyle>
            <a:lvl1pPr>
              <a:defRPr sz="415" b="0" baseline="0">
                <a:solidFill>
                  <a:schemeClr val="tx1"/>
                </a:solidFill>
              </a:defRPr>
            </a:lvl1pPr>
          </a:lstStyle>
          <a:p>
            <a:r>
              <a:rPr lang="en-GB"/>
              <a:t> </a:t>
            </a:r>
          </a:p>
        </p:txBody>
      </p:sp>
    </p:spTree>
    <p:extLst>
      <p:ext uri="{BB962C8B-B14F-4D97-AF65-F5344CB8AC3E}">
        <p14:creationId xmlns:p14="http://schemas.microsoft.com/office/powerpoint/2010/main" val="34184448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op slide (Light)">
    <p:spTree>
      <p:nvGrpSpPr>
        <p:cNvPr id="1" name=""/>
        <p:cNvGrpSpPr/>
        <p:nvPr/>
      </p:nvGrpSpPr>
      <p:grpSpPr>
        <a:xfrm>
          <a:off x="0" y="0"/>
          <a:ext cx="0" cy="0"/>
          <a:chOff x="0" y="0"/>
          <a:chExt cx="0" cy="0"/>
        </a:xfrm>
      </p:grpSpPr>
      <p:sp>
        <p:nvSpPr>
          <p:cNvPr id="16" name="Title 7">
            <a:extLst>
              <a:ext uri="{FF2B5EF4-FFF2-40B4-BE49-F238E27FC236}">
                <a16:creationId xmlns:a16="http://schemas.microsoft.com/office/drawing/2014/main" id="{F4CF05EA-F898-4007-AD46-0661D2E50EA1}"/>
              </a:ext>
            </a:extLst>
          </p:cNvPr>
          <p:cNvSpPr>
            <a:spLocks noGrp="1"/>
          </p:cNvSpPr>
          <p:nvPr>
            <p:ph type="title" hasCustomPrompt="1"/>
          </p:nvPr>
        </p:nvSpPr>
        <p:spPr>
          <a:xfrm>
            <a:off x="1795193" y="9083611"/>
            <a:ext cx="18099775" cy="2376008"/>
          </a:xfrm>
        </p:spPr>
        <p:txBody>
          <a:bodyPr/>
          <a:lstStyle>
            <a:lvl1pPr>
              <a:lnSpc>
                <a:spcPct val="100000"/>
              </a:lnSpc>
              <a:defRPr sz="14135" b="1">
                <a:solidFill>
                  <a:schemeClr val="tx1"/>
                </a:solidFill>
              </a:defRPr>
            </a:lvl1pPr>
          </a:lstStyle>
          <a:p>
            <a:r>
              <a:rPr lang="en-US" err="1"/>
              <a:t>Slidedeck</a:t>
            </a:r>
            <a:r>
              <a:rPr lang="en-US"/>
              <a:t> title</a:t>
            </a:r>
            <a:endParaRPr lang="en-GB"/>
          </a:p>
        </p:txBody>
      </p:sp>
      <p:sp>
        <p:nvSpPr>
          <p:cNvPr id="11" name="Picture Placeholder 10">
            <a:extLst>
              <a:ext uri="{FF2B5EF4-FFF2-40B4-BE49-F238E27FC236}">
                <a16:creationId xmlns:a16="http://schemas.microsoft.com/office/drawing/2014/main" id="{8CBD8555-5574-479C-8AEF-5074012734A9}"/>
              </a:ext>
            </a:extLst>
          </p:cNvPr>
          <p:cNvSpPr>
            <a:spLocks noGrp="1"/>
          </p:cNvSpPr>
          <p:nvPr>
            <p:ph type="pic" sz="quarter" idx="10" hasCustomPrompt="1"/>
          </p:nvPr>
        </p:nvSpPr>
        <p:spPr>
          <a:xfrm>
            <a:off x="23497462" y="2"/>
            <a:ext cx="14524995" cy="19014264"/>
          </a:xfrm>
          <a:custGeom>
            <a:avLst/>
            <a:gdLst>
              <a:gd name="connsiteX0" fmla="*/ 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0 w 3816350"/>
              <a:gd name="connsiteY4" fmla="*/ 0 h 3240087"/>
              <a:gd name="connsiteX0" fmla="*/ 68580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685800 w 3816350"/>
              <a:gd name="connsiteY4" fmla="*/ 0 h 3240087"/>
              <a:gd name="connsiteX0" fmla="*/ 189230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1892300 w 3816350"/>
              <a:gd name="connsiteY4" fmla="*/ 0 h 3240087"/>
              <a:gd name="connsiteX0" fmla="*/ 1206500 w 3130550"/>
              <a:gd name="connsiteY0" fmla="*/ 0 h 3240087"/>
              <a:gd name="connsiteX1" fmla="*/ 3130550 w 3130550"/>
              <a:gd name="connsiteY1" fmla="*/ 0 h 3240087"/>
              <a:gd name="connsiteX2" fmla="*/ 3130550 w 3130550"/>
              <a:gd name="connsiteY2" fmla="*/ 3240087 h 3240087"/>
              <a:gd name="connsiteX3" fmla="*/ 0 w 3130550"/>
              <a:gd name="connsiteY3" fmla="*/ 1754187 h 3240087"/>
              <a:gd name="connsiteX4" fmla="*/ 1206500 w 3130550"/>
              <a:gd name="connsiteY4" fmla="*/ 0 h 3240087"/>
              <a:gd name="connsiteX0" fmla="*/ 1822450 w 3746500"/>
              <a:gd name="connsiteY0" fmla="*/ 0 h 3240087"/>
              <a:gd name="connsiteX1" fmla="*/ 3746500 w 3746500"/>
              <a:gd name="connsiteY1" fmla="*/ 0 h 3240087"/>
              <a:gd name="connsiteX2" fmla="*/ 3746500 w 3746500"/>
              <a:gd name="connsiteY2" fmla="*/ 3240087 h 3240087"/>
              <a:gd name="connsiteX3" fmla="*/ 0 w 3746500"/>
              <a:gd name="connsiteY3" fmla="*/ 2154237 h 3240087"/>
              <a:gd name="connsiteX4" fmla="*/ 1822450 w 3746500"/>
              <a:gd name="connsiteY4" fmla="*/ 0 h 3240087"/>
              <a:gd name="connsiteX0" fmla="*/ 1822450 w 3752850"/>
              <a:gd name="connsiteY0" fmla="*/ 0 h 4097337"/>
              <a:gd name="connsiteX1" fmla="*/ 3746500 w 3752850"/>
              <a:gd name="connsiteY1" fmla="*/ 0 h 4097337"/>
              <a:gd name="connsiteX2" fmla="*/ 3752850 w 3752850"/>
              <a:gd name="connsiteY2" fmla="*/ 4097337 h 4097337"/>
              <a:gd name="connsiteX3" fmla="*/ 0 w 3752850"/>
              <a:gd name="connsiteY3" fmla="*/ 2154237 h 4097337"/>
              <a:gd name="connsiteX4" fmla="*/ 1822450 w 3752850"/>
              <a:gd name="connsiteY4" fmla="*/ 0 h 4097337"/>
              <a:gd name="connsiteX0" fmla="*/ 1682750 w 3613150"/>
              <a:gd name="connsiteY0" fmla="*/ 0 h 4097337"/>
              <a:gd name="connsiteX1" fmla="*/ 3606800 w 3613150"/>
              <a:gd name="connsiteY1" fmla="*/ 0 h 4097337"/>
              <a:gd name="connsiteX2" fmla="*/ 3613150 w 3613150"/>
              <a:gd name="connsiteY2" fmla="*/ 4097337 h 4097337"/>
              <a:gd name="connsiteX3" fmla="*/ 0 w 3613150"/>
              <a:gd name="connsiteY3" fmla="*/ 2014537 h 4097337"/>
              <a:gd name="connsiteX4" fmla="*/ 1682750 w 3613150"/>
              <a:gd name="connsiteY4" fmla="*/ 0 h 4097337"/>
              <a:gd name="connsiteX0" fmla="*/ 1682750 w 3613150"/>
              <a:gd name="connsiteY0" fmla="*/ 0 h 4573587"/>
              <a:gd name="connsiteX1" fmla="*/ 3606800 w 3613150"/>
              <a:gd name="connsiteY1" fmla="*/ 0 h 4573587"/>
              <a:gd name="connsiteX2" fmla="*/ 3613150 w 3613150"/>
              <a:gd name="connsiteY2" fmla="*/ 4573587 h 4573587"/>
              <a:gd name="connsiteX3" fmla="*/ 0 w 3613150"/>
              <a:gd name="connsiteY3" fmla="*/ 2014537 h 4573587"/>
              <a:gd name="connsiteX4" fmla="*/ 1682750 w 3613150"/>
              <a:gd name="connsiteY4" fmla="*/ 0 h 4573587"/>
              <a:gd name="connsiteX0" fmla="*/ 1682750 w 3610769"/>
              <a:gd name="connsiteY0" fmla="*/ 0 h 4573587"/>
              <a:gd name="connsiteX1" fmla="*/ 3606800 w 3610769"/>
              <a:gd name="connsiteY1" fmla="*/ 0 h 4573587"/>
              <a:gd name="connsiteX2" fmla="*/ 3610769 w 3610769"/>
              <a:gd name="connsiteY2" fmla="*/ 4573587 h 4573587"/>
              <a:gd name="connsiteX3" fmla="*/ 0 w 3610769"/>
              <a:gd name="connsiteY3" fmla="*/ 2014537 h 4573587"/>
              <a:gd name="connsiteX4" fmla="*/ 1682750 w 3610769"/>
              <a:gd name="connsiteY4" fmla="*/ 0 h 4573587"/>
              <a:gd name="connsiteX0" fmla="*/ 1682750 w 3607332"/>
              <a:gd name="connsiteY0" fmla="*/ 0 h 4573587"/>
              <a:gd name="connsiteX1" fmla="*/ 3606800 w 3607332"/>
              <a:gd name="connsiteY1" fmla="*/ 0 h 4573587"/>
              <a:gd name="connsiteX2" fmla="*/ 3606007 w 3607332"/>
              <a:gd name="connsiteY2" fmla="*/ 4573587 h 4573587"/>
              <a:gd name="connsiteX3" fmla="*/ 0 w 3607332"/>
              <a:gd name="connsiteY3" fmla="*/ 2014537 h 4573587"/>
              <a:gd name="connsiteX4" fmla="*/ 1682750 w 3607332"/>
              <a:gd name="connsiteY4" fmla="*/ 0 h 4573587"/>
              <a:gd name="connsiteX0" fmla="*/ 1682750 w 3608388"/>
              <a:gd name="connsiteY0" fmla="*/ 0 h 4573587"/>
              <a:gd name="connsiteX1" fmla="*/ 3606800 w 3608388"/>
              <a:gd name="connsiteY1" fmla="*/ 0 h 4573587"/>
              <a:gd name="connsiteX2" fmla="*/ 3608388 w 3608388"/>
              <a:gd name="connsiteY2" fmla="*/ 4573587 h 4573587"/>
              <a:gd name="connsiteX3" fmla="*/ 0 w 3608388"/>
              <a:gd name="connsiteY3" fmla="*/ 2014537 h 4573587"/>
              <a:gd name="connsiteX4" fmla="*/ 1682750 w 3608388"/>
              <a:gd name="connsiteY4" fmla="*/ 0 h 4573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8388" h="4573587">
                <a:moveTo>
                  <a:pt x="1682750" y="0"/>
                </a:moveTo>
                <a:lnTo>
                  <a:pt x="3606800" y="0"/>
                </a:lnTo>
                <a:cubicBezTo>
                  <a:pt x="3608917" y="1365779"/>
                  <a:pt x="3606271" y="3207808"/>
                  <a:pt x="3608388" y="4573587"/>
                </a:cubicBezTo>
                <a:lnTo>
                  <a:pt x="0" y="2014537"/>
                </a:lnTo>
                <a:lnTo>
                  <a:pt x="1682750" y="0"/>
                </a:lnTo>
                <a:close/>
              </a:path>
            </a:pathLst>
          </a:custGeom>
        </p:spPr>
        <p:txBody>
          <a:bodyPr/>
          <a:lstStyle>
            <a:lvl1pPr marL="0" marR="0" indent="0" algn="l" defTabSz="3801527" rtl="0" eaLnBrk="0" fontAlgn="base" latinLnBrk="0" hangingPunct="0">
              <a:lnSpc>
                <a:spcPct val="100000"/>
              </a:lnSpc>
              <a:spcBef>
                <a:spcPct val="0"/>
              </a:spcBef>
              <a:spcAft>
                <a:spcPts val="2494"/>
              </a:spcAft>
              <a:buClrTx/>
              <a:buSzTx/>
              <a:buFont typeface="Arial" panose="020B0604020202020204" pitchFamily="34" charset="0"/>
              <a:buNone/>
              <a:tabLst/>
              <a:defRPr/>
            </a:lvl1pPr>
            <a:lvl3pPr marL="752385" indent="0">
              <a:buNone/>
              <a:defRPr/>
            </a:lvl3pPr>
            <a:lvl4pPr marL="2547551" indent="0">
              <a:buNone/>
              <a:defRPr/>
            </a:lvl4pPr>
          </a:lstStyle>
          <a:p>
            <a:pPr marL="0" marR="0" lvl="0" indent="0" algn="l" defTabSz="3801527" rtl="0" eaLnBrk="0" fontAlgn="base" latinLnBrk="0" hangingPunct="0">
              <a:lnSpc>
                <a:spcPct val="100000"/>
              </a:lnSpc>
              <a:spcBef>
                <a:spcPct val="0"/>
              </a:spcBef>
              <a:spcAft>
                <a:spcPts val="2494"/>
              </a:spcAft>
              <a:buClrTx/>
              <a:buSzTx/>
              <a:buFont typeface="Arial" panose="020B0604020202020204" pitchFamily="34" charset="0"/>
              <a:buNone/>
              <a:tabLst/>
              <a:defRPr/>
            </a:pPr>
            <a:r>
              <a:rPr lang="en-GB"/>
              <a:t>Click icon to insert picture. Don’t change slide background colour on this layout</a:t>
            </a:r>
          </a:p>
        </p:txBody>
      </p:sp>
      <p:cxnSp>
        <p:nvCxnSpPr>
          <p:cNvPr id="18" name="Straight Connector 17">
            <a:extLst>
              <a:ext uri="{FF2B5EF4-FFF2-40B4-BE49-F238E27FC236}">
                <a16:creationId xmlns:a16="http://schemas.microsoft.com/office/drawing/2014/main" id="{522F9DB4-9D8E-427B-99DD-E998B980D507}"/>
              </a:ext>
            </a:extLst>
          </p:cNvPr>
          <p:cNvCxnSpPr>
            <a:cxnSpLocks/>
          </p:cNvCxnSpPr>
          <p:nvPr userDrawn="1"/>
        </p:nvCxnSpPr>
        <p:spPr>
          <a:xfrm>
            <a:off x="1795193" y="9083611"/>
            <a:ext cx="1809977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C3458B68-B602-4B1E-8CDB-6CDDA65301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95194" y="1732408"/>
            <a:ext cx="9039327" cy="3962999"/>
          </a:xfrm>
          <a:prstGeom prst="rect">
            <a:avLst/>
          </a:prstGeom>
        </p:spPr>
      </p:pic>
      <p:sp>
        <p:nvSpPr>
          <p:cNvPr id="27" name="Text Placeholder 25">
            <a:extLst>
              <a:ext uri="{FF2B5EF4-FFF2-40B4-BE49-F238E27FC236}">
                <a16:creationId xmlns:a16="http://schemas.microsoft.com/office/drawing/2014/main" id="{E7E58FB9-FEF2-4FAA-AB76-18AB01605D1B}"/>
              </a:ext>
            </a:extLst>
          </p:cNvPr>
          <p:cNvSpPr>
            <a:spLocks noGrp="1"/>
          </p:cNvSpPr>
          <p:nvPr>
            <p:ph type="body" sz="quarter" idx="12" hasCustomPrompt="1"/>
          </p:nvPr>
        </p:nvSpPr>
        <p:spPr>
          <a:xfrm>
            <a:off x="1795193" y="15467067"/>
            <a:ext cx="18099775" cy="1887567"/>
          </a:xfrm>
        </p:spPr>
        <p:txBody>
          <a:bodyPr/>
          <a:lstStyle>
            <a:lvl1pPr marL="0" indent="0">
              <a:buNone/>
              <a:defRPr sz="11641" b="0"/>
            </a:lvl1pPr>
          </a:lstStyle>
          <a:p>
            <a:pPr lvl="0"/>
            <a:r>
              <a:rPr lang="en-US"/>
              <a:t>Presenter name</a:t>
            </a:r>
            <a:endParaRPr lang="en-GB"/>
          </a:p>
        </p:txBody>
      </p:sp>
    </p:spTree>
    <p:extLst>
      <p:ext uri="{BB962C8B-B14F-4D97-AF65-F5344CB8AC3E}">
        <p14:creationId xmlns:p14="http://schemas.microsoft.com/office/powerpoint/2010/main" val="3795787658"/>
      </p:ext>
    </p:extLst>
  </p:cSld>
  <p:clrMapOvr>
    <a:masterClrMapping/>
  </p:clrMapOvr>
  <p:extLst>
    <p:ext uri="{DCECCB84-F9BA-43D5-87BE-67443E8EF086}">
      <p15:sldGuideLst xmlns:p15="http://schemas.microsoft.com/office/powerpoint/2012/main">
        <p15:guide id="2" pos="272">
          <p15:clr>
            <a:srgbClr val="FBAE40"/>
          </p15:clr>
        </p15:guide>
        <p15:guide id="3" orient="horz" pos="2981">
          <p15:clr>
            <a:srgbClr val="FBAE40"/>
          </p15:clr>
        </p15:guide>
        <p15:guide id="4" orient="horz" pos="259">
          <p15:clr>
            <a:srgbClr val="FBAE40"/>
          </p15:clr>
        </p15:guide>
        <p15:guide id="5" pos="5488">
          <p15:clr>
            <a:srgbClr val="FBAE40"/>
          </p15:clr>
        </p15:guide>
        <p15:guide id="6" pos="30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no content">
    <p:bg>
      <p:bgRef idx="1001">
        <a:schemeClr val="bg1"/>
      </p:bgRef>
    </p:bg>
    <p:spTree>
      <p:nvGrpSpPr>
        <p:cNvPr id="1" name=""/>
        <p:cNvGrpSpPr/>
        <p:nvPr/>
      </p:nvGrpSpPr>
      <p:grpSpPr>
        <a:xfrm>
          <a:off x="0" y="0"/>
          <a:ext cx="0" cy="0"/>
          <a:chOff x="0" y="0"/>
          <a:chExt cx="0" cy="0"/>
        </a:xfrm>
      </p:grpSpPr>
      <p:sp>
        <p:nvSpPr>
          <p:cNvPr id="16" name="Picture Placeholder 12">
            <a:extLst>
              <a:ext uri="{FF2B5EF4-FFF2-40B4-BE49-F238E27FC236}">
                <a16:creationId xmlns:a16="http://schemas.microsoft.com/office/drawing/2014/main" id="{89CBEF1C-7738-49C1-A33D-F7BE43F287A2}"/>
              </a:ext>
            </a:extLst>
          </p:cNvPr>
          <p:cNvSpPr>
            <a:spLocks noGrp="1"/>
          </p:cNvSpPr>
          <p:nvPr>
            <p:ph type="pic" sz="quarter" idx="18" hasCustomPrompt="1"/>
          </p:nvPr>
        </p:nvSpPr>
        <p:spPr>
          <a:xfrm>
            <a:off x="32396420" y="3180853"/>
            <a:ext cx="3812150" cy="1353601"/>
          </a:xfrm>
        </p:spPr>
        <p:txBody>
          <a:bodyPr/>
          <a:lstStyle>
            <a:lvl1pPr>
              <a:defRPr sz="3398" b="0"/>
            </a:lvl1pPr>
          </a:lstStyle>
          <a:p>
            <a:pPr lvl="0"/>
            <a:r>
              <a:rPr lang="en-US" noProof="0"/>
              <a:t>Click icon to add logo</a:t>
            </a:r>
            <a:endParaRPr lang="en-GB" noProof="0"/>
          </a:p>
        </p:txBody>
      </p:sp>
      <p:sp>
        <p:nvSpPr>
          <p:cNvPr id="17" name="Picture Placeholder 12">
            <a:extLst>
              <a:ext uri="{FF2B5EF4-FFF2-40B4-BE49-F238E27FC236}">
                <a16:creationId xmlns:a16="http://schemas.microsoft.com/office/drawing/2014/main" id="{9535718A-EC82-4038-AE9D-E32036D97D7E}"/>
              </a:ext>
            </a:extLst>
          </p:cNvPr>
          <p:cNvSpPr>
            <a:spLocks noGrp="1"/>
          </p:cNvSpPr>
          <p:nvPr>
            <p:ph type="pic" sz="quarter" idx="19" hasCustomPrompt="1"/>
          </p:nvPr>
        </p:nvSpPr>
        <p:spPr>
          <a:xfrm>
            <a:off x="32396420" y="5155008"/>
            <a:ext cx="3812150" cy="1353601"/>
          </a:xfrm>
        </p:spPr>
        <p:txBody>
          <a:bodyPr/>
          <a:lstStyle>
            <a:lvl1pPr>
              <a:defRPr sz="3398" b="0"/>
            </a:lvl1pPr>
          </a:lstStyle>
          <a:p>
            <a:pPr lvl="0"/>
            <a:r>
              <a:rPr lang="en-US" noProof="0"/>
              <a:t>Click icon to add logo</a:t>
            </a:r>
            <a:endParaRPr lang="en-GB" noProof="0"/>
          </a:p>
        </p:txBody>
      </p:sp>
      <p:sp>
        <p:nvSpPr>
          <p:cNvPr id="19" name="Picture Placeholder 12">
            <a:extLst>
              <a:ext uri="{FF2B5EF4-FFF2-40B4-BE49-F238E27FC236}">
                <a16:creationId xmlns:a16="http://schemas.microsoft.com/office/drawing/2014/main" id="{457AC0C2-4F30-47D5-B7C0-D6BED871419A}"/>
              </a:ext>
            </a:extLst>
          </p:cNvPr>
          <p:cNvSpPr>
            <a:spLocks noGrp="1"/>
          </p:cNvSpPr>
          <p:nvPr>
            <p:ph type="pic" sz="quarter" idx="20" hasCustomPrompt="1"/>
          </p:nvPr>
        </p:nvSpPr>
        <p:spPr>
          <a:xfrm>
            <a:off x="27597710" y="5155008"/>
            <a:ext cx="3812150" cy="1353601"/>
          </a:xfrm>
        </p:spPr>
        <p:txBody>
          <a:bodyPr/>
          <a:lstStyle>
            <a:lvl1pPr>
              <a:defRPr sz="3398" b="0"/>
            </a:lvl1pPr>
          </a:lstStyle>
          <a:p>
            <a:pPr lvl="0"/>
            <a:r>
              <a:rPr lang="en-US" noProof="0"/>
              <a:t>Click icon to add logo</a:t>
            </a:r>
            <a:endParaRPr lang="en-GB" noProof="0"/>
          </a:p>
        </p:txBody>
      </p:sp>
      <p:sp>
        <p:nvSpPr>
          <p:cNvPr id="20" name="Picture Placeholder 12">
            <a:extLst>
              <a:ext uri="{FF2B5EF4-FFF2-40B4-BE49-F238E27FC236}">
                <a16:creationId xmlns:a16="http://schemas.microsoft.com/office/drawing/2014/main" id="{DB6463A4-B1C2-4DF6-A9A5-2966FB9D43D7}"/>
              </a:ext>
            </a:extLst>
          </p:cNvPr>
          <p:cNvSpPr>
            <a:spLocks noGrp="1"/>
          </p:cNvSpPr>
          <p:nvPr>
            <p:ph type="pic" sz="quarter" idx="21" hasCustomPrompt="1"/>
          </p:nvPr>
        </p:nvSpPr>
        <p:spPr>
          <a:xfrm>
            <a:off x="27594282" y="3180853"/>
            <a:ext cx="3812150" cy="1353601"/>
          </a:xfrm>
        </p:spPr>
        <p:txBody>
          <a:bodyPr/>
          <a:lstStyle>
            <a:lvl1pPr>
              <a:defRPr sz="3398" b="0"/>
            </a:lvl1pPr>
          </a:lstStyle>
          <a:p>
            <a:pPr lvl="0"/>
            <a:r>
              <a:rPr lang="en-US" noProof="0"/>
              <a:t>Click icon to add logo</a:t>
            </a:r>
            <a:endParaRPr lang="en-GB" noProof="0"/>
          </a:p>
        </p:txBody>
      </p:sp>
    </p:spTree>
    <p:extLst>
      <p:ext uri="{BB962C8B-B14F-4D97-AF65-F5344CB8AC3E}">
        <p14:creationId xmlns:p14="http://schemas.microsoft.com/office/powerpoint/2010/main" val="18137030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8B229-2873-4EFE-8EE0-ADDDB8FF8011}"/>
              </a:ext>
            </a:extLst>
          </p:cNvPr>
          <p:cNvSpPr>
            <a:spLocks noGrp="1"/>
          </p:cNvSpPr>
          <p:nvPr>
            <p:ph type="title"/>
          </p:nvPr>
        </p:nvSpPr>
        <p:spPr>
          <a:xfrm>
            <a:off x="2613591" y="1138482"/>
            <a:ext cx="32788682" cy="413317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B34D24-4F12-44E4-9B88-C8DF4FB4711A}"/>
              </a:ext>
            </a:extLst>
          </p:cNvPr>
          <p:cNvSpPr>
            <a:spLocks noGrp="1"/>
          </p:cNvSpPr>
          <p:nvPr>
            <p:ph type="body" idx="1"/>
          </p:nvPr>
        </p:nvSpPr>
        <p:spPr>
          <a:xfrm>
            <a:off x="2613591" y="5692400"/>
            <a:ext cx="32788682"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4C8DF7-FC7A-490B-8F35-CC93E665DDAF}"/>
              </a:ext>
            </a:extLst>
          </p:cNvPr>
          <p:cNvSpPr>
            <a:spLocks noGrp="1"/>
          </p:cNvSpPr>
          <p:nvPr>
            <p:ph type="dt" sz="half" idx="2"/>
          </p:nvPr>
        </p:nvSpPr>
        <p:spPr>
          <a:xfrm>
            <a:off x="2613591" y="19819454"/>
            <a:ext cx="8553569" cy="1138480"/>
          </a:xfrm>
          <a:prstGeom prst="rect">
            <a:avLst/>
          </a:prstGeom>
        </p:spPr>
        <p:txBody>
          <a:bodyPr vert="horz" lIns="91440" tIns="45720" rIns="91440" bIns="45720" rtlCol="0" anchor="ctr"/>
          <a:lstStyle>
            <a:lvl1pPr algn="l">
              <a:defRPr sz="3742">
                <a:solidFill>
                  <a:schemeClr val="tx1">
                    <a:tint val="75000"/>
                  </a:schemeClr>
                </a:solidFill>
              </a:defRPr>
            </a:lvl1pPr>
          </a:lstStyle>
          <a:p>
            <a:fld id="{2D3FFE4B-EB3C-48E1-9309-4A3EFF9939C9}" type="datetimeFigureOut">
              <a:rPr lang="en-GB" smtClean="0"/>
              <a:t>03/03/2026</a:t>
            </a:fld>
            <a:endParaRPr lang="en-GB"/>
          </a:p>
        </p:txBody>
      </p:sp>
      <p:sp>
        <p:nvSpPr>
          <p:cNvPr id="5" name="Footer Placeholder 4">
            <a:extLst>
              <a:ext uri="{FF2B5EF4-FFF2-40B4-BE49-F238E27FC236}">
                <a16:creationId xmlns:a16="http://schemas.microsoft.com/office/drawing/2014/main" id="{CF7243E1-3A96-43C6-9AF6-9B7ACD3C2B60}"/>
              </a:ext>
            </a:extLst>
          </p:cNvPr>
          <p:cNvSpPr>
            <a:spLocks noGrp="1"/>
          </p:cNvSpPr>
          <p:nvPr>
            <p:ph type="ftr" sz="quarter" idx="3"/>
          </p:nvPr>
        </p:nvSpPr>
        <p:spPr>
          <a:xfrm>
            <a:off x="12592755" y="19819454"/>
            <a:ext cx="12830354" cy="1138480"/>
          </a:xfrm>
          <a:prstGeom prst="rect">
            <a:avLst/>
          </a:prstGeom>
        </p:spPr>
        <p:txBody>
          <a:bodyPr vert="horz" lIns="91440" tIns="45720" rIns="91440" bIns="45720" rtlCol="0" anchor="ctr"/>
          <a:lstStyle>
            <a:lvl1pPr algn="ctr">
              <a:defRPr sz="3742">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D4A8B6F-684E-4C17-B54B-6776A3AF83E6}"/>
              </a:ext>
            </a:extLst>
          </p:cNvPr>
          <p:cNvSpPr>
            <a:spLocks noGrp="1"/>
          </p:cNvSpPr>
          <p:nvPr>
            <p:ph type="sldNum" sz="quarter" idx="4"/>
          </p:nvPr>
        </p:nvSpPr>
        <p:spPr>
          <a:xfrm>
            <a:off x="26848703" y="19819454"/>
            <a:ext cx="8553569" cy="1138480"/>
          </a:xfrm>
          <a:prstGeom prst="rect">
            <a:avLst/>
          </a:prstGeom>
        </p:spPr>
        <p:txBody>
          <a:bodyPr vert="horz" lIns="91440" tIns="45720" rIns="91440" bIns="45720" rtlCol="0" anchor="ctr"/>
          <a:lstStyle>
            <a:lvl1pPr algn="r">
              <a:defRPr sz="3742">
                <a:solidFill>
                  <a:schemeClr val="tx1">
                    <a:tint val="75000"/>
                  </a:schemeClr>
                </a:solidFill>
              </a:defRPr>
            </a:lvl1pPr>
          </a:lstStyle>
          <a:p>
            <a:fld id="{948E7A71-8A15-4D33-AFC5-DFCBFC50B887}" type="slidenum">
              <a:rPr lang="en-GB" smtClean="0"/>
              <a:t>‹#›</a:t>
            </a:fld>
            <a:endParaRPr lang="en-GB"/>
          </a:p>
        </p:txBody>
      </p:sp>
    </p:spTree>
    <p:extLst>
      <p:ext uri="{BB962C8B-B14F-4D97-AF65-F5344CB8AC3E}">
        <p14:creationId xmlns:p14="http://schemas.microsoft.com/office/powerpoint/2010/main" val="436279821"/>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1" r:id="rId12"/>
    <p:sldLayoutId id="2147484002" r:id="rId13"/>
    <p:sldLayoutId id="2147484018" r:id="rId14"/>
  </p:sldLayoutIdLst>
  <p:txStyles>
    <p:titleStyle>
      <a:lvl1pPr algn="l" defTabSz="2851191" rtl="0" eaLnBrk="1" latinLnBrk="0" hangingPunct="1">
        <a:lnSpc>
          <a:spcPct val="90000"/>
        </a:lnSpc>
        <a:spcBef>
          <a:spcPct val="0"/>
        </a:spcBef>
        <a:buNone/>
        <a:defRPr sz="13720" kern="1200">
          <a:solidFill>
            <a:schemeClr val="tx1"/>
          </a:solidFill>
          <a:latin typeface="+mj-lt"/>
          <a:ea typeface="+mj-ea"/>
          <a:cs typeface="+mj-cs"/>
        </a:defRPr>
      </a:lvl1pPr>
    </p:titleStyle>
    <p:bodyStyle>
      <a:lvl1pPr marL="712798" indent="-712798" algn="l" defTabSz="2851191" rtl="0" eaLnBrk="1" latinLnBrk="0" hangingPunct="1">
        <a:lnSpc>
          <a:spcPct val="90000"/>
        </a:lnSpc>
        <a:spcBef>
          <a:spcPts val="3118"/>
        </a:spcBef>
        <a:buFont typeface="Arial" panose="020B0604020202020204" pitchFamily="34" charset="0"/>
        <a:buChar char="•"/>
        <a:defRPr sz="8731" kern="1200">
          <a:solidFill>
            <a:schemeClr val="tx1"/>
          </a:solidFill>
          <a:latin typeface="+mn-lt"/>
          <a:ea typeface="+mn-ea"/>
          <a:cs typeface="+mn-cs"/>
        </a:defRPr>
      </a:lvl1pPr>
      <a:lvl2pPr marL="2138393" indent="-712798" algn="l" defTabSz="2851191" rtl="0" eaLnBrk="1" latinLnBrk="0" hangingPunct="1">
        <a:lnSpc>
          <a:spcPct val="90000"/>
        </a:lnSpc>
        <a:spcBef>
          <a:spcPts val="1559"/>
        </a:spcBef>
        <a:buFont typeface="Arial" panose="020B0604020202020204" pitchFamily="34" charset="0"/>
        <a:buChar char="•"/>
        <a:defRPr sz="7483" kern="1200">
          <a:solidFill>
            <a:schemeClr val="tx1"/>
          </a:solidFill>
          <a:latin typeface="+mn-lt"/>
          <a:ea typeface="+mn-ea"/>
          <a:cs typeface="+mn-cs"/>
        </a:defRPr>
      </a:lvl2pPr>
      <a:lvl3pPr marL="3563988" indent="-712798" algn="l" defTabSz="2851191" rtl="0" eaLnBrk="1" latinLnBrk="0" hangingPunct="1">
        <a:lnSpc>
          <a:spcPct val="90000"/>
        </a:lnSpc>
        <a:spcBef>
          <a:spcPts val="1559"/>
        </a:spcBef>
        <a:buFont typeface="Arial" panose="020B0604020202020204" pitchFamily="34" charset="0"/>
        <a:buChar char="•"/>
        <a:defRPr sz="6236" kern="1200">
          <a:solidFill>
            <a:schemeClr val="tx1"/>
          </a:solidFill>
          <a:latin typeface="+mn-lt"/>
          <a:ea typeface="+mn-ea"/>
          <a:cs typeface="+mn-cs"/>
        </a:defRPr>
      </a:lvl3pPr>
      <a:lvl4pPr marL="498958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4pPr>
      <a:lvl5pPr marL="6415179"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5pPr>
      <a:lvl6pPr marL="784077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6pPr>
      <a:lvl7pPr marL="926637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7pPr>
      <a:lvl8pPr marL="10691965"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8pPr>
      <a:lvl9pPr marL="1211756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9pPr>
    </p:bodyStyle>
    <p:otherStyle>
      <a:defPPr>
        <a:defRPr lang="en-US"/>
      </a:defPPr>
      <a:lvl1pPr marL="0" algn="l" defTabSz="2851191" rtl="0" eaLnBrk="1" latinLnBrk="0" hangingPunct="1">
        <a:defRPr sz="5613" kern="1200">
          <a:solidFill>
            <a:schemeClr val="tx1"/>
          </a:solidFill>
          <a:latin typeface="+mn-lt"/>
          <a:ea typeface="+mn-ea"/>
          <a:cs typeface="+mn-cs"/>
        </a:defRPr>
      </a:lvl1pPr>
      <a:lvl2pPr marL="1425595" algn="l" defTabSz="2851191" rtl="0" eaLnBrk="1" latinLnBrk="0" hangingPunct="1">
        <a:defRPr sz="5613" kern="1200">
          <a:solidFill>
            <a:schemeClr val="tx1"/>
          </a:solidFill>
          <a:latin typeface="+mn-lt"/>
          <a:ea typeface="+mn-ea"/>
          <a:cs typeface="+mn-cs"/>
        </a:defRPr>
      </a:lvl2pPr>
      <a:lvl3pPr marL="2851191" algn="l" defTabSz="2851191" rtl="0" eaLnBrk="1" latinLnBrk="0" hangingPunct="1">
        <a:defRPr sz="5613" kern="1200">
          <a:solidFill>
            <a:schemeClr val="tx1"/>
          </a:solidFill>
          <a:latin typeface="+mn-lt"/>
          <a:ea typeface="+mn-ea"/>
          <a:cs typeface="+mn-cs"/>
        </a:defRPr>
      </a:lvl3pPr>
      <a:lvl4pPr marL="4276786" algn="l" defTabSz="2851191" rtl="0" eaLnBrk="1" latinLnBrk="0" hangingPunct="1">
        <a:defRPr sz="5613" kern="1200">
          <a:solidFill>
            <a:schemeClr val="tx1"/>
          </a:solidFill>
          <a:latin typeface="+mn-lt"/>
          <a:ea typeface="+mn-ea"/>
          <a:cs typeface="+mn-cs"/>
        </a:defRPr>
      </a:lvl4pPr>
      <a:lvl5pPr marL="5702381" algn="l" defTabSz="2851191" rtl="0" eaLnBrk="1" latinLnBrk="0" hangingPunct="1">
        <a:defRPr sz="5613" kern="1200">
          <a:solidFill>
            <a:schemeClr val="tx1"/>
          </a:solidFill>
          <a:latin typeface="+mn-lt"/>
          <a:ea typeface="+mn-ea"/>
          <a:cs typeface="+mn-cs"/>
        </a:defRPr>
      </a:lvl5pPr>
      <a:lvl6pPr marL="7127977" algn="l" defTabSz="2851191" rtl="0" eaLnBrk="1" latinLnBrk="0" hangingPunct="1">
        <a:defRPr sz="5613" kern="1200">
          <a:solidFill>
            <a:schemeClr val="tx1"/>
          </a:solidFill>
          <a:latin typeface="+mn-lt"/>
          <a:ea typeface="+mn-ea"/>
          <a:cs typeface="+mn-cs"/>
        </a:defRPr>
      </a:lvl6pPr>
      <a:lvl7pPr marL="8553572" algn="l" defTabSz="2851191" rtl="0" eaLnBrk="1" latinLnBrk="0" hangingPunct="1">
        <a:defRPr sz="5613" kern="1200">
          <a:solidFill>
            <a:schemeClr val="tx1"/>
          </a:solidFill>
          <a:latin typeface="+mn-lt"/>
          <a:ea typeface="+mn-ea"/>
          <a:cs typeface="+mn-cs"/>
        </a:defRPr>
      </a:lvl7pPr>
      <a:lvl8pPr marL="9979167" algn="l" defTabSz="2851191" rtl="0" eaLnBrk="1" latinLnBrk="0" hangingPunct="1">
        <a:defRPr sz="5613" kern="1200">
          <a:solidFill>
            <a:schemeClr val="tx1"/>
          </a:solidFill>
          <a:latin typeface="+mn-lt"/>
          <a:ea typeface="+mn-ea"/>
          <a:cs typeface="+mn-cs"/>
        </a:defRPr>
      </a:lvl8pPr>
      <a:lvl9pPr marL="11404763" algn="l" defTabSz="2851191" rtl="0" eaLnBrk="1" latinLnBrk="0" hangingPunct="1">
        <a:defRPr sz="56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Box 12">
            <a:extLst>
              <a:ext uri="{FF2B5EF4-FFF2-40B4-BE49-F238E27FC236}">
                <a16:creationId xmlns:a16="http://schemas.microsoft.com/office/drawing/2014/main" id="{3B78A1B5-5D60-4CB3-BE35-45F09174924E}"/>
              </a:ext>
            </a:extLst>
          </p:cNvPr>
          <p:cNvSpPr txBox="1">
            <a:spLocks noChangeArrowheads="1"/>
          </p:cNvSpPr>
          <p:nvPr userDrawn="1"/>
        </p:nvSpPr>
        <p:spPr bwMode="auto">
          <a:xfrm>
            <a:off x="5385581" y="19634658"/>
            <a:ext cx="14968746" cy="6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defRPr/>
            </a:pPr>
            <a:r>
              <a:rPr lang="en-GB" altLang="en-US" sz="3327">
                <a:solidFill>
                  <a:srgbClr val="000000"/>
                </a:solidFill>
              </a:rPr>
              <a:t>The Alan Turing Institute</a:t>
            </a:r>
          </a:p>
        </p:txBody>
      </p:sp>
      <p:sp>
        <p:nvSpPr>
          <p:cNvPr id="1027" name="Title Placeholder 1">
            <a:extLst>
              <a:ext uri="{FF2B5EF4-FFF2-40B4-BE49-F238E27FC236}">
                <a16:creationId xmlns:a16="http://schemas.microsoft.com/office/drawing/2014/main" id="{5FA0B099-D98B-4334-B69B-347B6181D5C2}"/>
              </a:ext>
            </a:extLst>
          </p:cNvPr>
          <p:cNvSpPr>
            <a:spLocks noGrp="1"/>
          </p:cNvSpPr>
          <p:nvPr>
            <p:ph type="title"/>
          </p:nvPr>
        </p:nvSpPr>
        <p:spPr bwMode="auto">
          <a:xfrm>
            <a:off x="1795197" y="1795172"/>
            <a:ext cx="34425475" cy="194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GB" altLang="en-US"/>
          </a:p>
        </p:txBody>
      </p:sp>
      <p:sp>
        <p:nvSpPr>
          <p:cNvPr id="3" name="Text Placeholder 2">
            <a:extLst>
              <a:ext uri="{FF2B5EF4-FFF2-40B4-BE49-F238E27FC236}">
                <a16:creationId xmlns:a16="http://schemas.microsoft.com/office/drawing/2014/main" id="{4F564EA9-55AA-41D3-854D-4E8DBDF8760C}"/>
              </a:ext>
            </a:extLst>
          </p:cNvPr>
          <p:cNvSpPr>
            <a:spLocks noGrp="1"/>
          </p:cNvSpPr>
          <p:nvPr>
            <p:ph type="body" idx="1"/>
          </p:nvPr>
        </p:nvSpPr>
        <p:spPr>
          <a:xfrm>
            <a:off x="1795197" y="5088514"/>
            <a:ext cx="34425475" cy="13470362"/>
          </a:xfrm>
          <a:prstGeom prst="rect">
            <a:avLst/>
          </a:prstGeom>
        </p:spPr>
        <p:txBody>
          <a:bodyPr vert="horz" lIns="0" tIns="0" rIns="0" bIns="0" rtlCol="0" anchor="t" anchorCtr="0">
            <a:noAutofit/>
          </a:bodyPr>
          <a:lstStyle/>
          <a:p>
            <a:pPr lvl="0"/>
            <a:r>
              <a:rPr lang="en-GB"/>
              <a:t>Click to add sub-header text. Indent for secondary levels and bullets. Or use buttons to add content. </a:t>
            </a:r>
            <a:endParaRPr lang="en-US"/>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GB"/>
          </a:p>
        </p:txBody>
      </p:sp>
      <p:sp>
        <p:nvSpPr>
          <p:cNvPr id="4" name="Date Placeholder 3">
            <a:extLst>
              <a:ext uri="{FF2B5EF4-FFF2-40B4-BE49-F238E27FC236}">
                <a16:creationId xmlns:a16="http://schemas.microsoft.com/office/drawing/2014/main" id="{B99D0711-CF50-4324-AACA-9A3E08F43046}"/>
              </a:ext>
            </a:extLst>
          </p:cNvPr>
          <p:cNvSpPr>
            <a:spLocks noGrp="1"/>
          </p:cNvSpPr>
          <p:nvPr>
            <p:ph type="dt" sz="half" idx="2"/>
          </p:nvPr>
        </p:nvSpPr>
        <p:spPr>
          <a:xfrm>
            <a:off x="1795195" y="19634658"/>
            <a:ext cx="3445188" cy="600587"/>
          </a:xfrm>
          <a:prstGeom prst="rect">
            <a:avLst/>
          </a:prstGeom>
        </p:spPr>
        <p:txBody>
          <a:bodyPr vert="horz" lIns="0" tIns="0" rIns="0" bIns="0" rtlCol="0" anchor="b" anchorCtr="0">
            <a:noAutofit/>
          </a:bodyPr>
          <a:lstStyle>
            <a:lvl1pPr algn="l" eaLnBrk="1" fontAlgn="auto" hangingPunct="1">
              <a:spcBef>
                <a:spcPts val="0"/>
              </a:spcBef>
              <a:spcAft>
                <a:spcPts val="0"/>
              </a:spcAft>
              <a:defRPr sz="3327">
                <a:solidFill>
                  <a:schemeClr val="tx1"/>
                </a:solidFill>
                <a:latin typeface="+mn-lt"/>
                <a:cs typeface="+mn-cs"/>
              </a:defRPr>
            </a:lvl1pPr>
          </a:lstStyle>
          <a:p>
            <a:pPr>
              <a:defRPr/>
            </a:pPr>
            <a:fld id="{F0E7D4FB-D556-4702-BF77-3BBD141624CD}" type="datetime1">
              <a:rPr lang="en-US" smtClean="0"/>
              <a:t>3/3/2026</a:t>
            </a:fld>
            <a:endParaRPr lang="en-GB"/>
          </a:p>
        </p:txBody>
      </p:sp>
      <p:sp>
        <p:nvSpPr>
          <p:cNvPr id="6" name="Slide Number Placeholder 5">
            <a:extLst>
              <a:ext uri="{FF2B5EF4-FFF2-40B4-BE49-F238E27FC236}">
                <a16:creationId xmlns:a16="http://schemas.microsoft.com/office/drawing/2014/main" id="{6C6101B8-A913-4DC6-83DA-276AC8DA9012}"/>
              </a:ext>
            </a:extLst>
          </p:cNvPr>
          <p:cNvSpPr>
            <a:spLocks noGrp="1"/>
          </p:cNvSpPr>
          <p:nvPr>
            <p:ph type="sldNum" sz="quarter" idx="4"/>
          </p:nvPr>
        </p:nvSpPr>
        <p:spPr>
          <a:xfrm>
            <a:off x="33976679" y="19634658"/>
            <a:ext cx="2243993" cy="600587"/>
          </a:xfrm>
          <a:prstGeom prst="rect">
            <a:avLst/>
          </a:prstGeom>
        </p:spPr>
        <p:txBody>
          <a:bodyPr vert="horz" wrap="square" lIns="0" tIns="0" rIns="0" bIns="0" numCol="1" anchor="b" anchorCtr="0" compatLnSpc="1">
            <a:prstTxWarp prst="textNoShape">
              <a:avLst/>
            </a:prstTxWarp>
            <a:noAutofit/>
          </a:bodyPr>
          <a:lstStyle>
            <a:lvl1pPr algn="r" eaLnBrk="1" hangingPunct="1">
              <a:defRPr sz="3327" b="1"/>
            </a:lvl1pPr>
          </a:lstStyle>
          <a:p>
            <a:pPr>
              <a:defRPr/>
            </a:pPr>
            <a:fld id="{F5125F9C-A842-4714-8AB3-35D4838AD656}" type="slidenum">
              <a:rPr lang="en-GB" altLang="en-US"/>
              <a:pPr>
                <a:defRPr/>
              </a:pPr>
              <a:t>‹#›</a:t>
            </a:fld>
            <a:endParaRPr lang="en-GB" altLang="en-US"/>
          </a:p>
        </p:txBody>
      </p:sp>
      <p:cxnSp>
        <p:nvCxnSpPr>
          <p:cNvPr id="11" name="Straight Connector 10">
            <a:extLst>
              <a:ext uri="{FF2B5EF4-FFF2-40B4-BE49-F238E27FC236}">
                <a16:creationId xmlns:a16="http://schemas.microsoft.com/office/drawing/2014/main" id="{1D2BC769-0FEC-48A6-A33C-FA6B8451362A}"/>
              </a:ext>
            </a:extLst>
          </p:cNvPr>
          <p:cNvCxnSpPr/>
          <p:nvPr userDrawn="1"/>
        </p:nvCxnSpPr>
        <p:spPr>
          <a:xfrm>
            <a:off x="1795197" y="19608257"/>
            <a:ext cx="3442547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186890"/>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 id="2147484014" r:id="rId11"/>
    <p:sldLayoutId id="2147484015" r:id="rId12"/>
    <p:sldLayoutId id="2147484017" r:id="rId13"/>
    <p:sldLayoutId id="2147484019" r:id="rId14"/>
    <p:sldLayoutId id="2147484020" r:id="rId15"/>
  </p:sldLayoutIdLst>
  <p:hf sldNum="0" hdr="0"/>
  <p:txStyles>
    <p:title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p:titleStyle>
    <p:bodyStyle>
      <a:lvl1pPr algn="l" rtl="0" eaLnBrk="0" fontAlgn="base" hangingPunct="0">
        <a:spcBef>
          <a:spcPct val="0"/>
        </a:spcBef>
        <a:spcAft>
          <a:spcPct val="0"/>
        </a:spcAft>
        <a:buFont typeface="Arial" panose="020B0604020202020204" pitchFamily="34" charset="0"/>
        <a:defRPr sz="8731" b="1" kern="1200">
          <a:solidFill>
            <a:schemeClr val="tx1"/>
          </a:solidFill>
          <a:latin typeface="+mn-lt"/>
          <a:ea typeface="+mn-ea"/>
          <a:cs typeface="+mn-cs"/>
        </a:defRPr>
      </a:lvl1pPr>
      <a:lvl2pPr algn="l" rtl="0" eaLnBrk="0" fontAlgn="base" hangingPunct="0">
        <a:spcBef>
          <a:spcPct val="0"/>
        </a:spcBef>
        <a:spcAft>
          <a:spcPct val="0"/>
        </a:spcAft>
        <a:buFont typeface="Arial" panose="020B0604020202020204" pitchFamily="34" charset="0"/>
        <a:defRPr sz="8731" kern="1200">
          <a:solidFill>
            <a:schemeClr val="tx1"/>
          </a:solidFill>
          <a:latin typeface="+mn-lt"/>
          <a:ea typeface="+mn-ea"/>
          <a:cs typeface="+mn-cs"/>
        </a:defRPr>
      </a:lvl2pPr>
      <a:lvl3pPr marL="1795149" indent="-1042771" algn="l" rtl="0" eaLnBrk="0" fontAlgn="base" hangingPunct="0">
        <a:spcBef>
          <a:spcPct val="0"/>
        </a:spcBef>
        <a:spcAft>
          <a:spcPct val="0"/>
        </a:spcAft>
        <a:buFont typeface="Arial" panose="020B0604020202020204" pitchFamily="34" charset="0"/>
        <a:buChar char="–"/>
        <a:defRPr sz="8731" kern="1200">
          <a:solidFill>
            <a:schemeClr val="tx1"/>
          </a:solidFill>
          <a:latin typeface="+mn-lt"/>
          <a:ea typeface="+mn-ea"/>
          <a:cs typeface="+mn-cs"/>
        </a:defRPr>
      </a:lvl3pPr>
      <a:lvl4pPr marL="3590299" indent="-1042771" algn="l" rtl="0" eaLnBrk="0" fontAlgn="base" hangingPunct="0">
        <a:spcBef>
          <a:spcPct val="0"/>
        </a:spcBef>
        <a:spcAft>
          <a:spcPct val="0"/>
        </a:spcAft>
        <a:buFont typeface="Arial" panose="020B0604020202020204" pitchFamily="34" charset="0"/>
        <a:buChar char="–"/>
        <a:defRPr sz="8731" kern="1200">
          <a:solidFill>
            <a:schemeClr val="tx1"/>
          </a:solidFill>
          <a:latin typeface="+mn-lt"/>
          <a:ea typeface="+mn-ea"/>
          <a:cs typeface="+mn-cs"/>
        </a:defRPr>
      </a:lvl4pPr>
      <a:lvl5pPr marL="5385448" indent="-1042771" algn="l" rtl="0" eaLnBrk="0" fontAlgn="base" hangingPunct="0">
        <a:spcBef>
          <a:spcPct val="0"/>
        </a:spcBef>
        <a:spcAft>
          <a:spcPct val="0"/>
        </a:spcAft>
        <a:buFont typeface="Arial" panose="020B0604020202020204" pitchFamily="34" charset="0"/>
        <a:buChar char="–"/>
        <a:defRPr sz="8731" kern="1200">
          <a:solidFill>
            <a:schemeClr val="tx1"/>
          </a:solidFill>
          <a:latin typeface="+mn-lt"/>
          <a:ea typeface="+mn-ea"/>
          <a:cs typeface="+mn-cs"/>
        </a:defRPr>
      </a:lvl5pPr>
      <a:lvl6pPr marL="7183922" indent="-1047657" algn="l" defTabSz="3801494" rtl="0" eaLnBrk="1" latinLnBrk="0" hangingPunct="1">
        <a:spcBef>
          <a:spcPts val="0"/>
        </a:spcBef>
        <a:buFont typeface="Arial" panose="020B0604020202020204" pitchFamily="34" charset="0"/>
        <a:buChar char="–"/>
        <a:defRPr sz="8731" kern="1200">
          <a:solidFill>
            <a:schemeClr val="tx1"/>
          </a:solidFill>
          <a:latin typeface="+mn-lt"/>
          <a:ea typeface="+mn-ea"/>
          <a:cs typeface="+mn-cs"/>
        </a:defRPr>
      </a:lvl6pPr>
      <a:lvl7pPr marL="8979903" indent="-1047657" algn="l" defTabSz="3801494" rtl="0" eaLnBrk="1" latinLnBrk="0" hangingPunct="1">
        <a:spcBef>
          <a:spcPts val="0"/>
        </a:spcBef>
        <a:buFont typeface="Arial" panose="020B0604020202020204" pitchFamily="34" charset="0"/>
        <a:buChar char="–"/>
        <a:defRPr sz="8731" kern="1200">
          <a:solidFill>
            <a:schemeClr val="tx1"/>
          </a:solidFill>
          <a:latin typeface="+mn-lt"/>
          <a:ea typeface="+mn-ea"/>
          <a:cs typeface="+mn-cs"/>
        </a:defRPr>
      </a:lvl7pPr>
      <a:lvl8pPr marL="14255598" indent="-950372" algn="l" defTabSz="3801494" rtl="0" eaLnBrk="1" latinLnBrk="0" hangingPunct="1">
        <a:spcBef>
          <a:spcPct val="20000"/>
        </a:spcBef>
        <a:buFont typeface="Arial" panose="020B0604020202020204" pitchFamily="34" charset="0"/>
        <a:buChar char="•"/>
        <a:defRPr sz="8316" kern="1200">
          <a:solidFill>
            <a:schemeClr val="tx1"/>
          </a:solidFill>
          <a:latin typeface="+mn-lt"/>
          <a:ea typeface="+mn-ea"/>
          <a:cs typeface="+mn-cs"/>
        </a:defRPr>
      </a:lvl8pPr>
      <a:lvl9pPr marL="16156342" indent="-950372" algn="l" defTabSz="3801494" rtl="0" eaLnBrk="1" latinLnBrk="0" hangingPunct="1">
        <a:spcBef>
          <a:spcPct val="20000"/>
        </a:spcBef>
        <a:buFont typeface="Arial" panose="020B0604020202020204" pitchFamily="34" charset="0"/>
        <a:buChar char="•"/>
        <a:defRPr sz="8316" kern="1200">
          <a:solidFill>
            <a:schemeClr val="tx1"/>
          </a:solidFill>
          <a:latin typeface="+mn-lt"/>
          <a:ea typeface="+mn-ea"/>
          <a:cs typeface="+mn-cs"/>
        </a:defRPr>
      </a:lvl9pPr>
    </p:bodyStyle>
    <p:otherStyle>
      <a:defPPr>
        <a:defRPr lang="en-US"/>
      </a:defPPr>
      <a:lvl1pPr marL="0" algn="l" defTabSz="3801494" rtl="0" eaLnBrk="1" latinLnBrk="0" hangingPunct="1">
        <a:defRPr sz="7483" kern="1200">
          <a:solidFill>
            <a:schemeClr val="tx1"/>
          </a:solidFill>
          <a:latin typeface="+mn-lt"/>
          <a:ea typeface="+mn-ea"/>
          <a:cs typeface="+mn-cs"/>
        </a:defRPr>
      </a:lvl1pPr>
      <a:lvl2pPr marL="1900747" algn="l" defTabSz="3801494" rtl="0" eaLnBrk="1" latinLnBrk="0" hangingPunct="1">
        <a:defRPr sz="7483" kern="1200">
          <a:solidFill>
            <a:schemeClr val="tx1"/>
          </a:solidFill>
          <a:latin typeface="+mn-lt"/>
          <a:ea typeface="+mn-ea"/>
          <a:cs typeface="+mn-cs"/>
        </a:defRPr>
      </a:lvl2pPr>
      <a:lvl3pPr marL="3801494" algn="l" defTabSz="3801494" rtl="0" eaLnBrk="1" latinLnBrk="0" hangingPunct="1">
        <a:defRPr sz="7483" kern="1200">
          <a:solidFill>
            <a:schemeClr val="tx1"/>
          </a:solidFill>
          <a:latin typeface="+mn-lt"/>
          <a:ea typeface="+mn-ea"/>
          <a:cs typeface="+mn-cs"/>
        </a:defRPr>
      </a:lvl3pPr>
      <a:lvl4pPr marL="5702238" algn="l" defTabSz="3801494" rtl="0" eaLnBrk="1" latinLnBrk="0" hangingPunct="1">
        <a:defRPr sz="7483" kern="1200">
          <a:solidFill>
            <a:schemeClr val="tx1"/>
          </a:solidFill>
          <a:latin typeface="+mn-lt"/>
          <a:ea typeface="+mn-ea"/>
          <a:cs typeface="+mn-cs"/>
        </a:defRPr>
      </a:lvl4pPr>
      <a:lvl5pPr marL="7602985" algn="l" defTabSz="3801494" rtl="0" eaLnBrk="1" latinLnBrk="0" hangingPunct="1">
        <a:defRPr sz="7483" kern="1200">
          <a:solidFill>
            <a:schemeClr val="tx1"/>
          </a:solidFill>
          <a:latin typeface="+mn-lt"/>
          <a:ea typeface="+mn-ea"/>
          <a:cs typeface="+mn-cs"/>
        </a:defRPr>
      </a:lvl5pPr>
      <a:lvl6pPr marL="9503732" algn="l" defTabSz="3801494" rtl="0" eaLnBrk="1" latinLnBrk="0" hangingPunct="1">
        <a:defRPr sz="7483" kern="1200">
          <a:solidFill>
            <a:schemeClr val="tx1"/>
          </a:solidFill>
          <a:latin typeface="+mn-lt"/>
          <a:ea typeface="+mn-ea"/>
          <a:cs typeface="+mn-cs"/>
        </a:defRPr>
      </a:lvl6pPr>
      <a:lvl7pPr marL="11404479" algn="l" defTabSz="3801494" rtl="0" eaLnBrk="1" latinLnBrk="0" hangingPunct="1">
        <a:defRPr sz="7483" kern="1200">
          <a:solidFill>
            <a:schemeClr val="tx1"/>
          </a:solidFill>
          <a:latin typeface="+mn-lt"/>
          <a:ea typeface="+mn-ea"/>
          <a:cs typeface="+mn-cs"/>
        </a:defRPr>
      </a:lvl7pPr>
      <a:lvl8pPr marL="13305223" algn="l" defTabSz="3801494" rtl="0" eaLnBrk="1" latinLnBrk="0" hangingPunct="1">
        <a:defRPr sz="7483" kern="1200">
          <a:solidFill>
            <a:schemeClr val="tx1"/>
          </a:solidFill>
          <a:latin typeface="+mn-lt"/>
          <a:ea typeface="+mn-ea"/>
          <a:cs typeface="+mn-cs"/>
        </a:defRPr>
      </a:lvl8pPr>
      <a:lvl9pPr marL="15205970" algn="l" defTabSz="3801494" rtl="0" eaLnBrk="1" latinLnBrk="0" hangingPunct="1">
        <a:defRPr sz="74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microsoft.com/office/2018/10/relationships/comments" Target="../comments/modernComment_39E_F6C85DE9.xm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video" Target="https://www.youtube.com/embed/OJy2h9mgiX8?feature=oembed" TargetMode="External"/><Relationship Id="rId6" Type="http://schemas.openxmlformats.org/officeDocument/2006/relationships/image" Target="../media/image12.jpeg"/><Relationship Id="rId5" Type="http://schemas.openxmlformats.org/officeDocument/2006/relationships/image" Target="../media/image5.png"/><Relationship Id="rId4" Type="http://schemas.microsoft.com/office/2018/10/relationships/comments" Target="../comments/modernComment_64F_5A6EEE3C.xml"/></Relationships>
</file>

<file path=ppt/slides/_rels/slide5.xml.rels><?xml version="1.0" encoding="UTF-8" standalone="yes"?>
<Relationships xmlns="http://schemas.openxmlformats.org/package/2006/relationships"><Relationship Id="rId3" Type="http://schemas.microsoft.com/office/2018/10/relationships/comments" Target="../comments/modernComment_64D_6ABEC848.xml"/><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microsoft.com/office/2018/10/relationships/comments" Target="../comments/modernComment_361_6CBDB5.xml"/><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microsoft.com/office/2018/10/relationships/comments" Target="../comments/modernComment_652_F51DE55D.xml"/><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microsoft.com/office/2018/10/relationships/comments" Target="../comments/modernComment_397_BAA08781.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39B_1BA2E99F.xm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3.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6.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5.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16.xml"/><Relationship Id="rId16" Type="http://schemas.openxmlformats.org/officeDocument/2006/relationships/image" Target="../media/image39.png"/><Relationship Id="rId1" Type="http://schemas.openxmlformats.org/officeDocument/2006/relationships/slideLayout" Target="../slideLayouts/slideLayout14.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38.png"/><Relationship Id="rId3" Type="http://schemas.openxmlformats.org/officeDocument/2006/relationships/image" Target="../media/image5.png"/><Relationship Id="rId7" Type="http://schemas.openxmlformats.org/officeDocument/2006/relationships/diagramColors" Target="../diagrams/colors1.xml"/><Relationship Id="rId12"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diagramQuickStyle" Target="../diagrams/quickStyle1.xml"/><Relationship Id="rId11" Type="http://schemas.openxmlformats.org/officeDocument/2006/relationships/image" Target="../media/image36.png"/><Relationship Id="rId5" Type="http://schemas.openxmlformats.org/officeDocument/2006/relationships/diagramLayout" Target="../diagrams/layout1.xml"/><Relationship Id="rId10" Type="http://schemas.openxmlformats.org/officeDocument/2006/relationships/image" Target="../media/image35.png"/><Relationship Id="rId4" Type="http://schemas.openxmlformats.org/officeDocument/2006/relationships/diagramData" Target="../diagrams/data1.xml"/><Relationship Id="rId9" Type="http://schemas.openxmlformats.org/officeDocument/2006/relationships/image" Target="../media/image34.png"/><Relationship Id="rId1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png"/><Relationship Id="rId7" Type="http://schemas.openxmlformats.org/officeDocument/2006/relationships/diagramColors" Target="../diagrams/colors2.xml"/><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40.png"/><Relationship Id="rId5" Type="http://schemas.openxmlformats.org/officeDocument/2006/relationships/hyperlink" Target="https://www.mi5.gov.uk/careers/working-at-mi5/videos" TargetMode="External"/><Relationship Id="rId4" Type="http://schemas.openxmlformats.org/officeDocument/2006/relationships/hyperlink" Target="https://www.mi5.gov.uk/careers/graduates" TargetMode="External"/></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5.png"/><Relationship Id="rId7" Type="http://schemas.openxmlformats.org/officeDocument/2006/relationships/diagramLayout" Target="../diagrams/layout3.xml"/><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diagramData" Target="../diagrams/data3.xml"/><Relationship Id="rId5" Type="http://schemas.openxmlformats.org/officeDocument/2006/relationships/image" Target="../media/image42.png"/><Relationship Id="rId10" Type="http://schemas.microsoft.com/office/2007/relationships/diagramDrawing" Target="../diagrams/drawing3.xml"/><Relationship Id="rId4" Type="http://schemas.openxmlformats.org/officeDocument/2006/relationships/image" Target="../media/image41.jpeg"/><Relationship Id="rId9" Type="http://schemas.openxmlformats.org/officeDocument/2006/relationships/diagramColors" Target="../diagrams/colors3.xml"/></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5.png"/><Relationship Id="rId7" Type="http://schemas.openxmlformats.org/officeDocument/2006/relationships/diagramQuickStyle" Target="../diagrams/quickStyle4.xml"/><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diagramLayout" Target="../diagrams/layout4.xml"/><Relationship Id="rId11" Type="http://schemas.openxmlformats.org/officeDocument/2006/relationships/image" Target="../media/image45.png"/><Relationship Id="rId5" Type="http://schemas.openxmlformats.org/officeDocument/2006/relationships/diagramData" Target="../diagrams/data4.xml"/><Relationship Id="rId10" Type="http://schemas.openxmlformats.org/officeDocument/2006/relationships/image" Target="../media/image44.png"/><Relationship Id="rId4" Type="http://schemas.openxmlformats.org/officeDocument/2006/relationships/image" Target="../media/image43.png"/><Relationship Id="rId9" Type="http://schemas.microsoft.com/office/2007/relationships/diagramDrawing" Target="../diagrams/drawing4.xml"/></Relationships>
</file>

<file path=ppt/slides/_rels/slide2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png"/><Relationship Id="rId7" Type="http://schemas.openxmlformats.org/officeDocument/2006/relationships/diagramColors" Target="../diagrams/colors5.xml"/><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hyperlink" Target="https://nationalcareers.service.gov.uk/job-profiles/data-scientist" TargetMode="External"/></Relationships>
</file>

<file path=ppt/slides/_rels/slide30.xml.rels><?xml version="1.0" encoding="UTF-8" standalone="yes"?>
<Relationships xmlns="http://schemas.openxmlformats.org/package/2006/relationships"><Relationship Id="rId3" Type="http://schemas.microsoft.com/office/2018/10/relationships/comments" Target="../comments/modernComment_394_FCA363B8.xml"/><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49.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4.xml"/><Relationship Id="rId5" Type="http://schemas.openxmlformats.org/officeDocument/2006/relationships/image" Target="../media/image52.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hyperlink" Target="https://bit.ly/2026UniCareers" TargetMode="External"/><Relationship Id="rId2" Type="http://schemas.openxmlformats.org/officeDocument/2006/relationships/notesSlide" Target="../notesSlides/notesSlide28.xml"/><Relationship Id="rId1" Type="http://schemas.openxmlformats.org/officeDocument/2006/relationships/slideLayout" Target="../slideLayouts/slideLayout22.xml"/><Relationship Id="rId5" Type="http://schemas.openxmlformats.org/officeDocument/2006/relationships/image" Target="../media/image53.png"/><Relationship Id="rId4" Type="http://schemas.openxmlformats.org/officeDocument/2006/relationships/hyperlink" Target="mailto:outreach@turing.ac.uk"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9.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55.svg"/><Relationship Id="rId11" Type="http://schemas.openxmlformats.org/officeDocument/2006/relationships/image" Target="../media/image10.png"/><Relationship Id="rId5" Type="http://schemas.openxmlformats.org/officeDocument/2006/relationships/image" Target="../media/image54.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B805ABDE-AAB3-4B76-8040-ED588E9C7CF7}"/>
              </a:ext>
            </a:extLst>
          </p:cNvPr>
          <p:cNvPicPr>
            <a:picLocks noGrp="1" noChangeAspect="1"/>
          </p:cNvPicPr>
          <p:nvPr>
            <p:ph type="pic" sz="quarter" idx="13"/>
          </p:nvPr>
        </p:nvPicPr>
        <p:blipFill rotWithShape="1">
          <a:blip r:embed="rId3"/>
          <a:srcRect l="17050" r="17050" b="-1"/>
          <a:stretch/>
        </p:blipFill>
        <p:spPr>
          <a:xfrm>
            <a:off x="15747549" y="10"/>
            <a:ext cx="22268319" cy="19007657"/>
          </a:xfrm>
          <a:noFill/>
        </p:spPr>
      </p:pic>
      <p:sp>
        <p:nvSpPr>
          <p:cNvPr id="4" name="Date Placeholder 3">
            <a:extLst>
              <a:ext uri="{FF2B5EF4-FFF2-40B4-BE49-F238E27FC236}">
                <a16:creationId xmlns:a16="http://schemas.microsoft.com/office/drawing/2014/main" id="{EC10FA66-4D11-46ED-9BAF-B8FA80700AD8}"/>
              </a:ext>
            </a:extLst>
          </p:cNvPr>
          <p:cNvSpPr>
            <a:spLocks noGrp="1"/>
          </p:cNvSpPr>
          <p:nvPr>
            <p:ph type="dt" sz="half" idx="15"/>
          </p:nvPr>
        </p:nvSpPr>
        <p:spPr>
          <a:xfrm>
            <a:off x="1795195" y="19634658"/>
            <a:ext cx="3445188" cy="600587"/>
          </a:xfrm>
        </p:spPr>
        <p:txBody>
          <a:bodyPr anchor="b">
            <a:normAutofit/>
          </a:bodyPr>
          <a:lstStyle/>
          <a:p>
            <a:pPr>
              <a:spcAft>
                <a:spcPts val="600"/>
              </a:spcAft>
              <a:defRPr/>
            </a:pPr>
            <a:r>
              <a:rPr lang="en-US"/>
              <a:t>Jan 2026</a:t>
            </a:r>
            <a:endParaRPr lang="en-GB"/>
          </a:p>
        </p:txBody>
      </p:sp>
      <p:sp>
        <p:nvSpPr>
          <p:cNvPr id="3" name="Title 2">
            <a:extLst>
              <a:ext uri="{FF2B5EF4-FFF2-40B4-BE49-F238E27FC236}">
                <a16:creationId xmlns:a16="http://schemas.microsoft.com/office/drawing/2014/main" id="{70759170-A770-4DA3-9A4B-96A470D778CB}"/>
              </a:ext>
            </a:extLst>
          </p:cNvPr>
          <p:cNvSpPr>
            <a:spLocks noGrp="1"/>
          </p:cNvSpPr>
          <p:nvPr>
            <p:ph type="title"/>
          </p:nvPr>
        </p:nvSpPr>
        <p:spPr>
          <a:xfrm>
            <a:off x="1795193" y="8128345"/>
            <a:ext cx="26096471" cy="5430112"/>
          </a:xfrm>
        </p:spPr>
        <p:txBody>
          <a:bodyPr wrap="square" anchor="t">
            <a:normAutofit fontScale="90000"/>
          </a:bodyPr>
          <a:lstStyle/>
          <a:p>
            <a:pPr>
              <a:lnSpc>
                <a:spcPct val="90000"/>
              </a:lnSpc>
            </a:pPr>
            <a:r>
              <a:rPr lang="en-GB" sz="12800" dirty="0"/>
              <a:t>Data Science and AI Careers in Government and Academia </a:t>
            </a:r>
            <a:br>
              <a:rPr lang="en-GB" sz="9600" dirty="0"/>
            </a:br>
            <a:br>
              <a:rPr lang="en-GB" sz="9600" dirty="0"/>
            </a:br>
            <a:br>
              <a:rPr lang="en-GB" sz="9600" dirty="0"/>
            </a:br>
            <a:r>
              <a:rPr lang="en-GB" sz="10700" dirty="0"/>
              <a:t>Timipado Imomotebegha</a:t>
            </a:r>
            <a:br>
              <a:rPr lang="en-GB" sz="8800" dirty="0"/>
            </a:br>
            <a:endParaRPr lang="en-GB" sz="8000" b="0" dirty="0"/>
          </a:p>
        </p:txBody>
      </p:sp>
      <p:sp>
        <p:nvSpPr>
          <p:cNvPr id="7" name="TextBox 6">
            <a:extLst>
              <a:ext uri="{FF2B5EF4-FFF2-40B4-BE49-F238E27FC236}">
                <a16:creationId xmlns:a16="http://schemas.microsoft.com/office/drawing/2014/main" id="{CA214B62-2F74-9E77-C344-FA8878F9B0EE}"/>
              </a:ext>
            </a:extLst>
          </p:cNvPr>
          <p:cNvSpPr txBox="1"/>
          <p:nvPr/>
        </p:nvSpPr>
        <p:spPr>
          <a:xfrm>
            <a:off x="1795193" y="18145893"/>
            <a:ext cx="36220670" cy="861774"/>
          </a:xfrm>
          <a:prstGeom prst="rect">
            <a:avLst/>
          </a:prstGeom>
          <a:noFill/>
        </p:spPr>
        <p:txBody>
          <a:bodyPr wrap="square">
            <a:spAutoFit/>
          </a:bodyPr>
          <a:lstStyle/>
          <a:p>
            <a:r>
              <a:rPr lang="en-GB" sz="5000" b="0" i="1" u="none" strike="noStrike" dirty="0">
                <a:solidFill>
                  <a:srgbClr val="FFFFFF"/>
                </a:solidFill>
                <a:effectLst/>
                <a:latin typeface="Arial" panose="020B0604020202020204" pitchFamily="34" charset="0"/>
              </a:rPr>
              <a:t>This presentation uses </a:t>
            </a:r>
            <a:r>
              <a:rPr lang="en-GB" sz="5000" b="0" i="1" u="none" strike="noStrike" dirty="0" err="1">
                <a:solidFill>
                  <a:srgbClr val="FFFFFF"/>
                </a:solidFill>
                <a:effectLst/>
                <a:latin typeface="Arial" panose="020B0604020202020204" pitchFamily="34" charset="0"/>
              </a:rPr>
              <a:t>SliDo</a:t>
            </a:r>
            <a:r>
              <a:rPr lang="en-GB" sz="5000" b="0" i="1" u="none" strike="noStrike" dirty="0">
                <a:solidFill>
                  <a:srgbClr val="FFFFFF"/>
                </a:solidFill>
                <a:effectLst/>
                <a:latin typeface="Arial" panose="020B0604020202020204" pitchFamily="34" charset="0"/>
              </a:rPr>
              <a:t>. Get set up by searching ‘</a:t>
            </a:r>
            <a:r>
              <a:rPr lang="en-GB" sz="5000" b="0" i="1" u="none" strike="noStrike" dirty="0" err="1">
                <a:solidFill>
                  <a:srgbClr val="FFFFFF"/>
                </a:solidFill>
                <a:effectLst/>
                <a:latin typeface="Arial" panose="020B0604020202020204" pitchFamily="34" charset="0"/>
              </a:rPr>
              <a:t>SliDo</a:t>
            </a:r>
            <a:r>
              <a:rPr lang="en-GB" sz="5000" b="0" i="1" u="none" strike="noStrike" dirty="0">
                <a:solidFill>
                  <a:srgbClr val="FFFFFF"/>
                </a:solidFill>
                <a:effectLst/>
                <a:latin typeface="Arial" panose="020B0604020202020204" pitchFamily="34" charset="0"/>
              </a:rPr>
              <a:t>’ and, when prompted, enter the code #[</a:t>
            </a:r>
            <a:r>
              <a:rPr lang="en-GB" sz="5000" i="1" dirty="0">
                <a:solidFill>
                  <a:srgbClr val="FFFFFF"/>
                </a:solidFill>
              </a:rPr>
              <a:t>3106253]</a:t>
            </a:r>
            <a:endParaRPr lang="en-GB" sz="5000" dirty="0"/>
          </a:p>
        </p:txBody>
      </p:sp>
    </p:spTree>
    <p:extLst>
      <p:ext uri="{BB962C8B-B14F-4D97-AF65-F5344CB8AC3E}">
        <p14:creationId xmlns:p14="http://schemas.microsoft.com/office/powerpoint/2010/main" val="3204995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D3009B-4D40-CAE6-C74C-E3A7199431FF}"/>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4">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00" y="3832743"/>
            <a:ext cx="20815891" cy="3154710"/>
          </a:xfrm>
          <a:prstGeom prst="rect">
            <a:avLst/>
          </a:prstGeom>
          <a:noFill/>
        </p:spPr>
        <p:txBody>
          <a:bodyPr wrap="square" lIns="91440" tIns="45720" rIns="91440" bIns="45720" anchor="t">
            <a:spAutoFit/>
          </a:bodyPr>
          <a:lstStyle/>
          <a:p>
            <a:r>
              <a:rPr lang="en-US" sz="13300" b="1">
                <a:latin typeface="Arial"/>
                <a:cs typeface="Arial"/>
              </a:rPr>
              <a:t>What's in it for you? </a:t>
            </a:r>
            <a:endParaRPr lang="en-US" sz="13300"/>
          </a:p>
          <a:p>
            <a:endParaRPr lang="en-US" sz="6600" b="1">
              <a:solidFill>
                <a:srgbClr val="000000"/>
              </a:solidFill>
            </a:endParaRPr>
          </a:p>
        </p:txBody>
      </p:sp>
      <p:sp>
        <p:nvSpPr>
          <p:cNvPr id="4" name="Rectangle: Rounded Corners 3">
            <a:extLst>
              <a:ext uri="{FF2B5EF4-FFF2-40B4-BE49-F238E27FC236}">
                <a16:creationId xmlns:a16="http://schemas.microsoft.com/office/drawing/2014/main" id="{57546DFE-AF74-C6C5-4B5C-1A704DDBC593}"/>
              </a:ext>
            </a:extLst>
          </p:cNvPr>
          <p:cNvSpPr/>
          <p:nvPr/>
        </p:nvSpPr>
        <p:spPr>
          <a:xfrm>
            <a:off x="2250499" y="6200077"/>
            <a:ext cx="33588205" cy="1540254"/>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7200">
                <a:solidFill>
                  <a:schemeClr val="tx1"/>
                </a:solidFill>
                <a:latin typeface="Arial"/>
                <a:cs typeface="Arial"/>
              </a:rPr>
              <a:t>Gain an overview of data science and AI </a:t>
            </a:r>
          </a:p>
        </p:txBody>
      </p:sp>
      <p:sp>
        <p:nvSpPr>
          <p:cNvPr id="6" name="Rectangle: Rounded Corners 5">
            <a:extLst>
              <a:ext uri="{FF2B5EF4-FFF2-40B4-BE49-F238E27FC236}">
                <a16:creationId xmlns:a16="http://schemas.microsoft.com/office/drawing/2014/main" id="{660E96C9-2EA2-5E5C-F616-9EBD5B717565}"/>
              </a:ext>
            </a:extLst>
          </p:cNvPr>
          <p:cNvSpPr/>
          <p:nvPr/>
        </p:nvSpPr>
        <p:spPr>
          <a:xfrm>
            <a:off x="2196096" y="11189082"/>
            <a:ext cx="33588205" cy="167091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7200" dirty="0">
                <a:solidFill>
                  <a:schemeClr val="tx1"/>
                </a:solidFill>
                <a:latin typeface="Arial" panose="020B0604020202020204" pitchFamily="34" charset="0"/>
                <a:cs typeface="Arial" panose="020B0604020202020204" pitchFamily="34" charset="0"/>
              </a:rPr>
              <a:t>Consider the importance of diversity in data science and AI</a:t>
            </a:r>
          </a:p>
        </p:txBody>
      </p:sp>
      <p:sp>
        <p:nvSpPr>
          <p:cNvPr id="7" name="Rectangle: Rounded Corners 6">
            <a:extLst>
              <a:ext uri="{FF2B5EF4-FFF2-40B4-BE49-F238E27FC236}">
                <a16:creationId xmlns:a16="http://schemas.microsoft.com/office/drawing/2014/main" id="{860ACA2A-58C1-A7A9-1427-7370A2E3CEDB}"/>
              </a:ext>
            </a:extLst>
          </p:cNvPr>
          <p:cNvSpPr/>
          <p:nvPr/>
        </p:nvSpPr>
        <p:spPr>
          <a:xfrm>
            <a:off x="2196097" y="13359446"/>
            <a:ext cx="33588205" cy="2279478"/>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7200">
                <a:solidFill>
                  <a:schemeClr val="tx1"/>
                </a:solidFill>
                <a:latin typeface="Arial" panose="020B0604020202020204" pitchFamily="34" charset="0"/>
                <a:cs typeface="Arial" panose="020B0604020202020204" pitchFamily="34" charset="0"/>
              </a:rPr>
              <a:t>Learn about some of the different data science / AI roles available in Defence and Security (D&amp;S) and the public sector</a:t>
            </a:r>
          </a:p>
        </p:txBody>
      </p:sp>
      <p:sp>
        <p:nvSpPr>
          <p:cNvPr id="8" name="Rectangle: Rounded Corners 7">
            <a:extLst>
              <a:ext uri="{FF2B5EF4-FFF2-40B4-BE49-F238E27FC236}">
                <a16:creationId xmlns:a16="http://schemas.microsoft.com/office/drawing/2014/main" id="{0A652D13-65DE-E27E-304F-DBB85CD2A857}"/>
              </a:ext>
            </a:extLst>
          </p:cNvPr>
          <p:cNvSpPr/>
          <p:nvPr/>
        </p:nvSpPr>
        <p:spPr>
          <a:xfrm>
            <a:off x="2196097" y="16093558"/>
            <a:ext cx="33588205" cy="167091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7200">
                <a:solidFill>
                  <a:schemeClr val="tx1"/>
                </a:solidFill>
                <a:latin typeface="Arial" panose="020B0604020202020204" pitchFamily="34" charset="0"/>
                <a:cs typeface="Arial" panose="020B0604020202020204" pitchFamily="34" charset="0"/>
              </a:rPr>
              <a:t>Identify a route to useful resources to support a career in this area</a:t>
            </a:r>
          </a:p>
        </p:txBody>
      </p:sp>
      <p:sp>
        <p:nvSpPr>
          <p:cNvPr id="9" name="Rectangle: Rounded Corners 8">
            <a:extLst>
              <a:ext uri="{FF2B5EF4-FFF2-40B4-BE49-F238E27FC236}">
                <a16:creationId xmlns:a16="http://schemas.microsoft.com/office/drawing/2014/main" id="{0B79B1F4-267F-DB9B-3A21-F80F973C4E00}"/>
              </a:ext>
            </a:extLst>
          </p:cNvPr>
          <p:cNvSpPr/>
          <p:nvPr/>
        </p:nvSpPr>
        <p:spPr>
          <a:xfrm>
            <a:off x="2196098" y="18174304"/>
            <a:ext cx="33588205" cy="167091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7200" dirty="0">
                <a:solidFill>
                  <a:schemeClr val="tx1"/>
                </a:solidFill>
                <a:latin typeface="Arial" panose="020B0604020202020204" pitchFamily="34" charset="0"/>
                <a:cs typeface="Arial" panose="020B0604020202020204" pitchFamily="34" charset="0"/>
              </a:rPr>
              <a:t>See an example of a researcher/professional(s) in the spotlight and ask questions</a:t>
            </a:r>
          </a:p>
        </p:txBody>
      </p:sp>
      <p:grpSp>
        <p:nvGrpSpPr>
          <p:cNvPr id="23" name="Group 22">
            <a:extLst>
              <a:ext uri="{FF2B5EF4-FFF2-40B4-BE49-F238E27FC236}">
                <a16:creationId xmlns:a16="http://schemas.microsoft.com/office/drawing/2014/main" id="{173BAAFE-1994-F19F-FF50-E1D0919BFFC0}"/>
              </a:ext>
            </a:extLst>
          </p:cNvPr>
          <p:cNvGrpSpPr/>
          <p:nvPr/>
        </p:nvGrpSpPr>
        <p:grpSpPr>
          <a:xfrm>
            <a:off x="1219200" y="20303171"/>
            <a:ext cx="35661600" cy="758938"/>
            <a:chOff x="1219200" y="20303171"/>
            <a:chExt cx="35661600" cy="758938"/>
          </a:xfrm>
        </p:grpSpPr>
        <p:cxnSp>
          <p:nvCxnSpPr>
            <p:cNvPr id="21" name="Straight Connector 20">
              <a:extLst>
                <a:ext uri="{FF2B5EF4-FFF2-40B4-BE49-F238E27FC236}">
                  <a16:creationId xmlns:a16="http://schemas.microsoft.com/office/drawing/2014/main" id="{7BA946A3-5958-ED41-88F6-9941FB8795BF}"/>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892C5BA-1B77-ACF7-1631-B1D38E0A613B}"/>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
        <p:nvSpPr>
          <p:cNvPr id="10" name="Rectangle: Rounded Corners 9">
            <a:extLst>
              <a:ext uri="{FF2B5EF4-FFF2-40B4-BE49-F238E27FC236}">
                <a16:creationId xmlns:a16="http://schemas.microsoft.com/office/drawing/2014/main" id="{719A9622-3596-DAF8-BE73-E39FCFE55B5A}"/>
              </a:ext>
            </a:extLst>
          </p:cNvPr>
          <p:cNvSpPr/>
          <p:nvPr/>
        </p:nvSpPr>
        <p:spPr>
          <a:xfrm>
            <a:off x="2223660" y="8109441"/>
            <a:ext cx="33588205" cy="2571329"/>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7200">
                <a:solidFill>
                  <a:schemeClr val="tx1"/>
                </a:solidFill>
                <a:latin typeface="Arial"/>
                <a:cs typeface="Arial"/>
              </a:rPr>
              <a:t>Learn about Critical National Infrastructure (CNI) and the increasing importance</a:t>
            </a:r>
            <a:br>
              <a:rPr lang="en-GB" sz="7200">
                <a:solidFill>
                  <a:schemeClr val="tx1"/>
                </a:solidFill>
                <a:latin typeface="Arial"/>
                <a:cs typeface="Arial"/>
              </a:rPr>
            </a:br>
            <a:r>
              <a:rPr lang="en-GB" sz="7200">
                <a:solidFill>
                  <a:schemeClr val="tx1"/>
                </a:solidFill>
                <a:latin typeface="Arial"/>
                <a:cs typeface="Arial"/>
              </a:rPr>
              <a:t>of CNI responses</a:t>
            </a:r>
          </a:p>
        </p:txBody>
      </p:sp>
    </p:spTree>
    <p:extLst>
      <p:ext uri="{BB962C8B-B14F-4D97-AF65-F5344CB8AC3E}">
        <p14:creationId xmlns:p14="http://schemas.microsoft.com/office/powerpoint/2010/main" val="414032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7E8D4B-2934-7C58-35BF-E9A9AE8171DB}"/>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21069B80-579B-EB2E-A0B2-33AAD64FA705}"/>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What do you know about data science ?</a:t>
            </a:r>
          </a:p>
        </p:txBody>
      </p:sp>
      <p:sp>
        <p:nvSpPr>
          <p:cNvPr id="4" name="Rectangle 3">
            <a:extLst>
              <a:ext uri="{FF2B5EF4-FFF2-40B4-BE49-F238E27FC236}">
                <a16:creationId xmlns:a16="http://schemas.microsoft.com/office/drawing/2014/main" id="{F0A36700-DA45-402C-63A7-8E7826CBBD21}"/>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25704AA2-BDA5-E2B8-B222-4688C2D1D0E6}"/>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AEAE164B-23A4-4A3C-FA6E-E001066F617F}"/>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8679F932-6D93-0C91-BEF0-0BA8394DBDA1}"/>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2081333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4336FF-FDDB-97BC-2717-730EFE084AA2}"/>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5">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2743"/>
            <a:ext cx="35889180" cy="3154710"/>
          </a:xfrm>
          <a:prstGeom prst="rect">
            <a:avLst/>
          </a:prstGeom>
          <a:noFill/>
        </p:spPr>
        <p:txBody>
          <a:bodyPr wrap="square" lIns="91440" tIns="45720" rIns="91440" bIns="45720" anchor="t">
            <a:spAutoFit/>
          </a:bodyPr>
          <a:lstStyle/>
          <a:p>
            <a:r>
              <a:rPr lang="en-US" sz="13300" b="1">
                <a:latin typeface="Arial"/>
                <a:cs typeface="Arial"/>
              </a:rPr>
              <a:t>What is Data Science?</a:t>
            </a:r>
            <a:endParaRPr lang="en-US" sz="13300" b="1">
              <a:highlight>
                <a:srgbClr val="FFFF00"/>
              </a:highlight>
            </a:endParaRPr>
          </a:p>
          <a:p>
            <a:endParaRPr lang="en-US" sz="6600" b="1">
              <a:solidFill>
                <a:srgbClr val="000000"/>
              </a:solidFill>
            </a:endParaRPr>
          </a:p>
        </p:txBody>
      </p:sp>
      <p:pic>
        <p:nvPicPr>
          <p:cNvPr id="6" name="Online Media 5" title="What is data science?">
            <a:hlinkClick r:id="" action="ppaction://media"/>
            <a:extLst>
              <a:ext uri="{FF2B5EF4-FFF2-40B4-BE49-F238E27FC236}">
                <a16:creationId xmlns:a16="http://schemas.microsoft.com/office/drawing/2014/main" id="{7E2769F4-89F7-40CF-0AC3-1FF125BBB82C}"/>
              </a:ext>
            </a:extLst>
          </p:cNvPr>
          <p:cNvPicPr>
            <a:picLocks noRot="1" noChangeAspect="1"/>
          </p:cNvPicPr>
          <p:nvPr>
            <a:videoFile r:link="rId1"/>
          </p:nvPr>
        </p:nvPicPr>
        <p:blipFill>
          <a:blip r:embed="rId6"/>
          <a:stretch>
            <a:fillRect/>
          </a:stretch>
        </p:blipFill>
        <p:spPr>
          <a:xfrm>
            <a:off x="9395721" y="6910391"/>
            <a:ext cx="20121019" cy="11265261"/>
          </a:xfrm>
          <a:prstGeom prst="rect">
            <a:avLst/>
          </a:prstGeom>
        </p:spPr>
      </p:pic>
      <p:grpSp>
        <p:nvGrpSpPr>
          <p:cNvPr id="9" name="Group 8">
            <a:extLst>
              <a:ext uri="{FF2B5EF4-FFF2-40B4-BE49-F238E27FC236}">
                <a16:creationId xmlns:a16="http://schemas.microsoft.com/office/drawing/2014/main" id="{5F9BE896-49FF-1077-85F6-2583ABDD04F4}"/>
              </a:ext>
            </a:extLst>
          </p:cNvPr>
          <p:cNvGrpSpPr/>
          <p:nvPr/>
        </p:nvGrpSpPr>
        <p:grpSpPr>
          <a:xfrm>
            <a:off x="1219200" y="20303171"/>
            <a:ext cx="35661600" cy="758938"/>
            <a:chOff x="1219200" y="20303171"/>
            <a:chExt cx="35661600" cy="758938"/>
          </a:xfrm>
        </p:grpSpPr>
        <p:cxnSp>
          <p:nvCxnSpPr>
            <p:cNvPr id="10" name="Straight Connector 9">
              <a:extLst>
                <a:ext uri="{FF2B5EF4-FFF2-40B4-BE49-F238E27FC236}">
                  <a16:creationId xmlns:a16="http://schemas.microsoft.com/office/drawing/2014/main" id="{5AFEC9B4-8899-A2B5-9C96-1B1B0AFCD9FD}"/>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FC5ED0C-2018-8571-159B-EBF82B586BAC}"/>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51721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extLst>
    <p:ext uri="{6950BFC3-D8DA-4A85-94F7-54DA5524770B}">
      <p188:commentRel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C6952-E47B-41BF-6247-B3A3B9886FF3}"/>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5579279D-B2D6-C5E3-399D-B1E29C736605}"/>
              </a:ext>
            </a:extLst>
          </p:cNvPr>
          <p:cNvSpPr txBox="1"/>
          <p:nvPr/>
        </p:nvSpPr>
        <p:spPr>
          <a:xfrm>
            <a:off x="961200" y="3834616"/>
            <a:ext cx="35889180" cy="1569660"/>
          </a:xfrm>
          <a:prstGeom prst="rect">
            <a:avLst/>
          </a:prstGeom>
          <a:noFill/>
        </p:spPr>
        <p:txBody>
          <a:bodyPr wrap="square" lIns="91440" tIns="45720" rIns="91440" bIns="45720" anchor="t">
            <a:spAutoFit/>
          </a:bodyPr>
          <a:lstStyle/>
          <a:p>
            <a:r>
              <a:rPr lang="en-US" sz="9600" b="1">
                <a:latin typeface="Arial"/>
                <a:cs typeface="Arial"/>
              </a:rPr>
              <a:t>Life cycle of data for problem solving</a:t>
            </a:r>
            <a:endParaRPr lang="en-US" sz="6600" b="1">
              <a:solidFill>
                <a:srgbClr val="000000"/>
              </a:solidFill>
            </a:endParaRPr>
          </a:p>
        </p:txBody>
      </p:sp>
      <p:sp>
        <p:nvSpPr>
          <p:cNvPr id="7" name="TextBox 6">
            <a:extLst>
              <a:ext uri="{FF2B5EF4-FFF2-40B4-BE49-F238E27FC236}">
                <a16:creationId xmlns:a16="http://schemas.microsoft.com/office/drawing/2014/main" id="{7BAA0A53-0BD9-2F3C-2EAC-00B9E284FAFA}"/>
              </a:ext>
            </a:extLst>
          </p:cNvPr>
          <p:cNvSpPr txBox="1"/>
          <p:nvPr/>
        </p:nvSpPr>
        <p:spPr>
          <a:xfrm>
            <a:off x="21952852" y="7487148"/>
            <a:ext cx="15283337" cy="10384726"/>
          </a:xfrm>
          <a:prstGeom prst="rect">
            <a:avLst/>
          </a:prstGeom>
          <a:noFill/>
        </p:spPr>
        <p:txBody>
          <a:bodyPr wrap="square" lIns="91440" tIns="45720" rIns="91440" bIns="45720" rtlCol="0" anchor="t">
            <a:spAutoFit/>
          </a:bodyPr>
          <a:lstStyle/>
          <a:p>
            <a:pPr marL="1371600" indent="-1371600">
              <a:lnSpc>
                <a:spcPts val="10200"/>
              </a:lnSpc>
              <a:buFont typeface="+mj-lt"/>
              <a:buAutoNum type="arabicPeriod"/>
            </a:pPr>
            <a:r>
              <a:rPr lang="en-GB" sz="7200">
                <a:latin typeface="Arial"/>
                <a:cs typeface="Arial"/>
              </a:rPr>
              <a:t>Identify the research question</a:t>
            </a:r>
          </a:p>
          <a:p>
            <a:pPr marL="1371600" indent="-1371600">
              <a:lnSpc>
                <a:spcPts val="10200"/>
              </a:lnSpc>
              <a:buFont typeface="+mj-lt"/>
              <a:buAutoNum type="arabicPeriod"/>
            </a:pPr>
            <a:r>
              <a:rPr lang="en-GB" sz="7200">
                <a:latin typeface="Arial"/>
                <a:cs typeface="Arial"/>
              </a:rPr>
              <a:t>Plan and design the model</a:t>
            </a:r>
          </a:p>
          <a:p>
            <a:pPr marL="1371600" indent="-1371600">
              <a:lnSpc>
                <a:spcPts val="10200"/>
              </a:lnSpc>
              <a:buFont typeface="+mj-lt"/>
              <a:buAutoNum type="arabicPeriod"/>
            </a:pPr>
            <a:r>
              <a:rPr lang="en-GB" sz="7200">
                <a:latin typeface="Arial"/>
                <a:cs typeface="Arial"/>
              </a:rPr>
              <a:t>Collect the relevant data</a:t>
            </a:r>
          </a:p>
          <a:p>
            <a:pPr marL="1371600" indent="-1371600">
              <a:lnSpc>
                <a:spcPts val="10200"/>
              </a:lnSpc>
              <a:buFont typeface="+mj-lt"/>
              <a:buAutoNum type="arabicPeriod"/>
            </a:pPr>
            <a:r>
              <a:rPr lang="en-GB" sz="7200">
                <a:latin typeface="Arial"/>
                <a:cs typeface="Arial"/>
              </a:rPr>
              <a:t>Clean and pre-process the data</a:t>
            </a:r>
          </a:p>
          <a:p>
            <a:pPr marL="1371600" indent="-1371600">
              <a:lnSpc>
                <a:spcPts val="10200"/>
              </a:lnSpc>
              <a:buFont typeface="+mj-lt"/>
              <a:buAutoNum type="arabicPeriod"/>
            </a:pPr>
            <a:r>
              <a:rPr lang="en-GB" sz="7200">
                <a:latin typeface="Arial"/>
                <a:cs typeface="Arial"/>
              </a:rPr>
              <a:t>Run analysis</a:t>
            </a:r>
          </a:p>
          <a:p>
            <a:pPr marL="1371600" indent="-1371600">
              <a:lnSpc>
                <a:spcPts val="10200"/>
              </a:lnSpc>
              <a:buFont typeface="+mj-lt"/>
              <a:buAutoNum type="arabicPeriod"/>
            </a:pPr>
            <a:r>
              <a:rPr lang="en-GB" sz="7200">
                <a:latin typeface="Arial"/>
                <a:cs typeface="Arial"/>
              </a:rPr>
              <a:t>Write up the results </a:t>
            </a:r>
          </a:p>
          <a:p>
            <a:pPr marL="1371600" indent="-1371600">
              <a:lnSpc>
                <a:spcPts val="10200"/>
              </a:lnSpc>
              <a:buFont typeface="+mj-lt"/>
              <a:buAutoNum type="arabicPeriod"/>
            </a:pPr>
            <a:r>
              <a:rPr lang="en-GB" sz="7200">
                <a:latin typeface="Arial"/>
                <a:cs typeface="Arial"/>
              </a:rPr>
              <a:t>Store the data</a:t>
            </a:r>
          </a:p>
          <a:p>
            <a:pPr marL="1371600" indent="-1371600">
              <a:lnSpc>
                <a:spcPts val="10200"/>
              </a:lnSpc>
              <a:buFont typeface="+mj-lt"/>
              <a:buAutoNum type="arabicPeriod"/>
            </a:pPr>
            <a:r>
              <a:rPr lang="en-GB" sz="7200">
                <a:latin typeface="Arial"/>
                <a:cs typeface="Arial"/>
              </a:rPr>
              <a:t>Consider future uses of the data </a:t>
            </a:r>
          </a:p>
        </p:txBody>
      </p:sp>
      <p:pic>
        <p:nvPicPr>
          <p:cNvPr id="15" name="Picture 14">
            <a:extLst>
              <a:ext uri="{FF2B5EF4-FFF2-40B4-BE49-F238E27FC236}">
                <a16:creationId xmlns:a16="http://schemas.microsoft.com/office/drawing/2014/main" id="{EAE8D16D-2BE9-FD49-C948-554778888E02}"/>
              </a:ext>
            </a:extLst>
          </p:cNvPr>
          <p:cNvPicPr>
            <a:picLocks noGrp="1" noRot="1" noChangeAspect="1" noMove="1" noResize="1" noEditPoints="1" noAdjustHandles="1" noChangeArrowheads="1" noChangeShapeType="1" noCrop="1"/>
          </p:cNvPicPr>
          <p:nvPr/>
        </p:nvPicPr>
        <p:blipFill>
          <a:blip r:embed="rId4"/>
          <a:srcRect t="63898" r="70688"/>
          <a:stretch>
            <a:fillRect/>
          </a:stretch>
        </p:blipFill>
        <p:spPr>
          <a:xfrm>
            <a:off x="1219200" y="14798520"/>
            <a:ext cx="5446695" cy="5184322"/>
          </a:xfrm>
          <a:prstGeom prst="rect">
            <a:avLst/>
          </a:prstGeom>
        </p:spPr>
      </p:pic>
      <p:pic>
        <p:nvPicPr>
          <p:cNvPr id="16" name="Picture 15">
            <a:extLst>
              <a:ext uri="{FF2B5EF4-FFF2-40B4-BE49-F238E27FC236}">
                <a16:creationId xmlns:a16="http://schemas.microsoft.com/office/drawing/2014/main" id="{DBF45334-A424-9B18-714F-DDBC890C1374}"/>
              </a:ext>
            </a:extLst>
          </p:cNvPr>
          <p:cNvPicPr>
            <a:picLocks noGrp="1" noRot="1" noChangeAspect="1" noMove="1" noResize="1" noEditPoints="1" noAdjustHandles="1" noChangeArrowheads="1" noChangeShapeType="1" noCrop="1"/>
          </p:cNvPicPr>
          <p:nvPr/>
        </p:nvPicPr>
        <p:blipFill rotWithShape="1">
          <a:blip r:embed="rId4"/>
          <a:srcRect t="32518" r="62616" b="36102"/>
          <a:stretch>
            <a:fillRect/>
          </a:stretch>
        </p:blipFill>
        <p:spPr>
          <a:xfrm>
            <a:off x="1219070" y="10292317"/>
            <a:ext cx="6946735" cy="4506204"/>
          </a:xfrm>
          <a:prstGeom prst="rect">
            <a:avLst/>
          </a:prstGeom>
        </p:spPr>
      </p:pic>
      <p:pic>
        <p:nvPicPr>
          <p:cNvPr id="17" name="Picture 16">
            <a:extLst>
              <a:ext uri="{FF2B5EF4-FFF2-40B4-BE49-F238E27FC236}">
                <a16:creationId xmlns:a16="http://schemas.microsoft.com/office/drawing/2014/main" id="{D718CF0E-7C88-7B53-6954-6DC47B50D6DB}"/>
              </a:ext>
            </a:extLst>
          </p:cNvPr>
          <p:cNvPicPr>
            <a:picLocks noGrp="1" noRot="1" noChangeAspect="1" noMove="1" noResize="1" noEditPoints="1" noAdjustHandles="1" noChangeArrowheads="1" noChangeShapeType="1" noCrop="1"/>
          </p:cNvPicPr>
          <p:nvPr/>
        </p:nvPicPr>
        <p:blipFill rotWithShape="1">
          <a:blip r:embed="rId4"/>
          <a:srcRect r="66049" b="67480"/>
          <a:stretch>
            <a:fillRect/>
          </a:stretch>
        </p:blipFill>
        <p:spPr>
          <a:xfrm>
            <a:off x="1219200" y="5622385"/>
            <a:ext cx="6308651" cy="4669931"/>
          </a:xfrm>
          <a:prstGeom prst="rect">
            <a:avLst/>
          </a:prstGeom>
        </p:spPr>
      </p:pic>
      <p:pic>
        <p:nvPicPr>
          <p:cNvPr id="18" name="Picture 17">
            <a:extLst>
              <a:ext uri="{FF2B5EF4-FFF2-40B4-BE49-F238E27FC236}">
                <a16:creationId xmlns:a16="http://schemas.microsoft.com/office/drawing/2014/main" id="{8861A03C-2C87-6EE0-B35A-1F372842CFB7}"/>
              </a:ext>
            </a:extLst>
          </p:cNvPr>
          <p:cNvPicPr>
            <a:picLocks noGrp="1" noRot="1" noChangeAspect="1" noMove="1" noResize="1" noEditPoints="1" noAdjustHandles="1" noChangeArrowheads="1" noChangeShapeType="1" noCrop="1"/>
          </p:cNvPicPr>
          <p:nvPr/>
        </p:nvPicPr>
        <p:blipFill rotWithShape="1">
          <a:blip r:embed="rId4"/>
          <a:srcRect l="33950" r="34610" b="69619"/>
          <a:stretch>
            <a:fillRect/>
          </a:stretch>
        </p:blipFill>
        <p:spPr>
          <a:xfrm>
            <a:off x="7527851" y="5622386"/>
            <a:ext cx="5842160" cy="4362810"/>
          </a:xfrm>
          <a:prstGeom prst="rect">
            <a:avLst/>
          </a:prstGeom>
        </p:spPr>
      </p:pic>
      <p:pic>
        <p:nvPicPr>
          <p:cNvPr id="19" name="Picture 18">
            <a:extLst>
              <a:ext uri="{FF2B5EF4-FFF2-40B4-BE49-F238E27FC236}">
                <a16:creationId xmlns:a16="http://schemas.microsoft.com/office/drawing/2014/main" id="{7010693E-AC0E-599E-FAC7-730B4C6D54AE}"/>
              </a:ext>
            </a:extLst>
          </p:cNvPr>
          <p:cNvPicPr>
            <a:picLocks noGrp="1" noRot="1" noChangeAspect="1" noMove="1" noResize="1" noEditPoints="1" noAdjustHandles="1" noChangeArrowheads="1" noChangeShapeType="1" noCrop="1"/>
          </p:cNvPicPr>
          <p:nvPr/>
        </p:nvPicPr>
        <p:blipFill rotWithShape="1">
          <a:blip r:embed="rId4"/>
          <a:srcRect l="65394" b="69620"/>
          <a:stretch>
            <a:fillRect/>
          </a:stretch>
        </p:blipFill>
        <p:spPr>
          <a:xfrm>
            <a:off x="13370011" y="5622522"/>
            <a:ext cx="6430078" cy="4362674"/>
          </a:xfrm>
          <a:prstGeom prst="rect">
            <a:avLst/>
          </a:prstGeom>
        </p:spPr>
      </p:pic>
      <p:pic>
        <p:nvPicPr>
          <p:cNvPr id="20" name="Picture 19">
            <a:extLst>
              <a:ext uri="{FF2B5EF4-FFF2-40B4-BE49-F238E27FC236}">
                <a16:creationId xmlns:a16="http://schemas.microsoft.com/office/drawing/2014/main" id="{AFC88F6A-0D7A-1E83-775E-DB7E4E7691B9}"/>
              </a:ext>
            </a:extLst>
          </p:cNvPr>
          <p:cNvPicPr>
            <a:picLocks noGrp="1" noRot="1" noChangeAspect="1" noMove="1" noResize="1" noEditPoints="1" noAdjustHandles="1" noChangeArrowheads="1" noChangeShapeType="1" noCrop="1"/>
          </p:cNvPicPr>
          <p:nvPr/>
        </p:nvPicPr>
        <p:blipFill rotWithShape="1">
          <a:blip r:embed="rId4"/>
          <a:srcRect l="64997" t="30382" b="41516"/>
          <a:stretch>
            <a:fillRect/>
          </a:stretch>
        </p:blipFill>
        <p:spPr>
          <a:xfrm>
            <a:off x="13296924" y="9985196"/>
            <a:ext cx="6504073" cy="4035604"/>
          </a:xfrm>
          <a:prstGeom prst="rect">
            <a:avLst/>
          </a:prstGeom>
        </p:spPr>
      </p:pic>
      <p:pic>
        <p:nvPicPr>
          <p:cNvPr id="21" name="Picture 20">
            <a:extLst>
              <a:ext uri="{FF2B5EF4-FFF2-40B4-BE49-F238E27FC236}">
                <a16:creationId xmlns:a16="http://schemas.microsoft.com/office/drawing/2014/main" id="{E57F9966-09CA-F331-416E-D0F3DB15F21B}"/>
              </a:ext>
            </a:extLst>
          </p:cNvPr>
          <p:cNvPicPr>
            <a:picLocks noGrp="1" noRot="1" noChangeAspect="1" noMove="1" noResize="1" noEditPoints="1" noAdjustHandles="1" noChangeArrowheads="1" noChangeShapeType="1" noCrop="1"/>
          </p:cNvPicPr>
          <p:nvPr/>
        </p:nvPicPr>
        <p:blipFill rotWithShape="1">
          <a:blip r:embed="rId4"/>
          <a:srcRect l="66842" t="58483"/>
          <a:stretch>
            <a:fillRect/>
          </a:stretch>
        </p:blipFill>
        <p:spPr>
          <a:xfrm>
            <a:off x="13639800" y="14020800"/>
            <a:ext cx="6161422" cy="5962042"/>
          </a:xfrm>
          <a:prstGeom prst="rect">
            <a:avLst/>
          </a:prstGeom>
        </p:spPr>
      </p:pic>
      <p:pic>
        <p:nvPicPr>
          <p:cNvPr id="22" name="Picture 21">
            <a:extLst>
              <a:ext uri="{FF2B5EF4-FFF2-40B4-BE49-F238E27FC236}">
                <a16:creationId xmlns:a16="http://schemas.microsoft.com/office/drawing/2014/main" id="{3755CB0E-C6B6-A020-59F7-37095FF13E0C}"/>
              </a:ext>
            </a:extLst>
          </p:cNvPr>
          <p:cNvPicPr>
            <a:picLocks noGrp="1" noRot="1" noChangeAspect="1" noMove="1" noResize="1" noEditPoints="1" noAdjustHandles="1" noChangeArrowheads="1" noChangeShapeType="1" noCrop="1"/>
          </p:cNvPicPr>
          <p:nvPr/>
        </p:nvPicPr>
        <p:blipFill rotWithShape="1">
          <a:blip r:embed="rId4"/>
          <a:srcRect l="29311" t="60623" r="33159"/>
          <a:stretch>
            <a:fillRect/>
          </a:stretch>
        </p:blipFill>
        <p:spPr>
          <a:xfrm>
            <a:off x="6665894" y="14327920"/>
            <a:ext cx="6973905" cy="5654922"/>
          </a:xfrm>
          <a:prstGeom prst="rect">
            <a:avLst/>
          </a:prstGeom>
        </p:spPr>
      </p:pic>
      <p:grpSp>
        <p:nvGrpSpPr>
          <p:cNvPr id="2" name="Group 1">
            <a:extLst>
              <a:ext uri="{FF2B5EF4-FFF2-40B4-BE49-F238E27FC236}">
                <a16:creationId xmlns:a16="http://schemas.microsoft.com/office/drawing/2014/main" id="{66F98C04-5385-9A5E-294F-0F0D5F4A6F04}"/>
              </a:ext>
            </a:extLst>
          </p:cNvPr>
          <p:cNvGrpSpPr/>
          <p:nvPr/>
        </p:nvGrpSpPr>
        <p:grpSpPr>
          <a:xfrm>
            <a:off x="0" y="0"/>
            <a:ext cx="38015863" cy="3729671"/>
            <a:chOff x="0" y="0"/>
            <a:chExt cx="38015863" cy="3729671"/>
          </a:xfrm>
        </p:grpSpPr>
        <p:pic>
          <p:nvPicPr>
            <p:cNvPr id="8" name="Picture 7" descr="Shape&#10;&#10;Description automatically generated with low confidence">
              <a:extLst>
                <a:ext uri="{FF2B5EF4-FFF2-40B4-BE49-F238E27FC236}">
                  <a16:creationId xmlns:a16="http://schemas.microsoft.com/office/drawing/2014/main" id="{D4117CDD-636B-BBF2-EC1D-7BB37928D71E}"/>
                </a:ext>
              </a:extLst>
            </p:cNvPr>
            <p:cNvPicPr>
              <a:picLocks noChangeAspect="1"/>
            </p:cNvPicPr>
            <p:nvPr/>
          </p:nvPicPr>
          <p:blipFill rotWithShape="1">
            <a:blip r:embed="rId5">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9" name="Straight Connector 8">
              <a:extLst>
                <a:ext uri="{FF2B5EF4-FFF2-40B4-BE49-F238E27FC236}">
                  <a16:creationId xmlns:a16="http://schemas.microsoft.com/office/drawing/2014/main" id="{D9E0CA4D-F9CD-FF17-BBA9-F33F16A05A7B}"/>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6281D6F3-C387-964E-56C0-4340D85BD7AF}"/>
              </a:ext>
            </a:extLst>
          </p:cNvPr>
          <p:cNvGrpSpPr/>
          <p:nvPr/>
        </p:nvGrpSpPr>
        <p:grpSpPr>
          <a:xfrm>
            <a:off x="1219200" y="20303171"/>
            <a:ext cx="35661600" cy="758938"/>
            <a:chOff x="1219200" y="20303171"/>
            <a:chExt cx="35661600" cy="758938"/>
          </a:xfrm>
        </p:grpSpPr>
        <p:cxnSp>
          <p:nvCxnSpPr>
            <p:cNvPr id="23" name="Straight Connector 22">
              <a:extLst>
                <a:ext uri="{FF2B5EF4-FFF2-40B4-BE49-F238E27FC236}">
                  <a16:creationId xmlns:a16="http://schemas.microsoft.com/office/drawing/2014/main" id="{94F6A7A0-8BED-0E99-4EC6-9FD2EC2FCC66}"/>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89B37D7-8212-3E5B-26BD-38FB34C81D8B}"/>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79088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6C7A3821-465F-4A90-AEB1-587636604B24}"/>
              </a:ext>
            </a:extLst>
          </p:cNvPr>
          <p:cNvSpPr txBox="1"/>
          <p:nvPr/>
        </p:nvSpPr>
        <p:spPr>
          <a:xfrm>
            <a:off x="961200" y="3834616"/>
            <a:ext cx="35889180" cy="1569660"/>
          </a:xfrm>
          <a:prstGeom prst="rect">
            <a:avLst/>
          </a:prstGeom>
          <a:noFill/>
        </p:spPr>
        <p:txBody>
          <a:bodyPr wrap="square" lIns="91440" tIns="45720" rIns="91440" bIns="45720" anchor="t">
            <a:spAutoFit/>
          </a:bodyPr>
          <a:lstStyle/>
          <a:p>
            <a:r>
              <a:rPr lang="en-US" sz="9600" b="1">
                <a:latin typeface="Arial"/>
                <a:cs typeface="Arial"/>
              </a:rPr>
              <a:t>Aspects of Data Science</a:t>
            </a:r>
          </a:p>
        </p:txBody>
      </p:sp>
      <p:sp>
        <p:nvSpPr>
          <p:cNvPr id="4" name="TextBox 3">
            <a:extLst>
              <a:ext uri="{FF2B5EF4-FFF2-40B4-BE49-F238E27FC236}">
                <a16:creationId xmlns:a16="http://schemas.microsoft.com/office/drawing/2014/main" id="{3E152B00-37FD-50C2-674F-7082BDE354FC}"/>
              </a:ext>
            </a:extLst>
          </p:cNvPr>
          <p:cNvSpPr txBox="1"/>
          <p:nvPr/>
        </p:nvSpPr>
        <p:spPr>
          <a:xfrm>
            <a:off x="27360223" y="6748501"/>
            <a:ext cx="9045291" cy="2308324"/>
          </a:xfrm>
          <a:prstGeom prst="rect">
            <a:avLst/>
          </a:prstGeom>
          <a:noFill/>
          <a:ln>
            <a:solidFill>
              <a:srgbClr val="5CC2C2"/>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What sort of data do I have?</a:t>
            </a:r>
            <a:endParaRPr lang="en-GB"/>
          </a:p>
          <a:p>
            <a:pPr marL="571500" indent="-571500">
              <a:buFont typeface="System Font Regular"/>
              <a:buChar char="-"/>
            </a:pPr>
            <a:r>
              <a:rPr lang="en-GB" sz="4800">
                <a:latin typeface="Arial"/>
                <a:cs typeface="Arial"/>
              </a:rPr>
              <a:t>What kind of methods should I use to analyse it?</a:t>
            </a:r>
          </a:p>
        </p:txBody>
      </p:sp>
      <p:sp>
        <p:nvSpPr>
          <p:cNvPr id="5" name="TextBox 4">
            <a:extLst>
              <a:ext uri="{FF2B5EF4-FFF2-40B4-BE49-F238E27FC236}">
                <a16:creationId xmlns:a16="http://schemas.microsoft.com/office/drawing/2014/main" id="{8B4EC289-6DC4-C77D-F6C0-F39226E31C05}"/>
              </a:ext>
            </a:extLst>
          </p:cNvPr>
          <p:cNvSpPr txBox="1"/>
          <p:nvPr/>
        </p:nvSpPr>
        <p:spPr>
          <a:xfrm>
            <a:off x="27347700" y="15463480"/>
            <a:ext cx="9090121" cy="3046988"/>
          </a:xfrm>
          <a:prstGeom prst="rect">
            <a:avLst/>
          </a:prstGeom>
          <a:noFill/>
          <a:ln>
            <a:solidFill>
              <a:srgbClr val="6F8BC2"/>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What are sensible assumptions to make? </a:t>
            </a:r>
            <a:endParaRPr lang="en-GB"/>
          </a:p>
          <a:p>
            <a:pPr marL="571500" indent="-571500">
              <a:buFont typeface="System Font Regular"/>
              <a:buChar char="-"/>
            </a:pPr>
            <a:r>
              <a:rPr lang="en-GB" sz="4800">
                <a:latin typeface="Arial"/>
                <a:cs typeface="Arial"/>
              </a:rPr>
              <a:t>What are the biases in this sort of data?</a:t>
            </a:r>
          </a:p>
        </p:txBody>
      </p:sp>
      <p:sp>
        <p:nvSpPr>
          <p:cNvPr id="7" name="TextBox 6">
            <a:extLst>
              <a:ext uri="{FF2B5EF4-FFF2-40B4-BE49-F238E27FC236}">
                <a16:creationId xmlns:a16="http://schemas.microsoft.com/office/drawing/2014/main" id="{7B41BBD1-C67C-86B3-275C-830EBEA55FC2}"/>
              </a:ext>
            </a:extLst>
          </p:cNvPr>
          <p:cNvSpPr txBox="1"/>
          <p:nvPr/>
        </p:nvSpPr>
        <p:spPr>
          <a:xfrm>
            <a:off x="1594110" y="15556077"/>
            <a:ext cx="10184539" cy="3046988"/>
          </a:xfrm>
          <a:prstGeom prst="rect">
            <a:avLst/>
          </a:prstGeom>
          <a:noFill/>
          <a:ln>
            <a:solidFill>
              <a:srgbClr val="634EA5"/>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Have we done something like this before?</a:t>
            </a:r>
            <a:endParaRPr lang="en-GB">
              <a:latin typeface="Arial"/>
              <a:cs typeface="Arial"/>
            </a:endParaRPr>
          </a:p>
          <a:p>
            <a:pPr marL="571500" indent="-571500">
              <a:buFont typeface="System Font Regular"/>
              <a:buChar char="-"/>
            </a:pPr>
            <a:r>
              <a:rPr lang="en-GB" sz="4800">
                <a:latin typeface="Arial"/>
                <a:cs typeface="Arial"/>
              </a:rPr>
              <a:t>What additional software do I need to create?</a:t>
            </a:r>
          </a:p>
        </p:txBody>
      </p:sp>
      <p:sp>
        <p:nvSpPr>
          <p:cNvPr id="8" name="TextBox 7">
            <a:extLst>
              <a:ext uri="{FF2B5EF4-FFF2-40B4-BE49-F238E27FC236}">
                <a16:creationId xmlns:a16="http://schemas.microsoft.com/office/drawing/2014/main" id="{89D488CB-B267-12EC-E1DD-875894587F85}"/>
              </a:ext>
            </a:extLst>
          </p:cNvPr>
          <p:cNvSpPr txBox="1"/>
          <p:nvPr/>
        </p:nvSpPr>
        <p:spPr>
          <a:xfrm>
            <a:off x="1621758" y="11365825"/>
            <a:ext cx="10228547" cy="3046988"/>
          </a:xfrm>
          <a:prstGeom prst="rect">
            <a:avLst/>
          </a:prstGeom>
          <a:noFill/>
          <a:ln>
            <a:solidFill>
              <a:srgbClr val="C2628E"/>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What is the best programming language to use?</a:t>
            </a:r>
            <a:endParaRPr lang="en-GB"/>
          </a:p>
          <a:p>
            <a:pPr marL="571500" indent="-571500">
              <a:buFont typeface="System Font Regular"/>
              <a:buChar char="-"/>
            </a:pPr>
            <a:r>
              <a:rPr lang="en-GB" sz="4800">
                <a:latin typeface="Arial"/>
                <a:cs typeface="Arial"/>
              </a:rPr>
              <a:t>What libraries or packages might be helpful?</a:t>
            </a:r>
          </a:p>
        </p:txBody>
      </p:sp>
      <p:sp>
        <p:nvSpPr>
          <p:cNvPr id="9" name="TextBox 8">
            <a:extLst>
              <a:ext uri="{FF2B5EF4-FFF2-40B4-BE49-F238E27FC236}">
                <a16:creationId xmlns:a16="http://schemas.microsoft.com/office/drawing/2014/main" id="{520625CA-870C-0614-816C-AF480BEBC7A8}"/>
              </a:ext>
            </a:extLst>
          </p:cNvPr>
          <p:cNvSpPr txBox="1"/>
          <p:nvPr/>
        </p:nvSpPr>
        <p:spPr>
          <a:xfrm>
            <a:off x="1576744" y="6708827"/>
            <a:ext cx="10228546" cy="3046988"/>
          </a:xfrm>
          <a:prstGeom prst="rect">
            <a:avLst/>
          </a:prstGeom>
          <a:noFill/>
          <a:ln>
            <a:solidFill>
              <a:srgbClr val="6086A5"/>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Can AI methods help to model this?</a:t>
            </a:r>
            <a:endParaRPr lang="en-GB">
              <a:latin typeface="Arial"/>
              <a:cs typeface="Arial"/>
            </a:endParaRPr>
          </a:p>
          <a:p>
            <a:pPr marL="571500" indent="-571500">
              <a:buFont typeface="System Font Regular"/>
              <a:buChar char="-"/>
            </a:pPr>
            <a:r>
              <a:rPr lang="en-GB" sz="4800">
                <a:latin typeface="Arial"/>
                <a:cs typeface="Arial"/>
              </a:rPr>
              <a:t>Is traditional statistics more appropriate</a:t>
            </a:r>
            <a:r>
              <a:rPr lang="en-GB" sz="4000">
                <a:latin typeface="Arial"/>
                <a:cs typeface="Arial"/>
              </a:rPr>
              <a:t>?</a:t>
            </a:r>
          </a:p>
        </p:txBody>
      </p:sp>
      <p:sp>
        <p:nvSpPr>
          <p:cNvPr id="10" name="TextBox 9">
            <a:extLst>
              <a:ext uri="{FF2B5EF4-FFF2-40B4-BE49-F238E27FC236}">
                <a16:creationId xmlns:a16="http://schemas.microsoft.com/office/drawing/2014/main" id="{2F26BD29-14A1-F451-FCED-4AFC8F355C4F}"/>
              </a:ext>
            </a:extLst>
          </p:cNvPr>
          <p:cNvSpPr txBox="1"/>
          <p:nvPr/>
        </p:nvSpPr>
        <p:spPr>
          <a:xfrm>
            <a:off x="27363894" y="10789597"/>
            <a:ext cx="9090121" cy="3046988"/>
          </a:xfrm>
          <a:prstGeom prst="rect">
            <a:avLst/>
          </a:prstGeom>
          <a:noFill/>
          <a:ln>
            <a:solidFill>
              <a:srgbClr val="398EC3"/>
            </a:solidFill>
          </a:ln>
        </p:spPr>
        <p:txBody>
          <a:bodyPr wrap="square" lIns="91440" tIns="45720" rIns="91440" bIns="45720" rtlCol="0" anchor="ctr">
            <a:spAutoFit/>
          </a:bodyPr>
          <a:lstStyle/>
          <a:p>
            <a:pPr marL="571500" indent="-571500">
              <a:buFont typeface="System Font Regular"/>
              <a:buChar char="-"/>
            </a:pPr>
            <a:r>
              <a:rPr lang="en-GB" sz="4800">
                <a:latin typeface="Arial"/>
                <a:cs typeface="Arial"/>
              </a:rPr>
              <a:t>How do I need to transform the data?</a:t>
            </a:r>
            <a:endParaRPr lang="en-GB"/>
          </a:p>
          <a:p>
            <a:pPr marL="571500" indent="-571500">
              <a:buFont typeface="System Font Regular"/>
              <a:buChar char="-"/>
            </a:pPr>
            <a:r>
              <a:rPr lang="en-GB" sz="4800">
                <a:latin typeface="Arial"/>
                <a:cs typeface="Arial"/>
              </a:rPr>
              <a:t>Do we have missing data to think about?</a:t>
            </a:r>
          </a:p>
        </p:txBody>
      </p:sp>
      <p:grpSp>
        <p:nvGrpSpPr>
          <p:cNvPr id="3" name="Group 2">
            <a:extLst>
              <a:ext uri="{FF2B5EF4-FFF2-40B4-BE49-F238E27FC236}">
                <a16:creationId xmlns:a16="http://schemas.microsoft.com/office/drawing/2014/main" id="{9A0C9A2E-D5B8-9574-3501-2B5E844D1AB3}"/>
              </a:ext>
            </a:extLst>
          </p:cNvPr>
          <p:cNvGrpSpPr/>
          <p:nvPr/>
        </p:nvGrpSpPr>
        <p:grpSpPr>
          <a:xfrm>
            <a:off x="0" y="0"/>
            <a:ext cx="38015863" cy="3729671"/>
            <a:chOff x="0" y="0"/>
            <a:chExt cx="38015863" cy="3729671"/>
          </a:xfrm>
        </p:grpSpPr>
        <p:pic>
          <p:nvPicPr>
            <p:cNvPr id="6" name="Picture 5" descr="Shape&#10;&#10;Description automatically generated with low confidence">
              <a:extLst>
                <a:ext uri="{FF2B5EF4-FFF2-40B4-BE49-F238E27FC236}">
                  <a16:creationId xmlns:a16="http://schemas.microsoft.com/office/drawing/2014/main" id="{B3FF3E84-1852-5BBB-826C-BE9EDC780FD0}"/>
                </a:ext>
              </a:extLst>
            </p:cNvPr>
            <p:cNvPicPr>
              <a:picLocks noChangeAspect="1"/>
            </p:cNvPicPr>
            <p:nvPr/>
          </p:nvPicPr>
          <p:blipFill rotWithShape="1">
            <a:blip r:embed="rId4">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1" name="Straight Connector 10">
              <a:extLst>
                <a:ext uri="{FF2B5EF4-FFF2-40B4-BE49-F238E27FC236}">
                  <a16:creationId xmlns:a16="http://schemas.microsoft.com/office/drawing/2014/main" id="{896BFDBF-3C28-6201-4B3D-0BFD84367A51}"/>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C3B58CF6-AE0E-3490-1FBD-F6C1DAC2623D}"/>
              </a:ext>
            </a:extLst>
          </p:cNvPr>
          <p:cNvGrpSpPr/>
          <p:nvPr/>
        </p:nvGrpSpPr>
        <p:grpSpPr>
          <a:xfrm>
            <a:off x="1219200" y="20303171"/>
            <a:ext cx="35661600" cy="758938"/>
            <a:chOff x="1219200" y="20303171"/>
            <a:chExt cx="35661600" cy="758938"/>
          </a:xfrm>
        </p:grpSpPr>
        <p:cxnSp>
          <p:nvCxnSpPr>
            <p:cNvPr id="18" name="Straight Connector 17">
              <a:extLst>
                <a:ext uri="{FF2B5EF4-FFF2-40B4-BE49-F238E27FC236}">
                  <a16:creationId xmlns:a16="http://schemas.microsoft.com/office/drawing/2014/main" id="{01F9A839-007A-CDB3-157B-1EA9A80531CC}"/>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A77DE48-E53F-5F92-BF09-37FAF7E10F80}"/>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pic>
        <p:nvPicPr>
          <p:cNvPr id="12" name="Picture 11" descr="A diagram of data science&#10;&#10;AI-generated content may be incorrect.">
            <a:extLst>
              <a:ext uri="{FF2B5EF4-FFF2-40B4-BE49-F238E27FC236}">
                <a16:creationId xmlns:a16="http://schemas.microsoft.com/office/drawing/2014/main" id="{A63E357A-F938-520E-D89F-F6A0CB87A785}"/>
              </a:ext>
            </a:extLst>
          </p:cNvPr>
          <p:cNvPicPr>
            <a:picLocks noChangeAspect="1"/>
          </p:cNvPicPr>
          <p:nvPr/>
        </p:nvPicPr>
        <p:blipFill>
          <a:blip r:embed="rId5"/>
          <a:stretch>
            <a:fillRect/>
          </a:stretch>
        </p:blipFill>
        <p:spPr>
          <a:xfrm>
            <a:off x="13044631" y="6429499"/>
            <a:ext cx="13351339" cy="12228601"/>
          </a:xfrm>
          <a:prstGeom prst="rect">
            <a:avLst/>
          </a:prstGeom>
        </p:spPr>
      </p:pic>
    </p:spTree>
    <p:extLst>
      <p:ext uri="{BB962C8B-B14F-4D97-AF65-F5344CB8AC3E}">
        <p14:creationId xmlns:p14="http://schemas.microsoft.com/office/powerpoint/2010/main" val="712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F09733-54FC-3C9E-DF82-F364B9BE9A0D}"/>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D54E1941-052A-096B-0544-8B9088B76257}"/>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b="1">
                <a:solidFill>
                  <a:srgbClr val="000000"/>
                </a:solidFill>
              </a:rPr>
              <a:t>what comes to mind when you think of the term "Critical National Infrastructure (CNI)" ?</a:t>
            </a:r>
          </a:p>
        </p:txBody>
      </p:sp>
      <p:sp>
        <p:nvSpPr>
          <p:cNvPr id="4" name="Rectangle 3">
            <a:extLst>
              <a:ext uri="{FF2B5EF4-FFF2-40B4-BE49-F238E27FC236}">
                <a16:creationId xmlns:a16="http://schemas.microsoft.com/office/drawing/2014/main" id="{23494A85-8999-68BC-B36A-EBBB9F395B75}"/>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9872C3B2-2C86-B00F-8CE5-AA9B22FB8C4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4C566A36-BE70-C50D-985F-FDC35B6EB00F}"/>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B6ED6D12-690B-602D-B39F-7AB07678007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1885783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C1C4-7DF3-E61A-1BA6-D5086D1BBB0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C61861C-99A4-A776-582C-E3F8088FF975}"/>
              </a:ext>
            </a:extLst>
          </p:cNvPr>
          <p:cNvPicPr>
            <a:picLocks noChangeAspect="1"/>
          </p:cNvPicPr>
          <p:nvPr/>
        </p:nvPicPr>
        <p:blipFill>
          <a:blip r:embed="rId4"/>
          <a:stretch>
            <a:fillRect/>
          </a:stretch>
        </p:blipFill>
        <p:spPr>
          <a:xfrm>
            <a:off x="19176735" y="7142782"/>
            <a:ext cx="18587939" cy="10063192"/>
          </a:xfrm>
          <a:prstGeom prst="rect">
            <a:avLst/>
          </a:prstGeom>
        </p:spPr>
      </p:pic>
      <p:grpSp>
        <p:nvGrpSpPr>
          <p:cNvPr id="5" name="Group 4">
            <a:extLst>
              <a:ext uri="{FF2B5EF4-FFF2-40B4-BE49-F238E27FC236}">
                <a16:creationId xmlns:a16="http://schemas.microsoft.com/office/drawing/2014/main" id="{A74C2CD6-C539-0940-F49E-ADF1C2105DDE}"/>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922FC36A-3169-84C7-A228-1EC1AC3784B0}"/>
                </a:ext>
              </a:extLst>
            </p:cNvPr>
            <p:cNvPicPr>
              <a:picLocks noChangeAspect="1"/>
            </p:cNvPicPr>
            <p:nvPr/>
          </p:nvPicPr>
          <p:blipFill rotWithShape="1">
            <a:blip r:embed="rId5">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1A29B2D7-384C-50B5-89C8-A4ABD061D910}"/>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98A93EE-7FAA-0F58-15ED-912138991920}"/>
              </a:ext>
            </a:extLst>
          </p:cNvPr>
          <p:cNvSpPr txBox="1"/>
          <p:nvPr/>
        </p:nvSpPr>
        <p:spPr>
          <a:xfrm>
            <a:off x="961230" y="3832743"/>
            <a:ext cx="35889180" cy="1569660"/>
          </a:xfrm>
          <a:prstGeom prst="rect">
            <a:avLst/>
          </a:prstGeom>
          <a:noFill/>
        </p:spPr>
        <p:txBody>
          <a:bodyPr wrap="square" lIns="91440" tIns="45720" rIns="91440" bIns="45720" anchor="t">
            <a:spAutoFit/>
          </a:bodyPr>
          <a:lstStyle/>
          <a:p>
            <a:r>
              <a:rPr lang="en-GB" sz="9600" b="1">
                <a:latin typeface="Aptos"/>
                <a:cs typeface="Arial"/>
              </a:rPr>
              <a:t>What is </a:t>
            </a:r>
            <a:r>
              <a:rPr lang="en-US" sz="9600" b="1">
                <a:latin typeface="Aptos"/>
                <a:cs typeface="Arial"/>
              </a:rPr>
              <a:t>Critical National Infrastructure?</a:t>
            </a:r>
            <a:endParaRPr lang="en-US" sz="6600" b="1">
              <a:solidFill>
                <a:srgbClr val="000000"/>
              </a:solidFill>
              <a:latin typeface="Aptos"/>
              <a:cs typeface="Arial"/>
            </a:endParaRPr>
          </a:p>
        </p:txBody>
      </p:sp>
      <p:grpSp>
        <p:nvGrpSpPr>
          <p:cNvPr id="10" name="Group 9">
            <a:extLst>
              <a:ext uri="{FF2B5EF4-FFF2-40B4-BE49-F238E27FC236}">
                <a16:creationId xmlns:a16="http://schemas.microsoft.com/office/drawing/2014/main" id="{C4BF3E40-C149-043E-2E23-2D18121CF670}"/>
              </a:ext>
            </a:extLst>
          </p:cNvPr>
          <p:cNvGrpSpPr/>
          <p:nvPr/>
        </p:nvGrpSpPr>
        <p:grpSpPr>
          <a:xfrm>
            <a:off x="1219200" y="20303171"/>
            <a:ext cx="35661600" cy="758938"/>
            <a:chOff x="1219200" y="20303171"/>
            <a:chExt cx="35661600" cy="758938"/>
          </a:xfrm>
        </p:grpSpPr>
        <p:cxnSp>
          <p:nvCxnSpPr>
            <p:cNvPr id="12" name="Straight Connector 11">
              <a:extLst>
                <a:ext uri="{FF2B5EF4-FFF2-40B4-BE49-F238E27FC236}">
                  <a16:creationId xmlns:a16="http://schemas.microsoft.com/office/drawing/2014/main" id="{0C522AAC-BD06-02E2-2E1A-AC476B4B68A8}"/>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5325B4-95B6-48CA-BE1F-174422EE3041}"/>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
        <p:nvSpPr>
          <p:cNvPr id="9" name="TextBox 8">
            <a:extLst>
              <a:ext uri="{FF2B5EF4-FFF2-40B4-BE49-F238E27FC236}">
                <a16:creationId xmlns:a16="http://schemas.microsoft.com/office/drawing/2014/main" id="{18B6BDEA-5EDE-DE27-FED5-CA0F6411EA24}"/>
              </a:ext>
            </a:extLst>
          </p:cNvPr>
          <p:cNvSpPr txBox="1"/>
          <p:nvPr/>
        </p:nvSpPr>
        <p:spPr>
          <a:xfrm>
            <a:off x="967736" y="5756697"/>
            <a:ext cx="33203059" cy="14003834"/>
          </a:xfrm>
          <a:prstGeom prst="rect">
            <a:avLst/>
          </a:prstGeom>
          <a:noFill/>
        </p:spPr>
        <p:txBody>
          <a:bodyPr wrap="square" lIns="91440" tIns="45720" rIns="91440" bIns="45720" anchor="t">
            <a:spAutoFit/>
          </a:bodyPr>
          <a:lstStyle/>
          <a:p>
            <a:pPr marL="857250" lvl="0" indent="-857250">
              <a:buFont typeface="Arial" panose="020B0604020202020204" pitchFamily="34" charset="0"/>
              <a:buChar char="•"/>
            </a:pPr>
            <a:r>
              <a:rPr lang="en-GB" sz="6400" kern="1200" dirty="0">
                <a:effectLst/>
                <a:latin typeface="Aptos Display"/>
                <a:cs typeface="+mn-cs"/>
              </a:rPr>
              <a:t>Energy (electricity, gas, oil)</a:t>
            </a:r>
          </a:p>
          <a:p>
            <a:pPr marL="857250" lvl="0" indent="-857250">
              <a:buFont typeface="Arial" panose="020B0604020202020204" pitchFamily="34" charset="0"/>
              <a:buChar char="•"/>
            </a:pPr>
            <a:r>
              <a:rPr lang="en-GB" sz="6400" kern="1200" dirty="0">
                <a:effectLst/>
                <a:latin typeface="Aptos Display"/>
                <a:cs typeface="+mn-cs"/>
              </a:rPr>
              <a:t>Civil nuclear (power stations)</a:t>
            </a:r>
          </a:p>
          <a:p>
            <a:pPr marL="857250" lvl="0" indent="-857250">
              <a:buFont typeface="Arial" panose="020B0604020202020204" pitchFamily="34" charset="0"/>
              <a:buChar char="•"/>
            </a:pPr>
            <a:r>
              <a:rPr lang="en-GB" sz="6400" kern="1200" dirty="0">
                <a:effectLst/>
                <a:latin typeface="Aptos Display"/>
                <a:cs typeface="+mn-cs"/>
              </a:rPr>
              <a:t>Chemical and nuclear sites</a:t>
            </a:r>
          </a:p>
          <a:p>
            <a:pPr marL="857250" lvl="0" indent="-857250">
              <a:buFont typeface="Arial" panose="020B0604020202020204" pitchFamily="34" charset="0"/>
              <a:buChar char="•"/>
            </a:pPr>
            <a:r>
              <a:rPr lang="en-GB" sz="6400" kern="1200" dirty="0">
                <a:effectLst/>
                <a:latin typeface="Aptos Display"/>
                <a:cs typeface="+mn-cs"/>
              </a:rPr>
              <a:t>Water supply</a:t>
            </a:r>
          </a:p>
          <a:p>
            <a:pPr marL="857250" lvl="0" indent="-857250">
              <a:buFont typeface="Arial" panose="020B0604020202020204" pitchFamily="34" charset="0"/>
              <a:buChar char="•"/>
            </a:pPr>
            <a:r>
              <a:rPr lang="en-GB" sz="6400" kern="1200" dirty="0">
                <a:effectLst/>
                <a:latin typeface="Aptos Display"/>
                <a:cs typeface="+mn-cs"/>
              </a:rPr>
              <a:t>Transport (roads, rail, airports, ports)</a:t>
            </a:r>
          </a:p>
          <a:p>
            <a:pPr marL="857250" lvl="0" indent="-857250">
              <a:buFont typeface="Arial" panose="020B0604020202020204" pitchFamily="34" charset="0"/>
              <a:buChar char="•"/>
            </a:pPr>
            <a:r>
              <a:rPr lang="en-GB" sz="6400" kern="1200" dirty="0">
                <a:effectLst/>
                <a:latin typeface="Aptos Display"/>
                <a:cs typeface="+mn-cs"/>
              </a:rPr>
              <a:t>Communications (internet, phones, mobile networks) </a:t>
            </a:r>
          </a:p>
          <a:p>
            <a:pPr marL="857250" lvl="0" indent="-857250">
              <a:buFont typeface="Arial" panose="020B0604020202020204" pitchFamily="34" charset="0"/>
              <a:buChar char="•"/>
            </a:pPr>
            <a:r>
              <a:rPr lang="en-GB" sz="6400" dirty="0">
                <a:latin typeface="Aptos Display"/>
                <a:cs typeface="Arial"/>
              </a:rPr>
              <a:t>Space (satellites for GPS, communications)</a:t>
            </a:r>
          </a:p>
          <a:p>
            <a:pPr marL="857250" lvl="0" indent="-857250">
              <a:buFont typeface="Arial" panose="020B0604020202020204" pitchFamily="34" charset="0"/>
              <a:buChar char="•"/>
            </a:pPr>
            <a:r>
              <a:rPr lang="en-GB" sz="6400" dirty="0">
                <a:latin typeface="Aptos Display"/>
                <a:cs typeface="Arial"/>
              </a:rPr>
              <a:t>Health (hospitals, NHS systems)</a:t>
            </a:r>
          </a:p>
          <a:p>
            <a:pPr marL="857250" lvl="0" indent="-857250">
              <a:buFont typeface="Arial" panose="020B0604020202020204" pitchFamily="34" charset="0"/>
              <a:buChar char="•"/>
            </a:pPr>
            <a:r>
              <a:rPr lang="en-GB" sz="6400" dirty="0">
                <a:latin typeface="Aptos Display"/>
                <a:cs typeface="Arial"/>
              </a:rPr>
              <a:t>Food supply chains</a:t>
            </a:r>
          </a:p>
          <a:p>
            <a:pPr marL="857250" lvl="0" indent="-857250">
              <a:buFont typeface="Arial" panose="020B0604020202020204" pitchFamily="34" charset="0"/>
              <a:buChar char="•"/>
            </a:pPr>
            <a:r>
              <a:rPr lang="en-GB" sz="6400" dirty="0">
                <a:latin typeface="Aptos Display"/>
                <a:cs typeface="Arial"/>
              </a:rPr>
              <a:t>Financial services (banks, stock exchange)</a:t>
            </a:r>
          </a:p>
          <a:p>
            <a:pPr marL="857250" lvl="0" indent="-857250">
              <a:buFont typeface="Arial" panose="020B0604020202020204" pitchFamily="34" charset="0"/>
              <a:buChar char="•"/>
            </a:pPr>
            <a:r>
              <a:rPr lang="en-GB" sz="6400" dirty="0">
                <a:latin typeface="Aptos Display"/>
                <a:cs typeface="Arial"/>
              </a:rPr>
              <a:t>Government functions</a:t>
            </a:r>
          </a:p>
          <a:p>
            <a:pPr marL="857250" lvl="0" indent="-857250">
              <a:buFont typeface="Arial" panose="020B0604020202020204" pitchFamily="34" charset="0"/>
              <a:buChar char="•"/>
            </a:pPr>
            <a:r>
              <a:rPr lang="en-GB" sz="6400" dirty="0">
                <a:latin typeface="Aptos Display"/>
                <a:cs typeface="Arial"/>
              </a:rPr>
              <a:t>Emergency services</a:t>
            </a:r>
          </a:p>
          <a:p>
            <a:pPr marL="857250" lvl="0" indent="-857250">
              <a:buFont typeface="Arial" panose="020B0604020202020204" pitchFamily="34" charset="0"/>
              <a:buChar char="•"/>
            </a:pPr>
            <a:r>
              <a:rPr lang="en-GB" sz="6400" dirty="0">
                <a:latin typeface="Aptos Display"/>
                <a:cs typeface="Arial"/>
              </a:rPr>
              <a:t>Defence </a:t>
            </a:r>
          </a:p>
          <a:p>
            <a:pPr marL="228600" lvl="0" indent="-228600">
              <a:buFont typeface="+mj-lt"/>
              <a:buAutoNum type="arabicPeriod"/>
            </a:pPr>
            <a:endParaRPr lang="en-GB" sz="7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1237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 calcmode="lin" valueType="num">
                                      <p:cBhvr additive="base">
                                        <p:cTn id="31"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 calcmode="lin" valueType="num">
                                      <p:cBhvr additive="base">
                                        <p:cTn id="3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anim calcmode="lin" valueType="num">
                                      <p:cBhvr additive="base">
                                        <p:cTn id="39"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anim calcmode="lin" valueType="num">
                                      <p:cBhvr additive="base">
                                        <p:cTn id="43"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anim calcmode="lin" valueType="num">
                                      <p:cBhvr additive="base">
                                        <p:cTn id="4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anim calcmode="lin" valueType="num">
                                      <p:cBhvr additive="base">
                                        <p:cTn id="51"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anim calcmode="lin" valueType="num">
                                      <p:cBhvr additive="base">
                                        <p:cTn id="55"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3411FF2-3329-5CEB-3FC1-5A9FFBCAB32B}"/>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4">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2743"/>
            <a:ext cx="35889180" cy="2585323"/>
          </a:xfrm>
          <a:prstGeom prst="rect">
            <a:avLst/>
          </a:prstGeom>
          <a:noFill/>
        </p:spPr>
        <p:txBody>
          <a:bodyPr wrap="square" lIns="91440" tIns="45720" rIns="91440" bIns="45720" anchor="t">
            <a:spAutoFit/>
          </a:bodyPr>
          <a:lstStyle/>
          <a:p>
            <a:r>
              <a:rPr lang="en-US" sz="9600" b="1">
                <a:latin typeface="Arial"/>
                <a:cs typeface="Arial"/>
              </a:rPr>
              <a:t>CNI - Data Science and AI in everyday life…</a:t>
            </a:r>
            <a:endParaRPr lang="en-US" sz="9600" b="1">
              <a:highlight>
                <a:srgbClr val="FFFF00"/>
              </a:highlight>
            </a:endParaRPr>
          </a:p>
          <a:p>
            <a:endParaRPr lang="en-US" sz="6600" b="1">
              <a:solidFill>
                <a:srgbClr val="000000"/>
              </a:solidFill>
            </a:endParaRPr>
          </a:p>
        </p:txBody>
      </p:sp>
      <p:pic>
        <p:nvPicPr>
          <p:cNvPr id="16" name="Picture 15">
            <a:extLst>
              <a:ext uri="{FF2B5EF4-FFF2-40B4-BE49-F238E27FC236}">
                <a16:creationId xmlns:a16="http://schemas.microsoft.com/office/drawing/2014/main" id="{6376A1DF-55A0-D805-0234-C0F9C01C8037}"/>
              </a:ext>
            </a:extLst>
          </p:cNvPr>
          <p:cNvPicPr>
            <a:picLocks noChangeAspect="1"/>
          </p:cNvPicPr>
          <p:nvPr/>
        </p:nvPicPr>
        <p:blipFill>
          <a:blip r:embed="rId5"/>
          <a:stretch>
            <a:fillRect/>
          </a:stretch>
        </p:blipFill>
        <p:spPr>
          <a:xfrm>
            <a:off x="6811203" y="11396725"/>
            <a:ext cx="30022988" cy="7636367"/>
          </a:xfrm>
          <a:prstGeom prst="rect">
            <a:avLst/>
          </a:prstGeom>
        </p:spPr>
      </p:pic>
      <p:pic>
        <p:nvPicPr>
          <p:cNvPr id="32" name="Picture 31">
            <a:extLst>
              <a:ext uri="{FF2B5EF4-FFF2-40B4-BE49-F238E27FC236}">
                <a16:creationId xmlns:a16="http://schemas.microsoft.com/office/drawing/2014/main" id="{B29E1840-28F2-301C-1F86-946F4076C643}"/>
              </a:ext>
            </a:extLst>
          </p:cNvPr>
          <p:cNvPicPr>
            <a:picLocks noChangeAspect="1"/>
          </p:cNvPicPr>
          <p:nvPr/>
        </p:nvPicPr>
        <p:blipFill>
          <a:blip r:embed="rId6"/>
          <a:stretch>
            <a:fillRect/>
          </a:stretch>
        </p:blipFill>
        <p:spPr>
          <a:xfrm>
            <a:off x="1210283" y="5828530"/>
            <a:ext cx="21373337" cy="7652245"/>
          </a:xfrm>
          <a:prstGeom prst="rect">
            <a:avLst/>
          </a:prstGeom>
        </p:spPr>
      </p:pic>
      <p:grpSp>
        <p:nvGrpSpPr>
          <p:cNvPr id="10" name="Group 9">
            <a:extLst>
              <a:ext uri="{FF2B5EF4-FFF2-40B4-BE49-F238E27FC236}">
                <a16:creationId xmlns:a16="http://schemas.microsoft.com/office/drawing/2014/main" id="{98AD157E-9E2D-8812-F965-45E5C4FD5336}"/>
              </a:ext>
            </a:extLst>
          </p:cNvPr>
          <p:cNvGrpSpPr/>
          <p:nvPr/>
        </p:nvGrpSpPr>
        <p:grpSpPr>
          <a:xfrm>
            <a:off x="1219200" y="20303171"/>
            <a:ext cx="35661600" cy="758938"/>
            <a:chOff x="1219200" y="20303171"/>
            <a:chExt cx="35661600" cy="758938"/>
          </a:xfrm>
        </p:grpSpPr>
        <p:cxnSp>
          <p:nvCxnSpPr>
            <p:cNvPr id="12" name="Straight Connector 11">
              <a:extLst>
                <a:ext uri="{FF2B5EF4-FFF2-40B4-BE49-F238E27FC236}">
                  <a16:creationId xmlns:a16="http://schemas.microsoft.com/office/drawing/2014/main" id="{81DDA929-C217-E8A2-C9C5-AA448EC83666}"/>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168F5D5-53FF-B1C6-259E-31412E717412}"/>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313108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EBD35C-7B2D-1454-D533-466F7A6D9B49}"/>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E11FE7BC-510C-4CD8-026A-2B6B64A41791}"/>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what comes to mind when you think of the word ‘diversity’?</a:t>
            </a:r>
          </a:p>
        </p:txBody>
      </p:sp>
      <p:sp>
        <p:nvSpPr>
          <p:cNvPr id="4" name="Rectangle 3">
            <a:extLst>
              <a:ext uri="{FF2B5EF4-FFF2-40B4-BE49-F238E27FC236}">
                <a16:creationId xmlns:a16="http://schemas.microsoft.com/office/drawing/2014/main" id="{9EF4A5FB-31DD-7173-F9C6-A6F9E85A65A0}"/>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7C4E6CA2-9864-7F0A-8C74-48A97CC47C7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ADA53281-3205-177D-951A-4EF58871A734}"/>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E53562D4-755A-21A4-6CAA-F699DD5924EC}"/>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3802918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4B5A791-6DA1-624F-8CD2-166F5A55CCBD}"/>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BE0BB3FA-7E4B-4088-B77C-4581250AA722}"/>
              </a:ext>
            </a:extLst>
          </p:cNvPr>
          <p:cNvSpPr txBox="1"/>
          <p:nvPr/>
        </p:nvSpPr>
        <p:spPr>
          <a:xfrm>
            <a:off x="961200" y="3834000"/>
            <a:ext cx="20515385" cy="11910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9600" b="1">
              <a:latin typeface="Arial"/>
              <a:cs typeface="Arial"/>
            </a:endParaRPr>
          </a:p>
          <a:p>
            <a:endParaRPr lang="en-GB" sz="6600"/>
          </a:p>
          <a:p>
            <a:r>
              <a:rPr lang="en-GB" sz="6600"/>
              <a:t>Until 2016, the code that formed most of our (now old-fashioned) emojis generated gender-biased images. For example, the code for a ‘runner’ would depict a white, male runner and, similarly, the code for a ‘police officer’ depicted a white, male policeman. In 2016, Unicode developed code to ensure male and female representation, which has since evolved to capture a much more diverse representation of society.</a:t>
            </a:r>
          </a:p>
          <a:p>
            <a:pPr marL="342900" indent="-342900">
              <a:buAutoNum type="arabicPeriod"/>
            </a:pPr>
            <a:endParaRPr lang="en-GB"/>
          </a:p>
          <a:p>
            <a:pPr marL="342900" indent="-342900">
              <a:buAutoNum type="arabicPeriod"/>
            </a:pPr>
            <a:endParaRPr lang="en-GB" sz="6000"/>
          </a:p>
        </p:txBody>
      </p:sp>
      <p:pic>
        <p:nvPicPr>
          <p:cNvPr id="4" name="Picture 3">
            <a:extLst>
              <a:ext uri="{FF2B5EF4-FFF2-40B4-BE49-F238E27FC236}">
                <a16:creationId xmlns:a16="http://schemas.microsoft.com/office/drawing/2014/main" id="{D0143675-3609-7262-0CA2-B63EDA71CD47}"/>
              </a:ext>
            </a:extLst>
          </p:cNvPr>
          <p:cNvPicPr>
            <a:picLocks noChangeAspect="1"/>
          </p:cNvPicPr>
          <p:nvPr/>
        </p:nvPicPr>
        <p:blipFill>
          <a:blip r:embed="rId4"/>
          <a:stretch>
            <a:fillRect/>
          </a:stretch>
        </p:blipFill>
        <p:spPr>
          <a:xfrm>
            <a:off x="22878902" y="6906357"/>
            <a:ext cx="5715000" cy="5715000"/>
          </a:xfrm>
          <a:prstGeom prst="rect">
            <a:avLst/>
          </a:prstGeom>
        </p:spPr>
      </p:pic>
      <p:pic>
        <p:nvPicPr>
          <p:cNvPr id="8" name="Picture 7">
            <a:extLst>
              <a:ext uri="{FF2B5EF4-FFF2-40B4-BE49-F238E27FC236}">
                <a16:creationId xmlns:a16="http://schemas.microsoft.com/office/drawing/2014/main" id="{BE9DBD9B-99A1-673C-B32C-4F69145B9D70}"/>
              </a:ext>
            </a:extLst>
          </p:cNvPr>
          <p:cNvPicPr>
            <a:picLocks noChangeAspect="1"/>
          </p:cNvPicPr>
          <p:nvPr/>
        </p:nvPicPr>
        <p:blipFill>
          <a:blip r:embed="rId5"/>
          <a:stretch>
            <a:fillRect/>
          </a:stretch>
        </p:blipFill>
        <p:spPr>
          <a:xfrm>
            <a:off x="29738220" y="6895534"/>
            <a:ext cx="5714999" cy="5725823"/>
          </a:xfrm>
          <a:prstGeom prst="rect">
            <a:avLst/>
          </a:prstGeom>
        </p:spPr>
      </p:pic>
      <p:sp>
        <p:nvSpPr>
          <p:cNvPr id="9" name="TextBox 8">
            <a:extLst>
              <a:ext uri="{FF2B5EF4-FFF2-40B4-BE49-F238E27FC236}">
                <a16:creationId xmlns:a16="http://schemas.microsoft.com/office/drawing/2014/main" id="{D545688D-6491-6FA7-5C82-A99F373D81FC}"/>
              </a:ext>
            </a:extLst>
          </p:cNvPr>
          <p:cNvSpPr txBox="1"/>
          <p:nvPr/>
        </p:nvSpPr>
        <p:spPr>
          <a:xfrm>
            <a:off x="457201" y="15221071"/>
            <a:ext cx="36339464" cy="3570208"/>
          </a:xfrm>
          <a:prstGeom prst="rect">
            <a:avLst/>
          </a:prstGeom>
          <a:noFill/>
        </p:spPr>
        <p:txBody>
          <a:bodyPr wrap="square" lIns="91440" tIns="45720" rIns="91440" bIns="45720" anchor="t">
            <a:spAutoFit/>
          </a:bodyPr>
          <a:lstStyle/>
          <a:p>
            <a:pPr algn="ctr"/>
            <a:r>
              <a:rPr lang="en-US" sz="8000" b="1">
                <a:latin typeface="Arial"/>
                <a:cs typeface="Arial"/>
              </a:rPr>
              <a:t>How could diversity (and better representation) in data science and AI roles impact how we see ourselves and others?</a:t>
            </a:r>
            <a:endParaRPr lang="en-US" sz="1400"/>
          </a:p>
          <a:p>
            <a:endParaRPr lang="en-US" sz="6600" b="1">
              <a:solidFill>
                <a:srgbClr val="000000"/>
              </a:solidFill>
            </a:endParaRPr>
          </a:p>
        </p:txBody>
      </p:sp>
      <p:sp>
        <p:nvSpPr>
          <p:cNvPr id="6" name="TextBox 1">
            <a:extLst>
              <a:ext uri="{FF2B5EF4-FFF2-40B4-BE49-F238E27FC236}">
                <a16:creationId xmlns:a16="http://schemas.microsoft.com/office/drawing/2014/main" id="{C0007534-10A1-D48A-C383-1C281EF84D69}"/>
              </a:ext>
            </a:extLst>
          </p:cNvPr>
          <p:cNvSpPr txBox="1"/>
          <p:nvPr/>
        </p:nvSpPr>
        <p:spPr>
          <a:xfrm>
            <a:off x="1792281" y="18504341"/>
            <a:ext cx="6381701" cy="756689"/>
          </a:xfrm>
          <a:prstGeom prst="rect">
            <a:avLst/>
          </a:prstGeom>
          <a:noFill/>
        </p:spPr>
        <p:txBody>
          <a:bodyPr wrap="none" lIns="0" tIns="0" rIns="0" bIns="0" rtlCol="0" anchor="t">
            <a:no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165287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330575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49586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6611506"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826438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9917261"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11570136"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1322301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ts val="0"/>
              </a:spcBef>
              <a:spcAft>
                <a:spcPts val="0"/>
              </a:spcAft>
            </a:pPr>
            <a:endParaRPr lang="en-US" sz="4800" i="1" dirty="0">
              <a:latin typeface="Arial"/>
              <a:cs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lang="en-GB" sz="4800" b="0" i="0" u="none" strike="noStrike" kern="1200" cap="none" spc="0" normalizeH="0" baseline="0" noProof="0" dirty="0">
              <a:ln>
                <a:noFill/>
              </a:ln>
              <a:effectLst/>
              <a:uLnTx/>
              <a:uFillTx/>
              <a:latin typeface="+mn-lt"/>
              <a:cs typeface="Arial"/>
            </a:endParaRPr>
          </a:p>
        </p:txBody>
      </p:sp>
      <p:sp>
        <p:nvSpPr>
          <p:cNvPr id="5" name="Title 1">
            <a:extLst>
              <a:ext uri="{FF2B5EF4-FFF2-40B4-BE49-F238E27FC236}">
                <a16:creationId xmlns:a16="http://schemas.microsoft.com/office/drawing/2014/main" id="{597D60C2-E4AA-530C-CD8D-4EF775EA0078}"/>
              </a:ext>
            </a:extLst>
          </p:cNvPr>
          <p:cNvSpPr txBox="1">
            <a:spLocks/>
          </p:cNvSpPr>
          <p:nvPr/>
        </p:nvSpPr>
        <p:spPr>
          <a:xfrm>
            <a:off x="961200" y="3942000"/>
            <a:ext cx="21195437" cy="2376008"/>
          </a:xfrm>
          <a:prstGeom prst="rect">
            <a:avLst/>
          </a:prstGeom>
        </p:spPr>
        <p:txBody>
          <a:bodyPr/>
          <a:lst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a:lstStyle>
          <a:p>
            <a:r>
              <a:rPr lang="en-US" sz="9600">
                <a:latin typeface="Arial"/>
                <a:ea typeface="+mn-ea"/>
                <a:cs typeface="Arial"/>
              </a:rPr>
              <a:t>Did you know?</a:t>
            </a:r>
          </a:p>
        </p:txBody>
      </p:sp>
      <p:grpSp>
        <p:nvGrpSpPr>
          <p:cNvPr id="19" name="Group 18">
            <a:extLst>
              <a:ext uri="{FF2B5EF4-FFF2-40B4-BE49-F238E27FC236}">
                <a16:creationId xmlns:a16="http://schemas.microsoft.com/office/drawing/2014/main" id="{5AB3A474-88AE-385E-2366-5442E2EED8CC}"/>
              </a:ext>
            </a:extLst>
          </p:cNvPr>
          <p:cNvGrpSpPr/>
          <p:nvPr/>
        </p:nvGrpSpPr>
        <p:grpSpPr>
          <a:xfrm>
            <a:off x="1219200" y="20303171"/>
            <a:ext cx="35661600" cy="758938"/>
            <a:chOff x="1219200" y="20303171"/>
            <a:chExt cx="35661600" cy="758938"/>
          </a:xfrm>
        </p:grpSpPr>
        <p:cxnSp>
          <p:nvCxnSpPr>
            <p:cNvPr id="20" name="Straight Connector 19">
              <a:extLst>
                <a:ext uri="{FF2B5EF4-FFF2-40B4-BE49-F238E27FC236}">
                  <a16:creationId xmlns:a16="http://schemas.microsoft.com/office/drawing/2014/main" id="{33B794B1-34F1-7263-F879-FFFDABEF1EDB}"/>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8C7ECFD-23BB-2F8C-66A2-D36278C3C600}"/>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19087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081DA86-1658-19B7-99E8-8B09A6B87CF9}"/>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4">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543F6DB9-157C-4F06-DEA0-603EE86AE225}"/>
              </a:ext>
            </a:extLst>
          </p:cNvPr>
          <p:cNvSpPr txBox="1"/>
          <p:nvPr/>
        </p:nvSpPr>
        <p:spPr>
          <a:xfrm>
            <a:off x="2913754" y="7002598"/>
            <a:ext cx="32188354" cy="11112560"/>
          </a:xfrm>
          <a:prstGeom prst="rect">
            <a:avLst/>
          </a:prstGeom>
          <a:noFill/>
        </p:spPr>
        <p:txBody>
          <a:bodyPr wrap="square" lIns="0" tIns="0" rIns="0" bIns="0" rtlCol="0">
            <a:noAutofit/>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GB" sz="8000" b="0" i="0" u="none" strike="noStrike" kern="1200" cap="none" spc="0" normalizeH="0" baseline="0" noProof="0">
              <a:ln>
                <a:noFill/>
              </a:ln>
              <a:solidFill>
                <a:prstClr val="black"/>
              </a:solidFill>
              <a:effectLst/>
              <a:uLnTx/>
              <a:uFillTx/>
              <a:latin typeface="+mn-lt"/>
              <a:ea typeface="+mn-ea"/>
              <a:cs typeface="+mn-cs"/>
            </a:endParaRPr>
          </a:p>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GB" sz="8000" b="0" i="0" u="none" strike="noStrike" kern="1200" cap="none" spc="0" normalizeH="0" baseline="0" noProof="0">
                <a:ln>
                  <a:noFill/>
                </a:ln>
                <a:solidFill>
                  <a:prstClr val="black"/>
                </a:solidFill>
                <a:effectLst/>
                <a:uLnTx/>
                <a:uFillTx/>
              </a:rPr>
              <a:t>Socio-economic background has a strong effect on an individual’s likelihood of entering the scientific workforce. One study, conducted by The Royal Society, found that the higher an individual’s socioeconomic background (measured in terms of parental social class or parental education), the more likely they were to work in science.</a:t>
            </a:r>
          </a:p>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GB" sz="8000" b="0" i="0" u="none" strike="noStrike" kern="1200" cap="none" spc="0" normalizeH="0" baseline="0" noProof="0">
              <a:ln>
                <a:noFill/>
              </a:ln>
              <a:solidFill>
                <a:prstClr val="black"/>
              </a:solidFill>
              <a:effectLst/>
              <a:uLnTx/>
              <a:uFillTx/>
            </a:endParaRPr>
          </a:p>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GB" sz="8000" b="0" i="1" u="none" strike="noStrike" kern="1200" cap="none" spc="0" normalizeH="0" baseline="0" noProof="0">
                <a:ln>
                  <a:noFill/>
                </a:ln>
                <a:solidFill>
                  <a:prstClr val="black"/>
                </a:solidFill>
                <a:effectLst/>
                <a:uLnTx/>
                <a:uFillTx/>
              </a:rPr>
              <a:t>- The Royal Society</a:t>
            </a:r>
            <a:endParaRPr kumimoji="0" lang="en-GB" sz="8000" b="0" i="0" u="none" strike="noStrike" kern="1200" cap="none" spc="0" normalizeH="0" baseline="0" noProof="0">
              <a:ln>
                <a:noFill/>
              </a:ln>
              <a:solidFill>
                <a:prstClr val="black"/>
              </a:solidFill>
              <a:effectLst/>
              <a:uLnTx/>
              <a:uFillTx/>
            </a:endParaRPr>
          </a:p>
        </p:txBody>
      </p:sp>
      <p:sp>
        <p:nvSpPr>
          <p:cNvPr id="11" name="Title 1">
            <a:extLst>
              <a:ext uri="{FF2B5EF4-FFF2-40B4-BE49-F238E27FC236}">
                <a16:creationId xmlns:a16="http://schemas.microsoft.com/office/drawing/2014/main" id="{0BA025AF-45FA-4910-CB56-2AA348BD47FC}"/>
              </a:ext>
            </a:extLst>
          </p:cNvPr>
          <p:cNvSpPr txBox="1">
            <a:spLocks/>
          </p:cNvSpPr>
          <p:nvPr/>
        </p:nvSpPr>
        <p:spPr>
          <a:xfrm>
            <a:off x="961200" y="3942000"/>
            <a:ext cx="21195437" cy="2376008"/>
          </a:xfrm>
          <a:prstGeom prst="rect">
            <a:avLst/>
          </a:prstGeom>
        </p:spPr>
        <p:txBody>
          <a:bodyPr/>
          <a:lst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a:lstStyle>
          <a:p>
            <a:r>
              <a:rPr lang="en-US" sz="9600">
                <a:latin typeface="Arial"/>
                <a:ea typeface="+mn-ea"/>
                <a:cs typeface="Arial"/>
              </a:rPr>
              <a:t>Diversity in the sciences</a:t>
            </a:r>
          </a:p>
        </p:txBody>
      </p:sp>
      <p:grpSp>
        <p:nvGrpSpPr>
          <p:cNvPr id="15" name="Group 14">
            <a:extLst>
              <a:ext uri="{FF2B5EF4-FFF2-40B4-BE49-F238E27FC236}">
                <a16:creationId xmlns:a16="http://schemas.microsoft.com/office/drawing/2014/main" id="{4DA76E71-C5DF-D39E-9130-8C690C30313E}"/>
              </a:ext>
            </a:extLst>
          </p:cNvPr>
          <p:cNvGrpSpPr/>
          <p:nvPr/>
        </p:nvGrpSpPr>
        <p:grpSpPr>
          <a:xfrm>
            <a:off x="1219200" y="20303171"/>
            <a:ext cx="35661600" cy="758938"/>
            <a:chOff x="1219200" y="20303171"/>
            <a:chExt cx="35661600" cy="758938"/>
          </a:xfrm>
        </p:grpSpPr>
        <p:cxnSp>
          <p:nvCxnSpPr>
            <p:cNvPr id="16" name="Straight Connector 15">
              <a:extLst>
                <a:ext uri="{FF2B5EF4-FFF2-40B4-BE49-F238E27FC236}">
                  <a16:creationId xmlns:a16="http://schemas.microsoft.com/office/drawing/2014/main" id="{366D8E1A-3889-5304-3B91-246B92D1BF0E}"/>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1461A3A-FC18-632A-DB01-7CEE55A66010}"/>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463661471"/>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8A9BD37-A26E-F44D-BF85-0363E54713DF}"/>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BE0BB3FA-7E4B-4088-B77C-4581250AA722}"/>
              </a:ext>
            </a:extLst>
          </p:cNvPr>
          <p:cNvSpPr txBox="1"/>
          <p:nvPr/>
        </p:nvSpPr>
        <p:spPr>
          <a:xfrm>
            <a:off x="21957036" y="3723749"/>
            <a:ext cx="14548626" cy="114185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600" b="1">
                <a:latin typeface="Arial"/>
                <a:cs typeface="Arial"/>
              </a:rPr>
              <a:t>Did you know?</a:t>
            </a:r>
          </a:p>
          <a:p>
            <a:endParaRPr lang="en-GB" sz="8000"/>
          </a:p>
          <a:p>
            <a:r>
              <a:rPr lang="en-GB" sz="8000">
                <a:highlight>
                  <a:srgbClr val="FFFFFF"/>
                </a:highlight>
                <a:latin typeface="Arial"/>
                <a:cs typeface="Arial"/>
              </a:rPr>
              <a:t>Women make up half the UK population, but only 22% of AI and data professionals and 18% of users across the largest online global data science platforms</a:t>
            </a:r>
            <a:endParaRPr lang="en-GB" sz="8000"/>
          </a:p>
          <a:p>
            <a:pPr marL="342900" indent="-342900">
              <a:buAutoNum type="arabicPeriod"/>
            </a:pPr>
            <a:endParaRPr lang="en-GB" sz="8000"/>
          </a:p>
        </p:txBody>
      </p:sp>
      <p:sp>
        <p:nvSpPr>
          <p:cNvPr id="5" name="TextBox 4">
            <a:extLst>
              <a:ext uri="{FF2B5EF4-FFF2-40B4-BE49-F238E27FC236}">
                <a16:creationId xmlns:a16="http://schemas.microsoft.com/office/drawing/2014/main" id="{643102D4-231D-8523-4C2C-0627E29C7E52}"/>
              </a:ext>
            </a:extLst>
          </p:cNvPr>
          <p:cNvSpPr txBox="1"/>
          <p:nvPr/>
        </p:nvSpPr>
        <p:spPr>
          <a:xfrm>
            <a:off x="2120927" y="15572529"/>
            <a:ext cx="33858145" cy="3785652"/>
          </a:xfrm>
          <a:prstGeom prst="rect">
            <a:avLst/>
          </a:prstGeom>
          <a:noFill/>
        </p:spPr>
        <p:txBody>
          <a:bodyPr wrap="square" lIns="91440" tIns="45720" rIns="91440" bIns="45720" anchor="t">
            <a:spAutoFit/>
          </a:bodyPr>
          <a:lstStyle/>
          <a:p>
            <a:pPr algn="ctr"/>
            <a:r>
              <a:rPr lang="en-US" sz="8000" b="1" dirty="0">
                <a:latin typeface="Arial"/>
                <a:ea typeface="Calibri"/>
                <a:cs typeface="Arial"/>
              </a:rPr>
              <a:t>What potential impact(s) would there be to society if we had diverse and representative workforces in data science and AI roles?</a:t>
            </a:r>
            <a:endParaRPr lang="en-US" sz="8000" dirty="0">
              <a:latin typeface="Arial"/>
              <a:ea typeface="Calibri"/>
              <a:cs typeface="Arial"/>
            </a:endParaRPr>
          </a:p>
          <a:p>
            <a:pPr algn="ctr"/>
            <a:endParaRPr lang="en-US" sz="8000" b="1" dirty="0">
              <a:solidFill>
                <a:srgbClr val="000000"/>
              </a:solidFill>
              <a:latin typeface="Arial"/>
              <a:cs typeface="Arial"/>
            </a:endParaRPr>
          </a:p>
        </p:txBody>
      </p:sp>
      <p:sp>
        <p:nvSpPr>
          <p:cNvPr id="17" name="TextBox 1">
            <a:extLst>
              <a:ext uri="{FF2B5EF4-FFF2-40B4-BE49-F238E27FC236}">
                <a16:creationId xmlns:a16="http://schemas.microsoft.com/office/drawing/2014/main" id="{06D92FC8-8A30-B636-F9E4-92124683578F}"/>
              </a:ext>
            </a:extLst>
          </p:cNvPr>
          <p:cNvSpPr txBox="1"/>
          <p:nvPr/>
        </p:nvSpPr>
        <p:spPr>
          <a:xfrm>
            <a:off x="1792281" y="18504341"/>
            <a:ext cx="6381701" cy="756689"/>
          </a:xfrm>
          <a:prstGeom prst="rect">
            <a:avLst/>
          </a:prstGeom>
          <a:noFill/>
        </p:spPr>
        <p:txBody>
          <a:bodyPr wrap="none" lIns="0" tIns="0" rIns="0" bIns="0" rtlCol="0" anchor="t">
            <a:no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165287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330575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49586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6611506"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826438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9917261"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11570136"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1322301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ts val="0"/>
              </a:spcBef>
              <a:spcAft>
                <a:spcPts val="0"/>
              </a:spcAft>
            </a:pPr>
            <a:endParaRPr lang="en-US" sz="4800" i="1" dirty="0">
              <a:latin typeface="Arial"/>
              <a:cs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lang="en-GB" sz="4800" b="0" i="0" u="none" strike="noStrike" kern="1200" cap="none" spc="0" normalizeH="0" baseline="0" noProof="0" dirty="0">
              <a:ln>
                <a:noFill/>
              </a:ln>
              <a:effectLst/>
              <a:uLnTx/>
              <a:uFillTx/>
              <a:latin typeface="+mn-lt"/>
              <a:cs typeface="Arial"/>
            </a:endParaRPr>
          </a:p>
        </p:txBody>
      </p:sp>
      <p:grpSp>
        <p:nvGrpSpPr>
          <p:cNvPr id="18" name="Group 17">
            <a:extLst>
              <a:ext uri="{FF2B5EF4-FFF2-40B4-BE49-F238E27FC236}">
                <a16:creationId xmlns:a16="http://schemas.microsoft.com/office/drawing/2014/main" id="{4E5685D3-FF85-CE95-26FE-17C228D54CB5}"/>
              </a:ext>
            </a:extLst>
          </p:cNvPr>
          <p:cNvGrpSpPr/>
          <p:nvPr/>
        </p:nvGrpSpPr>
        <p:grpSpPr>
          <a:xfrm>
            <a:off x="1219200" y="20303171"/>
            <a:ext cx="35661600" cy="758938"/>
            <a:chOff x="1219200" y="20303171"/>
            <a:chExt cx="35661600" cy="758938"/>
          </a:xfrm>
        </p:grpSpPr>
        <p:cxnSp>
          <p:nvCxnSpPr>
            <p:cNvPr id="19" name="Straight Connector 18">
              <a:extLst>
                <a:ext uri="{FF2B5EF4-FFF2-40B4-BE49-F238E27FC236}">
                  <a16:creationId xmlns:a16="http://schemas.microsoft.com/office/drawing/2014/main" id="{8B27AF01-7586-905E-8785-17526F1AA1D5}"/>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6DF91BF-C09D-4A4D-212A-1DFAF584E29F}"/>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pic>
        <p:nvPicPr>
          <p:cNvPr id="6" name="Picture 5" descr="A person with long hair wearing glasses&#10;&#10;AI-generated content may be incorrect.">
            <a:extLst>
              <a:ext uri="{FF2B5EF4-FFF2-40B4-BE49-F238E27FC236}">
                <a16:creationId xmlns:a16="http://schemas.microsoft.com/office/drawing/2014/main" id="{A9A9DFFE-C37E-797C-95ED-CE42359AB706}"/>
              </a:ext>
            </a:extLst>
          </p:cNvPr>
          <p:cNvPicPr>
            <a:picLocks noChangeAspect="1"/>
          </p:cNvPicPr>
          <p:nvPr/>
        </p:nvPicPr>
        <p:blipFill>
          <a:blip r:embed="rId4"/>
          <a:stretch>
            <a:fillRect/>
          </a:stretch>
        </p:blipFill>
        <p:spPr>
          <a:xfrm>
            <a:off x="1226732" y="4346138"/>
            <a:ext cx="20567621" cy="11117020"/>
          </a:xfrm>
          <a:prstGeom prst="rect">
            <a:avLst/>
          </a:prstGeom>
        </p:spPr>
      </p:pic>
    </p:spTree>
    <p:extLst>
      <p:ext uri="{BB962C8B-B14F-4D97-AF65-F5344CB8AC3E}">
        <p14:creationId xmlns:p14="http://schemas.microsoft.com/office/powerpoint/2010/main" val="4275339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D75DBF-8C9F-4CB8-1588-A751478D3A8C}"/>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A5B08FF1-628F-998F-5056-A904D97D4CD4}"/>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b="1">
                <a:solidFill>
                  <a:srgbClr val="000000"/>
                </a:solidFill>
              </a:rPr>
              <a:t>What potential impact(s) would there be to society if we had diverse and representative workforces in data science and AI roles?
</a:t>
            </a:r>
          </a:p>
        </p:txBody>
      </p:sp>
      <p:sp>
        <p:nvSpPr>
          <p:cNvPr id="4" name="Rectangle 3">
            <a:extLst>
              <a:ext uri="{FF2B5EF4-FFF2-40B4-BE49-F238E27FC236}">
                <a16:creationId xmlns:a16="http://schemas.microsoft.com/office/drawing/2014/main" id="{9B52C54F-7B08-774D-5DEF-1EACC4CA47C9}"/>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8B9C5818-DDFE-9A4D-B2A2-DFBBD6C1921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F7F9EE02-86EF-D7BA-A702-A818F9862646}"/>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C851B2BD-3BE0-D6B0-3DD8-69DD50602B1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3355142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92A18EC-5BBC-CF5C-A15F-3E6574C9B3ED}"/>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BE0BB3FA-7E4B-4088-B77C-4581250AA722}"/>
              </a:ext>
            </a:extLst>
          </p:cNvPr>
          <p:cNvSpPr txBox="1"/>
          <p:nvPr/>
        </p:nvSpPr>
        <p:spPr>
          <a:xfrm>
            <a:off x="961200" y="5824598"/>
            <a:ext cx="19592154" cy="8956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7200"/>
              <a:t>Facial recognition algorithms boast high classification accuracy (over 90%), but these outcomes are not universal. A growing body of research exposes divergent error rates across demographic groups, with subjects who are female, black, and between 18-30 years old consistently being most likely to be misidentified. </a:t>
            </a:r>
            <a:endParaRPr lang="en-GB" sz="8000"/>
          </a:p>
        </p:txBody>
      </p:sp>
      <p:pic>
        <p:nvPicPr>
          <p:cNvPr id="5" name="Picture 4">
            <a:extLst>
              <a:ext uri="{FF2B5EF4-FFF2-40B4-BE49-F238E27FC236}">
                <a16:creationId xmlns:a16="http://schemas.microsoft.com/office/drawing/2014/main" id="{82A81C99-E542-16B9-4ACF-305926FDBE39}"/>
              </a:ext>
            </a:extLst>
          </p:cNvPr>
          <p:cNvPicPr>
            <a:picLocks noChangeAspect="1"/>
          </p:cNvPicPr>
          <p:nvPr/>
        </p:nvPicPr>
        <p:blipFill>
          <a:blip r:embed="rId4"/>
          <a:stretch>
            <a:fillRect/>
          </a:stretch>
        </p:blipFill>
        <p:spPr>
          <a:xfrm>
            <a:off x="22656490" y="6611819"/>
            <a:ext cx="13600596" cy="7650335"/>
          </a:xfrm>
          <a:prstGeom prst="rect">
            <a:avLst/>
          </a:prstGeom>
        </p:spPr>
      </p:pic>
      <p:sp>
        <p:nvSpPr>
          <p:cNvPr id="4" name="TextBox 3">
            <a:extLst>
              <a:ext uri="{FF2B5EF4-FFF2-40B4-BE49-F238E27FC236}">
                <a16:creationId xmlns:a16="http://schemas.microsoft.com/office/drawing/2014/main" id="{58DBC7F6-5150-5D32-39A3-C359D3223AF8}"/>
              </a:ext>
            </a:extLst>
          </p:cNvPr>
          <p:cNvSpPr txBox="1"/>
          <p:nvPr/>
        </p:nvSpPr>
        <p:spPr>
          <a:xfrm>
            <a:off x="1219200" y="16570041"/>
            <a:ext cx="33858145" cy="1323439"/>
          </a:xfrm>
          <a:prstGeom prst="rect">
            <a:avLst/>
          </a:prstGeom>
          <a:noFill/>
        </p:spPr>
        <p:txBody>
          <a:bodyPr wrap="square" lIns="91440" tIns="45720" rIns="91440" bIns="45720" anchor="t">
            <a:spAutoFit/>
          </a:bodyPr>
          <a:lstStyle/>
          <a:p>
            <a:pPr algn="ctr"/>
            <a:r>
              <a:rPr lang="en-US" sz="8000" b="1" dirty="0">
                <a:latin typeface="Arial"/>
                <a:cs typeface="Arial"/>
              </a:rPr>
              <a:t>How do non-diverse workforces impact companies’ products?</a:t>
            </a:r>
            <a:endParaRPr lang="en-US" dirty="0"/>
          </a:p>
        </p:txBody>
      </p:sp>
      <p:sp>
        <p:nvSpPr>
          <p:cNvPr id="6" name="Title 1">
            <a:extLst>
              <a:ext uri="{FF2B5EF4-FFF2-40B4-BE49-F238E27FC236}">
                <a16:creationId xmlns:a16="http://schemas.microsoft.com/office/drawing/2014/main" id="{59067623-55F5-D540-DCAC-AE5B2E7690D8}"/>
              </a:ext>
            </a:extLst>
          </p:cNvPr>
          <p:cNvSpPr txBox="1">
            <a:spLocks/>
          </p:cNvSpPr>
          <p:nvPr/>
        </p:nvSpPr>
        <p:spPr>
          <a:xfrm>
            <a:off x="961200" y="3942000"/>
            <a:ext cx="21195437" cy="2376008"/>
          </a:xfrm>
          <a:prstGeom prst="rect">
            <a:avLst/>
          </a:prstGeom>
        </p:spPr>
        <p:txBody>
          <a:bodyPr/>
          <a:lst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a:lstStyle>
          <a:p>
            <a:r>
              <a:rPr lang="en-US" sz="9600">
                <a:latin typeface="Arial"/>
                <a:ea typeface="+mn-ea"/>
                <a:cs typeface="Arial"/>
              </a:rPr>
              <a:t>Did you know?</a:t>
            </a:r>
          </a:p>
        </p:txBody>
      </p:sp>
      <p:sp>
        <p:nvSpPr>
          <p:cNvPr id="18" name="TextBox 1">
            <a:extLst>
              <a:ext uri="{FF2B5EF4-FFF2-40B4-BE49-F238E27FC236}">
                <a16:creationId xmlns:a16="http://schemas.microsoft.com/office/drawing/2014/main" id="{72AF9ABA-D5AD-F376-7495-86BD1DE8BF22}"/>
              </a:ext>
            </a:extLst>
          </p:cNvPr>
          <p:cNvSpPr txBox="1"/>
          <p:nvPr/>
        </p:nvSpPr>
        <p:spPr>
          <a:xfrm>
            <a:off x="1792281" y="18504341"/>
            <a:ext cx="6381701" cy="756689"/>
          </a:xfrm>
          <a:prstGeom prst="rect">
            <a:avLst/>
          </a:prstGeom>
          <a:noFill/>
        </p:spPr>
        <p:txBody>
          <a:bodyPr wrap="none" lIns="0" tIns="0" rIns="0" bIns="0" rtlCol="0" anchor="t">
            <a:no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165287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330575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49586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6611506"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826438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9917261"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11570136"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1322301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ts val="0"/>
              </a:spcBef>
              <a:spcAft>
                <a:spcPts val="0"/>
              </a:spcAft>
            </a:pPr>
            <a:endParaRPr lang="en-US" sz="4800" i="1" dirty="0">
              <a:latin typeface="Arial"/>
              <a:cs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lang="en-GB" sz="4800" b="0" i="0" u="none" strike="noStrike" kern="1200" cap="none" spc="0" normalizeH="0" baseline="0" noProof="0" dirty="0">
              <a:ln>
                <a:noFill/>
              </a:ln>
              <a:effectLst/>
              <a:uLnTx/>
              <a:uFillTx/>
              <a:latin typeface="+mn-lt"/>
              <a:cs typeface="Arial"/>
            </a:endParaRPr>
          </a:p>
        </p:txBody>
      </p:sp>
      <p:grpSp>
        <p:nvGrpSpPr>
          <p:cNvPr id="19" name="Group 18">
            <a:extLst>
              <a:ext uri="{FF2B5EF4-FFF2-40B4-BE49-F238E27FC236}">
                <a16:creationId xmlns:a16="http://schemas.microsoft.com/office/drawing/2014/main" id="{03589564-DBE2-D55E-CB2F-701201FB82A8}"/>
              </a:ext>
            </a:extLst>
          </p:cNvPr>
          <p:cNvGrpSpPr/>
          <p:nvPr/>
        </p:nvGrpSpPr>
        <p:grpSpPr>
          <a:xfrm>
            <a:off x="1219200" y="20303171"/>
            <a:ext cx="35661600" cy="758938"/>
            <a:chOff x="1219200" y="20303171"/>
            <a:chExt cx="35661600" cy="758938"/>
          </a:xfrm>
        </p:grpSpPr>
        <p:cxnSp>
          <p:nvCxnSpPr>
            <p:cNvPr id="20" name="Straight Connector 19">
              <a:extLst>
                <a:ext uri="{FF2B5EF4-FFF2-40B4-BE49-F238E27FC236}">
                  <a16:creationId xmlns:a16="http://schemas.microsoft.com/office/drawing/2014/main" id="{BA6F1A8D-B1AD-2211-0170-42B61DCD5C65}"/>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05E38D3-9928-7E1D-AD61-E16F64BBA1D4}"/>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73125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7633EB-E6CE-D3EB-B093-9D6165D0DB12}"/>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D45E6F4E-A73A-CC75-8A23-8A7A9DD13667}"/>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How do non-diverse workforces impact companies’ products?</a:t>
            </a:r>
          </a:p>
        </p:txBody>
      </p:sp>
      <p:sp>
        <p:nvSpPr>
          <p:cNvPr id="4" name="Rectangle 3">
            <a:extLst>
              <a:ext uri="{FF2B5EF4-FFF2-40B4-BE49-F238E27FC236}">
                <a16:creationId xmlns:a16="http://schemas.microsoft.com/office/drawing/2014/main" id="{AD296C3E-9AE5-D4B8-225C-71D133AEE287}"/>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E3FC7477-9333-DF2D-4A6A-A974BF0CFC35}"/>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3BEA2E63-2672-19BE-1A7F-08E1CEB70D0E}"/>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868B3A3E-0B41-615D-6C2D-496FF7BE8497}"/>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361540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17C7169-0F3C-536E-A129-221837E4CCDF}"/>
              </a:ext>
            </a:extLst>
          </p:cNvPr>
          <p:cNvSpPr txBox="1"/>
          <p:nvPr/>
        </p:nvSpPr>
        <p:spPr>
          <a:xfrm>
            <a:off x="1219199" y="7402623"/>
            <a:ext cx="35160857" cy="108284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143000" indent="-1143000">
              <a:lnSpc>
                <a:spcPct val="200000"/>
              </a:lnSpc>
              <a:buFont typeface="System Font Regular"/>
              <a:buChar char="-"/>
            </a:pPr>
            <a:r>
              <a:rPr lang="en-GB" sz="7200">
                <a:latin typeface="Arial"/>
                <a:cs typeface="Arial"/>
              </a:rPr>
              <a:t>You don’t have to work at a big-name tech firm.</a:t>
            </a:r>
          </a:p>
          <a:p>
            <a:pPr marL="1143000" indent="-1143000">
              <a:lnSpc>
                <a:spcPct val="200000"/>
              </a:lnSpc>
              <a:buFont typeface="System Font Regular"/>
              <a:buChar char="-"/>
            </a:pPr>
            <a:r>
              <a:rPr lang="en-GB" sz="7200">
                <a:latin typeface="Arial"/>
                <a:cs typeface="Arial"/>
              </a:rPr>
              <a:t>You can use your skills to solve important real-world problems.</a:t>
            </a:r>
          </a:p>
          <a:p>
            <a:pPr marL="1143000" indent="-1143000">
              <a:lnSpc>
                <a:spcPct val="200000"/>
              </a:lnSpc>
              <a:buFont typeface="System Font Regular"/>
              <a:buChar char="-"/>
            </a:pPr>
            <a:r>
              <a:rPr lang="en-GB" sz="7200">
                <a:latin typeface="Arial"/>
                <a:cs typeface="Arial"/>
              </a:rPr>
              <a:t>You can move between academia, government and industry. </a:t>
            </a:r>
          </a:p>
          <a:p>
            <a:pPr marL="1143000" indent="-1143000">
              <a:lnSpc>
                <a:spcPct val="200000"/>
              </a:lnSpc>
              <a:buFont typeface="System Font Regular"/>
              <a:buChar char="-"/>
            </a:pPr>
            <a:r>
              <a:rPr lang="en-GB" sz="7200">
                <a:latin typeface="Arial"/>
                <a:cs typeface="Arial"/>
              </a:rPr>
              <a:t>Applicants from a wide variety of backgrounds are welcome.</a:t>
            </a:r>
          </a:p>
          <a:p>
            <a:pPr marL="1143000" indent="-1143000">
              <a:lnSpc>
                <a:spcPct val="200000"/>
              </a:lnSpc>
              <a:buFont typeface="System Font Regular"/>
              <a:buChar char="-"/>
            </a:pPr>
            <a:r>
              <a:rPr lang="en-GB" sz="7200">
                <a:latin typeface="Arial"/>
                <a:cs typeface="Arial"/>
              </a:rPr>
              <a:t>You don’t have to do a PhD or masters for many roles.  </a:t>
            </a:r>
            <a:endParaRPr lang="en-GB" sz="7200"/>
          </a:p>
        </p:txBody>
      </p:sp>
      <p:sp>
        <p:nvSpPr>
          <p:cNvPr id="5" name="Title 1">
            <a:extLst>
              <a:ext uri="{FF2B5EF4-FFF2-40B4-BE49-F238E27FC236}">
                <a16:creationId xmlns:a16="http://schemas.microsoft.com/office/drawing/2014/main" id="{3B20C8A6-F8DA-E6E8-348A-51F57D739CC8}"/>
              </a:ext>
            </a:extLst>
          </p:cNvPr>
          <p:cNvSpPr txBox="1">
            <a:spLocks/>
          </p:cNvSpPr>
          <p:nvPr/>
        </p:nvSpPr>
        <p:spPr>
          <a:xfrm>
            <a:off x="961200" y="3834000"/>
            <a:ext cx="21195437" cy="2376008"/>
          </a:xfrm>
          <a:prstGeom prst="rect">
            <a:avLst/>
          </a:prstGeom>
        </p:spPr>
        <p:txBody>
          <a:bodyPr lIns="91440" tIns="45720" rIns="91440" bIns="45720" anchor="t"/>
          <a:lst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a:lstStyle>
          <a:p>
            <a:r>
              <a:rPr lang="en-US" sz="13300">
                <a:solidFill>
                  <a:prstClr val="black"/>
                </a:solidFill>
                <a:latin typeface="Arial"/>
              </a:rPr>
              <a:t>Careers in Data Science</a:t>
            </a:r>
            <a:endParaRPr lang="en-US">
              <a:solidFill>
                <a:prstClr val="black"/>
              </a:solidFill>
              <a:latin typeface="Arial"/>
            </a:endParaRPr>
          </a:p>
        </p:txBody>
      </p:sp>
      <p:sp>
        <p:nvSpPr>
          <p:cNvPr id="6" name="Title 1">
            <a:extLst>
              <a:ext uri="{FF2B5EF4-FFF2-40B4-BE49-F238E27FC236}">
                <a16:creationId xmlns:a16="http://schemas.microsoft.com/office/drawing/2014/main" id="{A5C5144D-5CAF-571E-8B5C-0C31E0210A44}"/>
              </a:ext>
            </a:extLst>
          </p:cNvPr>
          <p:cNvSpPr txBox="1">
            <a:spLocks/>
          </p:cNvSpPr>
          <p:nvPr/>
        </p:nvSpPr>
        <p:spPr>
          <a:xfrm>
            <a:off x="961200" y="6138397"/>
            <a:ext cx="31769539" cy="1257223"/>
          </a:xfrm>
          <a:prstGeom prst="rect">
            <a:avLst/>
          </a:prstGeom>
        </p:spPr>
        <p:txBody>
          <a:bodyPr lIns="91440" tIns="45720" rIns="91440" bIns="45720" anchor="t"/>
          <a:lstStyle>
            <a:lvl1pPr algn="l" rtl="0" eaLnBrk="0" fontAlgn="base" hangingPunct="0">
              <a:lnSpc>
                <a:spcPct val="85000"/>
              </a:lnSpc>
              <a:spcBef>
                <a:spcPct val="0"/>
              </a:spcBef>
              <a:spcAft>
                <a:spcPct val="0"/>
              </a:spcAft>
              <a:defRPr sz="8731" b="1" kern="1200">
                <a:solidFill>
                  <a:schemeClr val="tx1"/>
                </a:solidFill>
                <a:latin typeface="+mj-lt"/>
                <a:ea typeface="+mj-ea"/>
                <a:cs typeface="+mj-cs"/>
              </a:defRPr>
            </a:lvl1pPr>
            <a:lvl2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2pPr>
            <a:lvl3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3pPr>
            <a:lvl4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4pPr>
            <a:lvl5pPr algn="l" rtl="0" eaLnBrk="0" fontAlgn="base" hangingPunct="0">
              <a:lnSpc>
                <a:spcPct val="85000"/>
              </a:lnSpc>
              <a:spcBef>
                <a:spcPct val="0"/>
              </a:spcBef>
              <a:spcAft>
                <a:spcPct val="0"/>
              </a:spcAft>
              <a:defRPr sz="8731" b="1">
                <a:solidFill>
                  <a:schemeClr val="tx1"/>
                </a:solidFill>
                <a:latin typeface="Arial" panose="020B0604020202020204" pitchFamily="34" charset="0"/>
              </a:defRPr>
            </a:lvl5pPr>
            <a:lvl6pPr marL="1900747" algn="l" rtl="0" fontAlgn="base">
              <a:lnSpc>
                <a:spcPct val="85000"/>
              </a:lnSpc>
              <a:spcBef>
                <a:spcPct val="0"/>
              </a:spcBef>
              <a:spcAft>
                <a:spcPct val="0"/>
              </a:spcAft>
              <a:defRPr sz="8731" b="1">
                <a:solidFill>
                  <a:schemeClr val="tx1"/>
                </a:solidFill>
                <a:latin typeface="Arial" panose="020B0604020202020204" pitchFamily="34" charset="0"/>
              </a:defRPr>
            </a:lvl6pPr>
            <a:lvl7pPr marL="3801494" algn="l" rtl="0" fontAlgn="base">
              <a:lnSpc>
                <a:spcPct val="85000"/>
              </a:lnSpc>
              <a:spcBef>
                <a:spcPct val="0"/>
              </a:spcBef>
              <a:spcAft>
                <a:spcPct val="0"/>
              </a:spcAft>
              <a:defRPr sz="8731" b="1">
                <a:solidFill>
                  <a:schemeClr val="tx1"/>
                </a:solidFill>
                <a:latin typeface="Arial" panose="020B0604020202020204" pitchFamily="34" charset="0"/>
              </a:defRPr>
            </a:lvl7pPr>
            <a:lvl8pPr marL="5702238" algn="l" rtl="0" fontAlgn="base">
              <a:lnSpc>
                <a:spcPct val="85000"/>
              </a:lnSpc>
              <a:spcBef>
                <a:spcPct val="0"/>
              </a:spcBef>
              <a:spcAft>
                <a:spcPct val="0"/>
              </a:spcAft>
              <a:defRPr sz="8731" b="1">
                <a:solidFill>
                  <a:schemeClr val="tx1"/>
                </a:solidFill>
                <a:latin typeface="Arial" panose="020B0604020202020204" pitchFamily="34" charset="0"/>
              </a:defRPr>
            </a:lvl8pPr>
            <a:lvl9pPr marL="7602985" algn="l" rtl="0" fontAlgn="base">
              <a:lnSpc>
                <a:spcPct val="85000"/>
              </a:lnSpc>
              <a:spcBef>
                <a:spcPct val="0"/>
              </a:spcBef>
              <a:spcAft>
                <a:spcPct val="0"/>
              </a:spcAft>
              <a:defRPr sz="8731" b="1">
                <a:solidFill>
                  <a:schemeClr val="tx1"/>
                </a:solidFill>
                <a:latin typeface="Arial" panose="020B0604020202020204" pitchFamily="34" charset="0"/>
              </a:defRPr>
            </a:lvl9pPr>
          </a:lstStyle>
          <a:p>
            <a:r>
              <a:rPr lang="en-US" sz="8800" b="0" i="1">
                <a:solidFill>
                  <a:prstClr val="black"/>
                </a:solidFill>
                <a:latin typeface="Arial"/>
              </a:rPr>
              <a:t>Myth-busting careers in Data Science</a:t>
            </a:r>
            <a:endParaRPr lang="en-US" sz="6600" b="0" i="1">
              <a:solidFill>
                <a:prstClr val="black"/>
              </a:solidFill>
              <a:latin typeface="Arial"/>
            </a:endParaRPr>
          </a:p>
        </p:txBody>
      </p:sp>
      <p:grpSp>
        <p:nvGrpSpPr>
          <p:cNvPr id="4" name="Group 3">
            <a:extLst>
              <a:ext uri="{FF2B5EF4-FFF2-40B4-BE49-F238E27FC236}">
                <a16:creationId xmlns:a16="http://schemas.microsoft.com/office/drawing/2014/main" id="{6C6E43B1-F688-D5C9-219E-A7C2B9536E12}"/>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7" name="Straight Connector 6">
              <a:extLst>
                <a:ext uri="{FF2B5EF4-FFF2-40B4-BE49-F238E27FC236}">
                  <a16:creationId xmlns:a16="http://schemas.microsoft.com/office/drawing/2014/main" id="{8C80C97A-3CBC-2EA5-4D1B-15D7D079948F}"/>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F4F62ECB-0B10-CCEF-4D5E-AFA4F1F9720E}"/>
              </a:ext>
            </a:extLst>
          </p:cNvPr>
          <p:cNvGrpSpPr/>
          <p:nvPr/>
        </p:nvGrpSpPr>
        <p:grpSpPr>
          <a:xfrm>
            <a:off x="1219200" y="20303171"/>
            <a:ext cx="35661600" cy="758938"/>
            <a:chOff x="1219200" y="20303171"/>
            <a:chExt cx="35661600" cy="758938"/>
          </a:xfrm>
        </p:grpSpPr>
        <p:cxnSp>
          <p:nvCxnSpPr>
            <p:cNvPr id="13" name="Straight Connector 12">
              <a:extLst>
                <a:ext uri="{FF2B5EF4-FFF2-40B4-BE49-F238E27FC236}">
                  <a16:creationId xmlns:a16="http://schemas.microsoft.com/office/drawing/2014/main" id="{6473C73D-2D7F-E369-A96F-59497FC367A0}"/>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1FE2DFF-FC6E-487C-1759-177C0E529C6A}"/>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97105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6C7A3821-465F-4A90-AEB1-587636604B24}"/>
              </a:ext>
            </a:extLst>
          </p:cNvPr>
          <p:cNvSpPr txBox="1"/>
          <p:nvPr/>
        </p:nvSpPr>
        <p:spPr>
          <a:xfrm>
            <a:off x="961229" y="3834000"/>
            <a:ext cx="33858145" cy="2585323"/>
          </a:xfrm>
          <a:prstGeom prst="rect">
            <a:avLst/>
          </a:prstGeom>
          <a:noFill/>
        </p:spPr>
        <p:txBody>
          <a:bodyPr wrap="square" lIns="91440" tIns="45720" rIns="91440" bIns="45720" anchor="t">
            <a:spAutoFit/>
          </a:bodyPr>
          <a:lstStyle/>
          <a:p>
            <a:r>
              <a:rPr lang="en-US" sz="9600" b="1">
                <a:latin typeface="Arial"/>
                <a:cs typeface="Arial"/>
              </a:rPr>
              <a:t>Useful skills</a:t>
            </a:r>
            <a:endParaRPr lang="en-US">
              <a:highlight>
                <a:srgbClr val="FFFF00"/>
              </a:highlight>
            </a:endParaRPr>
          </a:p>
          <a:p>
            <a:endParaRPr lang="en-US" sz="6600" b="1">
              <a:solidFill>
                <a:srgbClr val="000000"/>
              </a:solidFill>
            </a:endParaRPr>
          </a:p>
        </p:txBody>
      </p:sp>
      <p:pic>
        <p:nvPicPr>
          <p:cNvPr id="7" name="Graphic 7" descr="Magnifying glass with solid fill">
            <a:extLst>
              <a:ext uri="{FF2B5EF4-FFF2-40B4-BE49-F238E27FC236}">
                <a16:creationId xmlns:a16="http://schemas.microsoft.com/office/drawing/2014/main" id="{F6129214-0423-AEC2-63D3-CDE4B344E4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02222" y="6085415"/>
            <a:ext cx="2020679" cy="2094568"/>
          </a:xfrm>
          <a:prstGeom prst="rect">
            <a:avLst/>
          </a:prstGeom>
        </p:spPr>
      </p:pic>
      <p:pic>
        <p:nvPicPr>
          <p:cNvPr id="8" name="Graphic 8" descr="Recycle with solid fill">
            <a:extLst>
              <a:ext uri="{FF2B5EF4-FFF2-40B4-BE49-F238E27FC236}">
                <a16:creationId xmlns:a16="http://schemas.microsoft.com/office/drawing/2014/main" id="{B6518543-3547-DCF5-6EEB-322D1CC991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725042" y="6125883"/>
            <a:ext cx="2017134" cy="2110091"/>
          </a:xfrm>
          <a:prstGeom prst="rect">
            <a:avLst/>
          </a:prstGeom>
        </p:spPr>
      </p:pic>
      <p:grpSp>
        <p:nvGrpSpPr>
          <p:cNvPr id="11" name="Group 10">
            <a:extLst>
              <a:ext uri="{FF2B5EF4-FFF2-40B4-BE49-F238E27FC236}">
                <a16:creationId xmlns:a16="http://schemas.microsoft.com/office/drawing/2014/main" id="{0C872578-BD9C-3E2E-16D0-013EC8B02E8B}"/>
              </a:ext>
            </a:extLst>
          </p:cNvPr>
          <p:cNvGrpSpPr/>
          <p:nvPr/>
        </p:nvGrpSpPr>
        <p:grpSpPr>
          <a:xfrm>
            <a:off x="0" y="0"/>
            <a:ext cx="38015863" cy="3729671"/>
            <a:chOff x="0" y="0"/>
            <a:chExt cx="38015863" cy="3729671"/>
          </a:xfrm>
        </p:grpSpPr>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Shape&#10;&#10;Description automatically generated with low confidence">
              <a:extLst>
                <a:ext uri="{FF2B5EF4-FFF2-40B4-BE49-F238E27FC236}">
                  <a16:creationId xmlns:a16="http://schemas.microsoft.com/office/drawing/2014/main" id="{67D2918E-DF9C-E126-E8E2-BA6E50921999}"/>
                </a:ext>
              </a:extLst>
            </p:cNvPr>
            <p:cNvPicPr>
              <a:picLocks noChangeAspect="1"/>
            </p:cNvPicPr>
            <p:nvPr/>
          </p:nvPicPr>
          <p:blipFill rotWithShape="1">
            <a:blip r:embed="rId7">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grpSp>
      <p:grpSp>
        <p:nvGrpSpPr>
          <p:cNvPr id="28" name="Group 27">
            <a:extLst>
              <a:ext uri="{FF2B5EF4-FFF2-40B4-BE49-F238E27FC236}">
                <a16:creationId xmlns:a16="http://schemas.microsoft.com/office/drawing/2014/main" id="{ECF2D13C-FC28-3CA5-826C-CE6813C0896D}"/>
              </a:ext>
            </a:extLst>
          </p:cNvPr>
          <p:cNvGrpSpPr/>
          <p:nvPr/>
        </p:nvGrpSpPr>
        <p:grpSpPr>
          <a:xfrm>
            <a:off x="1219200" y="20303171"/>
            <a:ext cx="35661600" cy="758938"/>
            <a:chOff x="1219200" y="20303171"/>
            <a:chExt cx="35661600" cy="758938"/>
          </a:xfrm>
        </p:grpSpPr>
        <p:cxnSp>
          <p:nvCxnSpPr>
            <p:cNvPr id="30" name="Straight Connector 29">
              <a:extLst>
                <a:ext uri="{FF2B5EF4-FFF2-40B4-BE49-F238E27FC236}">
                  <a16:creationId xmlns:a16="http://schemas.microsoft.com/office/drawing/2014/main" id="{2A0C811B-6837-DC1F-C1B1-D5FCE02006FC}"/>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5EF29E8-3245-BA25-7F3A-36F230ADC0E6}"/>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1A419C14-0015-E255-7831-3B5E60CB0CB1}"/>
              </a:ext>
            </a:extLst>
          </p:cNvPr>
          <p:cNvSpPr txBox="1"/>
          <p:nvPr/>
        </p:nvSpPr>
        <p:spPr>
          <a:xfrm>
            <a:off x="3196489" y="6230211"/>
            <a:ext cx="11631168" cy="11462818"/>
          </a:xfrm>
          <a:prstGeom prst="rect">
            <a:avLst/>
          </a:prstGeom>
          <a:noFill/>
        </p:spPr>
        <p:txBody>
          <a:bodyPr wrap="square" rtlCol="0">
            <a:spAutoFit/>
          </a:bodyPr>
          <a:lstStyle/>
          <a:p>
            <a:pPr>
              <a:lnSpc>
                <a:spcPct val="200000"/>
              </a:lnSpc>
            </a:pPr>
            <a:r>
              <a:rPr lang="en-GB" sz="6000" b="1" u="sng">
                <a:latin typeface="Arial"/>
                <a:cs typeface="Arial"/>
              </a:rPr>
              <a:t>Subject-specific skills</a:t>
            </a:r>
          </a:p>
          <a:p>
            <a:pPr marL="857250" indent="-857250">
              <a:lnSpc>
                <a:spcPct val="150000"/>
              </a:lnSpc>
              <a:buFontTx/>
              <a:buChar char="-"/>
            </a:pPr>
            <a:r>
              <a:rPr lang="en-GB" sz="6000">
                <a:latin typeface="Arial"/>
                <a:cs typeface="Arial"/>
              </a:rPr>
              <a:t>Computer Science</a:t>
            </a:r>
          </a:p>
          <a:p>
            <a:pPr marL="857250" indent="-857250">
              <a:lnSpc>
                <a:spcPct val="150000"/>
              </a:lnSpc>
              <a:buFontTx/>
              <a:buChar char="-"/>
            </a:pPr>
            <a:r>
              <a:rPr lang="en-GB" sz="6000">
                <a:latin typeface="Arial"/>
                <a:cs typeface="Arial"/>
              </a:rPr>
              <a:t>Statistics and probability</a:t>
            </a:r>
          </a:p>
          <a:p>
            <a:pPr marL="857250" indent="-857250">
              <a:lnSpc>
                <a:spcPct val="150000"/>
              </a:lnSpc>
              <a:buFontTx/>
              <a:buChar char="-"/>
            </a:pPr>
            <a:r>
              <a:rPr lang="en-GB" sz="6000">
                <a:latin typeface="Arial"/>
                <a:cs typeface="Arial"/>
              </a:rPr>
              <a:t>Coding (e.g. Python, R)</a:t>
            </a:r>
          </a:p>
          <a:p>
            <a:pPr marL="857250" indent="-857250">
              <a:lnSpc>
                <a:spcPct val="150000"/>
              </a:lnSpc>
              <a:buFontTx/>
              <a:buChar char="-"/>
            </a:pPr>
            <a:r>
              <a:rPr lang="en-GB" sz="6000">
                <a:latin typeface="Arial"/>
                <a:cs typeface="Arial"/>
              </a:rPr>
              <a:t>AI methods</a:t>
            </a:r>
          </a:p>
          <a:p>
            <a:pPr marL="857250" indent="-857250">
              <a:lnSpc>
                <a:spcPct val="150000"/>
              </a:lnSpc>
              <a:buFontTx/>
              <a:buChar char="-"/>
            </a:pPr>
            <a:r>
              <a:rPr lang="en-GB" sz="6000">
                <a:latin typeface="Arial"/>
                <a:cs typeface="Arial"/>
              </a:rPr>
              <a:t>Report writing / visualisations</a:t>
            </a:r>
          </a:p>
          <a:p>
            <a:pPr marL="857250" indent="-857250">
              <a:lnSpc>
                <a:spcPct val="150000"/>
              </a:lnSpc>
              <a:buFontTx/>
              <a:buChar char="-"/>
            </a:pPr>
            <a:r>
              <a:rPr lang="en-GB" sz="6000">
                <a:latin typeface="Arial"/>
                <a:cs typeface="Arial"/>
              </a:rPr>
              <a:t>Version control</a:t>
            </a:r>
          </a:p>
          <a:p>
            <a:pPr marL="857250" indent="-857250">
              <a:lnSpc>
                <a:spcPct val="150000"/>
              </a:lnSpc>
              <a:buFontTx/>
              <a:buChar char="-"/>
            </a:pPr>
            <a:r>
              <a:rPr lang="en-GB" sz="6000">
                <a:latin typeface="Arial"/>
                <a:cs typeface="Arial"/>
              </a:rPr>
              <a:t>Domain knowledge</a:t>
            </a:r>
          </a:p>
        </p:txBody>
      </p:sp>
      <p:sp>
        <p:nvSpPr>
          <p:cNvPr id="9" name="TextBox 8">
            <a:extLst>
              <a:ext uri="{FF2B5EF4-FFF2-40B4-BE49-F238E27FC236}">
                <a16:creationId xmlns:a16="http://schemas.microsoft.com/office/drawing/2014/main" id="{A0118E61-EE5A-BF2B-5C1A-F0CEE25E57BA}"/>
              </a:ext>
            </a:extLst>
          </p:cNvPr>
          <p:cNvSpPr txBox="1"/>
          <p:nvPr/>
        </p:nvSpPr>
        <p:spPr>
          <a:xfrm>
            <a:off x="18590582" y="6230211"/>
            <a:ext cx="12901354" cy="12847813"/>
          </a:xfrm>
          <a:prstGeom prst="rect">
            <a:avLst/>
          </a:prstGeom>
          <a:noFill/>
        </p:spPr>
        <p:txBody>
          <a:bodyPr wrap="square" rtlCol="0">
            <a:spAutoFit/>
          </a:bodyPr>
          <a:lstStyle/>
          <a:p>
            <a:pPr>
              <a:lnSpc>
                <a:spcPct val="200000"/>
              </a:lnSpc>
            </a:pPr>
            <a:r>
              <a:rPr lang="en-GB" sz="6000" b="1" u="sng">
                <a:latin typeface="Arial"/>
                <a:cs typeface="Arial"/>
              </a:rPr>
              <a:t>Transferable skills</a:t>
            </a:r>
          </a:p>
          <a:p>
            <a:pPr marL="857250" indent="-857250">
              <a:lnSpc>
                <a:spcPct val="150000"/>
              </a:lnSpc>
              <a:buFontTx/>
              <a:buChar char="-"/>
            </a:pPr>
            <a:r>
              <a:rPr lang="en-GB" sz="6000">
                <a:latin typeface="Arial"/>
                <a:cs typeface="Arial"/>
              </a:rPr>
              <a:t>Working at pace to tight deadlines </a:t>
            </a:r>
          </a:p>
          <a:p>
            <a:pPr marL="857250" indent="-857250">
              <a:lnSpc>
                <a:spcPct val="150000"/>
              </a:lnSpc>
              <a:buFontTx/>
              <a:buChar char="-"/>
            </a:pPr>
            <a:r>
              <a:rPr lang="en-GB" sz="6000">
                <a:latin typeface="Arial"/>
                <a:cs typeface="Arial"/>
              </a:rPr>
              <a:t>Critical thinking </a:t>
            </a:r>
          </a:p>
          <a:p>
            <a:pPr marL="857250" indent="-857250">
              <a:lnSpc>
                <a:spcPct val="150000"/>
              </a:lnSpc>
              <a:buFontTx/>
              <a:buChar char="-"/>
            </a:pPr>
            <a:r>
              <a:rPr lang="en-GB" sz="6000">
                <a:latin typeface="Arial"/>
                <a:cs typeface="Arial"/>
              </a:rPr>
              <a:t>Strategic communication</a:t>
            </a:r>
          </a:p>
          <a:p>
            <a:pPr marL="857250" indent="-857250">
              <a:lnSpc>
                <a:spcPct val="150000"/>
              </a:lnSpc>
              <a:buFontTx/>
              <a:buChar char="-"/>
            </a:pPr>
            <a:r>
              <a:rPr lang="en-GB" sz="6000">
                <a:latin typeface="Arial"/>
                <a:cs typeface="Arial"/>
              </a:rPr>
              <a:t>Problem-solving</a:t>
            </a:r>
          </a:p>
          <a:p>
            <a:pPr marL="857250" indent="-857250">
              <a:lnSpc>
                <a:spcPct val="150000"/>
              </a:lnSpc>
              <a:buFontTx/>
              <a:buChar char="-"/>
            </a:pPr>
            <a:r>
              <a:rPr lang="en-GB" sz="6000">
                <a:latin typeface="Arial"/>
                <a:cs typeface="Arial"/>
              </a:rPr>
              <a:t>Project management</a:t>
            </a:r>
          </a:p>
          <a:p>
            <a:pPr marL="857250" indent="-857250">
              <a:lnSpc>
                <a:spcPct val="150000"/>
              </a:lnSpc>
              <a:buFontTx/>
              <a:buChar char="-"/>
            </a:pPr>
            <a:r>
              <a:rPr lang="en-GB" sz="6000">
                <a:latin typeface="Arial"/>
                <a:cs typeface="Arial"/>
              </a:rPr>
              <a:t>Numerical and analytical skills </a:t>
            </a:r>
          </a:p>
          <a:p>
            <a:pPr marL="857250" indent="-857250">
              <a:lnSpc>
                <a:spcPct val="150000"/>
              </a:lnSpc>
              <a:buFontTx/>
              <a:buChar char="-"/>
            </a:pPr>
            <a:r>
              <a:rPr lang="en-GB" sz="6000">
                <a:latin typeface="Arial"/>
                <a:cs typeface="Arial"/>
              </a:rPr>
              <a:t>Teamwork and collaboration</a:t>
            </a:r>
          </a:p>
          <a:p>
            <a:pPr marL="857250" indent="-857250">
              <a:lnSpc>
                <a:spcPct val="150000"/>
              </a:lnSpc>
              <a:buFontTx/>
              <a:buChar char="-"/>
            </a:pPr>
            <a:endParaRPr lang="en-GB" sz="6000">
              <a:latin typeface="Arial"/>
              <a:cs typeface="Arial"/>
            </a:endParaRPr>
          </a:p>
        </p:txBody>
      </p:sp>
      <p:sp>
        <p:nvSpPr>
          <p:cNvPr id="10" name="TextBox 1">
            <a:extLst>
              <a:ext uri="{FF2B5EF4-FFF2-40B4-BE49-F238E27FC236}">
                <a16:creationId xmlns:a16="http://schemas.microsoft.com/office/drawing/2014/main" id="{08AD68D2-30AF-F07B-B74F-DADD5A460FAF}"/>
              </a:ext>
            </a:extLst>
          </p:cNvPr>
          <p:cNvSpPr txBox="1"/>
          <p:nvPr/>
        </p:nvSpPr>
        <p:spPr>
          <a:xfrm>
            <a:off x="1792281" y="18504341"/>
            <a:ext cx="6381701" cy="756689"/>
          </a:xfrm>
          <a:prstGeom prst="rect">
            <a:avLst/>
          </a:prstGeom>
          <a:noFill/>
        </p:spPr>
        <p:txBody>
          <a:bodyPr wrap="none" lIns="0" tIns="0" rIns="0" bIns="0" rtlCol="0" anchor="t">
            <a:no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165287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330575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49586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6611506"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826438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9917261"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11570136"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13223014" algn="l" defTabSz="3305753"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ts val="0"/>
              </a:spcBef>
              <a:spcAft>
                <a:spcPts val="0"/>
              </a:spcAft>
            </a:pPr>
            <a:endParaRPr lang="en-US" sz="4800" i="1" dirty="0">
              <a:latin typeface="Arial"/>
              <a:cs typeface="Aria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lang="en-GB" sz="4800" b="0" i="0" u="none" strike="noStrike" kern="1200" cap="none" spc="0" normalizeH="0" baseline="0" noProof="0" dirty="0">
              <a:ln>
                <a:noFill/>
              </a:ln>
              <a:effectLst/>
              <a:uLnTx/>
              <a:uFillTx/>
              <a:latin typeface="+mn-lt"/>
              <a:cs typeface="Arial"/>
            </a:endParaRPr>
          </a:p>
        </p:txBody>
      </p:sp>
    </p:spTree>
    <p:extLst>
      <p:ext uri="{BB962C8B-B14F-4D97-AF65-F5344CB8AC3E}">
        <p14:creationId xmlns:p14="http://schemas.microsoft.com/office/powerpoint/2010/main" val="139268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5EC40DD-C73E-5F14-8F8D-9BDC4BCC19F8}"/>
              </a:ext>
            </a:extLst>
          </p:cNvPr>
          <p:cNvGrpSpPr/>
          <p:nvPr/>
        </p:nvGrpSpPr>
        <p:grpSpPr>
          <a:xfrm>
            <a:off x="24185505" y="7622384"/>
            <a:ext cx="9613851" cy="1292662"/>
            <a:chOff x="24185505" y="7622384"/>
            <a:chExt cx="9613851" cy="1292662"/>
          </a:xfrm>
        </p:grpSpPr>
        <p:cxnSp>
          <p:nvCxnSpPr>
            <p:cNvPr id="10" name="Straight Arrow Connector 9">
              <a:extLst>
                <a:ext uri="{FF2B5EF4-FFF2-40B4-BE49-F238E27FC236}">
                  <a16:creationId xmlns:a16="http://schemas.microsoft.com/office/drawing/2014/main" id="{DB90766B-80C8-30FE-922E-464B0B942F65}"/>
                </a:ext>
              </a:extLst>
            </p:cNvPr>
            <p:cNvCxnSpPr>
              <a:cxnSpLocks/>
            </p:cNvCxnSpPr>
            <p:nvPr/>
          </p:nvCxnSpPr>
          <p:spPr>
            <a:xfrm flipV="1">
              <a:off x="24185505" y="8307522"/>
              <a:ext cx="3038935" cy="6075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C16DD7D-C279-D415-DBB8-F6F2834511F7}"/>
                </a:ext>
              </a:extLst>
            </p:cNvPr>
            <p:cNvSpPr txBox="1"/>
            <p:nvPr/>
          </p:nvSpPr>
          <p:spPr>
            <a:xfrm>
              <a:off x="27627330" y="7622384"/>
              <a:ext cx="617202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Cyber Architect</a:t>
              </a:r>
            </a:p>
          </p:txBody>
        </p:sp>
      </p:grpSp>
      <p:grpSp>
        <p:nvGrpSpPr>
          <p:cNvPr id="15" name="Group 14">
            <a:extLst>
              <a:ext uri="{FF2B5EF4-FFF2-40B4-BE49-F238E27FC236}">
                <a16:creationId xmlns:a16="http://schemas.microsoft.com/office/drawing/2014/main" id="{90F64C8C-4799-D426-36FD-96DEC224BD10}"/>
              </a:ext>
            </a:extLst>
          </p:cNvPr>
          <p:cNvGrpSpPr/>
          <p:nvPr/>
        </p:nvGrpSpPr>
        <p:grpSpPr>
          <a:xfrm>
            <a:off x="24185505" y="9729216"/>
            <a:ext cx="13430985" cy="1450856"/>
            <a:chOff x="24185505" y="9729216"/>
            <a:chExt cx="13430985" cy="1450856"/>
          </a:xfrm>
        </p:grpSpPr>
        <p:cxnSp>
          <p:nvCxnSpPr>
            <p:cNvPr id="21" name="Straight Arrow Connector 20">
              <a:extLst>
                <a:ext uri="{FF2B5EF4-FFF2-40B4-BE49-F238E27FC236}">
                  <a16:creationId xmlns:a16="http://schemas.microsoft.com/office/drawing/2014/main" id="{F852505B-AF58-337D-5B4B-AC11CC7C3618}"/>
                </a:ext>
              </a:extLst>
            </p:cNvPr>
            <p:cNvCxnSpPr>
              <a:cxnSpLocks/>
            </p:cNvCxnSpPr>
            <p:nvPr/>
          </p:nvCxnSpPr>
          <p:spPr>
            <a:xfrm flipV="1">
              <a:off x="24185505" y="10314987"/>
              <a:ext cx="4517487" cy="8650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4E6C98D-63E4-6565-2A59-C2D387A9C691}"/>
                </a:ext>
              </a:extLst>
            </p:cNvPr>
            <p:cNvSpPr txBox="1"/>
            <p:nvPr/>
          </p:nvSpPr>
          <p:spPr>
            <a:xfrm>
              <a:off x="29019998" y="9729216"/>
              <a:ext cx="859649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Cyber Security Engineer</a:t>
              </a:r>
            </a:p>
          </p:txBody>
        </p:sp>
      </p:grpSp>
      <p:grpSp>
        <p:nvGrpSpPr>
          <p:cNvPr id="17" name="Group 16">
            <a:extLst>
              <a:ext uri="{FF2B5EF4-FFF2-40B4-BE49-F238E27FC236}">
                <a16:creationId xmlns:a16="http://schemas.microsoft.com/office/drawing/2014/main" id="{60B4741B-9382-E502-1984-D5BFB28415A9}"/>
              </a:ext>
            </a:extLst>
          </p:cNvPr>
          <p:cNvGrpSpPr/>
          <p:nvPr/>
        </p:nvGrpSpPr>
        <p:grpSpPr>
          <a:xfrm>
            <a:off x="24185505" y="13693261"/>
            <a:ext cx="12959452" cy="2340387"/>
            <a:chOff x="24185505" y="13693261"/>
            <a:chExt cx="12959452" cy="2340387"/>
          </a:xfrm>
        </p:grpSpPr>
        <p:cxnSp>
          <p:nvCxnSpPr>
            <p:cNvPr id="23" name="Straight Arrow Connector 22">
              <a:extLst>
                <a:ext uri="{FF2B5EF4-FFF2-40B4-BE49-F238E27FC236}">
                  <a16:creationId xmlns:a16="http://schemas.microsoft.com/office/drawing/2014/main" id="{366AD200-3FF9-EEBA-E29A-DC8F295DC77C}"/>
                </a:ext>
              </a:extLst>
            </p:cNvPr>
            <p:cNvCxnSpPr>
              <a:cxnSpLocks/>
            </p:cNvCxnSpPr>
            <p:nvPr/>
          </p:nvCxnSpPr>
          <p:spPr>
            <a:xfrm>
              <a:off x="24185505" y="13693261"/>
              <a:ext cx="5306027" cy="129039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E10DAEF-B8CE-1BA8-A152-ED9A4D0711F5}"/>
                </a:ext>
              </a:extLst>
            </p:cNvPr>
            <p:cNvSpPr txBox="1"/>
            <p:nvPr/>
          </p:nvSpPr>
          <p:spPr>
            <a:xfrm>
              <a:off x="29491532" y="14094656"/>
              <a:ext cx="765342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Roles within a Cyber Operations Centre</a:t>
              </a:r>
            </a:p>
          </p:txBody>
        </p:sp>
      </p:grpSp>
      <p:grpSp>
        <p:nvGrpSpPr>
          <p:cNvPr id="30" name="Group 29">
            <a:extLst>
              <a:ext uri="{FF2B5EF4-FFF2-40B4-BE49-F238E27FC236}">
                <a16:creationId xmlns:a16="http://schemas.microsoft.com/office/drawing/2014/main" id="{3A223614-722E-CF10-F01D-E18E69EBEEF2}"/>
              </a:ext>
            </a:extLst>
          </p:cNvPr>
          <p:cNvGrpSpPr/>
          <p:nvPr/>
        </p:nvGrpSpPr>
        <p:grpSpPr>
          <a:xfrm>
            <a:off x="24185504" y="15538400"/>
            <a:ext cx="11769981" cy="1903130"/>
            <a:chOff x="24185504" y="15538400"/>
            <a:chExt cx="11769981" cy="1903130"/>
          </a:xfrm>
        </p:grpSpPr>
        <p:cxnSp>
          <p:nvCxnSpPr>
            <p:cNvPr id="22" name="Straight Arrow Connector 21">
              <a:extLst>
                <a:ext uri="{FF2B5EF4-FFF2-40B4-BE49-F238E27FC236}">
                  <a16:creationId xmlns:a16="http://schemas.microsoft.com/office/drawing/2014/main" id="{FCCF1C0C-BACA-01EE-9876-AB98A0C445FD}"/>
                </a:ext>
              </a:extLst>
            </p:cNvPr>
            <p:cNvCxnSpPr>
              <a:cxnSpLocks/>
            </p:cNvCxnSpPr>
            <p:nvPr/>
          </p:nvCxnSpPr>
          <p:spPr>
            <a:xfrm>
              <a:off x="24185504" y="15538400"/>
              <a:ext cx="3038936" cy="131361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0C70264-9BD4-0F4D-F6DD-DF0E81FE9B45}"/>
                </a:ext>
              </a:extLst>
            </p:cNvPr>
            <p:cNvSpPr txBox="1"/>
            <p:nvPr/>
          </p:nvSpPr>
          <p:spPr>
            <a:xfrm>
              <a:off x="27358993" y="16425867"/>
              <a:ext cx="859649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Software Engineer</a:t>
              </a:r>
            </a:p>
          </p:txBody>
        </p:sp>
      </p:grpSp>
      <p:grpSp>
        <p:nvGrpSpPr>
          <p:cNvPr id="39" name="Group 38">
            <a:extLst>
              <a:ext uri="{FF2B5EF4-FFF2-40B4-BE49-F238E27FC236}">
                <a16:creationId xmlns:a16="http://schemas.microsoft.com/office/drawing/2014/main" id="{4169F096-0038-9653-D1A9-37EC1197AE6C}"/>
              </a:ext>
            </a:extLst>
          </p:cNvPr>
          <p:cNvGrpSpPr/>
          <p:nvPr/>
        </p:nvGrpSpPr>
        <p:grpSpPr>
          <a:xfrm>
            <a:off x="22059900" y="15604382"/>
            <a:ext cx="10037973" cy="3655185"/>
            <a:chOff x="22059900" y="15604382"/>
            <a:chExt cx="10037973" cy="3655185"/>
          </a:xfrm>
        </p:grpSpPr>
        <p:cxnSp>
          <p:nvCxnSpPr>
            <p:cNvPr id="37" name="Straight Arrow Connector 36">
              <a:extLst>
                <a:ext uri="{FF2B5EF4-FFF2-40B4-BE49-F238E27FC236}">
                  <a16:creationId xmlns:a16="http://schemas.microsoft.com/office/drawing/2014/main" id="{A1F9D745-4267-35E3-C1B3-AB210E3F7E65}"/>
                </a:ext>
              </a:extLst>
            </p:cNvPr>
            <p:cNvCxnSpPr>
              <a:cxnSpLocks/>
            </p:cNvCxnSpPr>
            <p:nvPr/>
          </p:nvCxnSpPr>
          <p:spPr>
            <a:xfrm>
              <a:off x="22059900" y="15604382"/>
              <a:ext cx="904074" cy="250049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DDA8749-0B39-79A0-AC92-667D60C1DADA}"/>
                </a:ext>
              </a:extLst>
            </p:cNvPr>
            <p:cNvSpPr txBox="1"/>
            <p:nvPr/>
          </p:nvSpPr>
          <p:spPr>
            <a:xfrm>
              <a:off x="22351007" y="18243904"/>
              <a:ext cx="974686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Machine Learning Engineer</a:t>
              </a:r>
            </a:p>
          </p:txBody>
        </p:sp>
      </p:grpSp>
      <p:grpSp>
        <p:nvGrpSpPr>
          <p:cNvPr id="44" name="Group 43">
            <a:extLst>
              <a:ext uri="{FF2B5EF4-FFF2-40B4-BE49-F238E27FC236}">
                <a16:creationId xmlns:a16="http://schemas.microsoft.com/office/drawing/2014/main" id="{C801572C-1814-355C-8E43-8CC3D80A8545}"/>
              </a:ext>
            </a:extLst>
          </p:cNvPr>
          <p:cNvGrpSpPr/>
          <p:nvPr/>
        </p:nvGrpSpPr>
        <p:grpSpPr>
          <a:xfrm>
            <a:off x="14238381" y="15604382"/>
            <a:ext cx="7017978" cy="2762144"/>
            <a:chOff x="14238381" y="15604382"/>
            <a:chExt cx="7017978" cy="2762144"/>
          </a:xfrm>
        </p:grpSpPr>
        <p:cxnSp>
          <p:nvCxnSpPr>
            <p:cNvPr id="34" name="Straight Arrow Connector 33">
              <a:extLst>
                <a:ext uri="{FF2B5EF4-FFF2-40B4-BE49-F238E27FC236}">
                  <a16:creationId xmlns:a16="http://schemas.microsoft.com/office/drawing/2014/main" id="{866A5C47-60E6-74A8-B578-265903CAA8C6}"/>
                </a:ext>
              </a:extLst>
            </p:cNvPr>
            <p:cNvCxnSpPr>
              <a:cxnSpLocks/>
            </p:cNvCxnSpPr>
            <p:nvPr/>
          </p:nvCxnSpPr>
          <p:spPr>
            <a:xfrm>
              <a:off x="16897716" y="15604382"/>
              <a:ext cx="0" cy="185435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44169553-7EEC-4913-4509-7E58523BAD2D}"/>
                </a:ext>
              </a:extLst>
            </p:cNvPr>
            <p:cNvSpPr txBox="1"/>
            <p:nvPr/>
          </p:nvSpPr>
          <p:spPr>
            <a:xfrm>
              <a:off x="14238381" y="17350863"/>
              <a:ext cx="701797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Intelligence Analyst</a:t>
              </a:r>
            </a:p>
          </p:txBody>
        </p:sp>
      </p:grpSp>
      <p:grpSp>
        <p:nvGrpSpPr>
          <p:cNvPr id="45" name="Group 44">
            <a:extLst>
              <a:ext uri="{FF2B5EF4-FFF2-40B4-BE49-F238E27FC236}">
                <a16:creationId xmlns:a16="http://schemas.microsoft.com/office/drawing/2014/main" id="{52C47DFC-D26A-4805-FFEA-160DC08F1275}"/>
              </a:ext>
            </a:extLst>
          </p:cNvPr>
          <p:cNvGrpSpPr/>
          <p:nvPr/>
        </p:nvGrpSpPr>
        <p:grpSpPr>
          <a:xfrm>
            <a:off x="6370749" y="15604382"/>
            <a:ext cx="6481644" cy="3189389"/>
            <a:chOff x="6370749" y="15604382"/>
            <a:chExt cx="6481644" cy="3189389"/>
          </a:xfrm>
        </p:grpSpPr>
        <p:cxnSp>
          <p:nvCxnSpPr>
            <p:cNvPr id="35" name="Straight Arrow Connector 34">
              <a:extLst>
                <a:ext uri="{FF2B5EF4-FFF2-40B4-BE49-F238E27FC236}">
                  <a16:creationId xmlns:a16="http://schemas.microsoft.com/office/drawing/2014/main" id="{E396AF48-2F28-4A49-49C3-8CBB102F7410}"/>
                </a:ext>
              </a:extLst>
            </p:cNvPr>
            <p:cNvCxnSpPr>
              <a:cxnSpLocks/>
            </p:cNvCxnSpPr>
            <p:nvPr/>
          </p:nvCxnSpPr>
          <p:spPr>
            <a:xfrm flipH="1">
              <a:off x="10915603" y="15604382"/>
              <a:ext cx="1936790" cy="158947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9BAD9FE-419A-618D-5583-DB1CB6712961}"/>
                </a:ext>
              </a:extLst>
            </p:cNvPr>
            <p:cNvSpPr txBox="1"/>
            <p:nvPr/>
          </p:nvSpPr>
          <p:spPr>
            <a:xfrm>
              <a:off x="6370749" y="16854779"/>
              <a:ext cx="454485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Behavioural Scientist</a:t>
              </a:r>
            </a:p>
          </p:txBody>
        </p:sp>
      </p:grpSp>
      <p:grpSp>
        <p:nvGrpSpPr>
          <p:cNvPr id="46" name="Group 45">
            <a:extLst>
              <a:ext uri="{FF2B5EF4-FFF2-40B4-BE49-F238E27FC236}">
                <a16:creationId xmlns:a16="http://schemas.microsoft.com/office/drawing/2014/main" id="{658C0FDB-BBFC-0151-548F-C0AFA35D62CD}"/>
              </a:ext>
            </a:extLst>
          </p:cNvPr>
          <p:cNvGrpSpPr/>
          <p:nvPr/>
        </p:nvGrpSpPr>
        <p:grpSpPr>
          <a:xfrm>
            <a:off x="844300" y="13517429"/>
            <a:ext cx="11328650" cy="1015663"/>
            <a:chOff x="844300" y="13517429"/>
            <a:chExt cx="11328650" cy="1015663"/>
          </a:xfrm>
        </p:grpSpPr>
        <p:cxnSp>
          <p:nvCxnSpPr>
            <p:cNvPr id="36" name="Straight Arrow Connector 35">
              <a:extLst>
                <a:ext uri="{FF2B5EF4-FFF2-40B4-BE49-F238E27FC236}">
                  <a16:creationId xmlns:a16="http://schemas.microsoft.com/office/drawing/2014/main" id="{C68535AF-05B9-0642-711E-8A2EE2876AC7}"/>
                </a:ext>
              </a:extLst>
            </p:cNvPr>
            <p:cNvCxnSpPr>
              <a:cxnSpLocks/>
            </p:cNvCxnSpPr>
            <p:nvPr/>
          </p:nvCxnSpPr>
          <p:spPr>
            <a:xfrm flipH="1">
              <a:off x="9673859" y="14095155"/>
              <a:ext cx="249909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88F9DEE-D563-288D-E889-33AC79566AF6}"/>
                </a:ext>
              </a:extLst>
            </p:cNvPr>
            <p:cNvSpPr txBox="1"/>
            <p:nvPr/>
          </p:nvSpPr>
          <p:spPr>
            <a:xfrm>
              <a:off x="844300" y="13517429"/>
              <a:ext cx="905325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Human Factors Engineer</a:t>
              </a:r>
            </a:p>
          </p:txBody>
        </p:sp>
      </p:grpSp>
      <p:grpSp>
        <p:nvGrpSpPr>
          <p:cNvPr id="48" name="Group 47">
            <a:extLst>
              <a:ext uri="{FF2B5EF4-FFF2-40B4-BE49-F238E27FC236}">
                <a16:creationId xmlns:a16="http://schemas.microsoft.com/office/drawing/2014/main" id="{DBD62AC8-6B94-65D4-D14D-5180C874E3D5}"/>
              </a:ext>
            </a:extLst>
          </p:cNvPr>
          <p:cNvGrpSpPr/>
          <p:nvPr/>
        </p:nvGrpSpPr>
        <p:grpSpPr>
          <a:xfrm>
            <a:off x="2319110" y="10451710"/>
            <a:ext cx="9853840" cy="1938992"/>
            <a:chOff x="2319110" y="10451710"/>
            <a:chExt cx="9853840" cy="1938992"/>
          </a:xfrm>
        </p:grpSpPr>
        <p:cxnSp>
          <p:nvCxnSpPr>
            <p:cNvPr id="54" name="Straight Arrow Connector 53">
              <a:extLst>
                <a:ext uri="{FF2B5EF4-FFF2-40B4-BE49-F238E27FC236}">
                  <a16:creationId xmlns:a16="http://schemas.microsoft.com/office/drawing/2014/main" id="{8DEC5A62-C9D4-1390-7915-775E7A3622A9}"/>
                </a:ext>
              </a:extLst>
            </p:cNvPr>
            <p:cNvCxnSpPr>
              <a:cxnSpLocks/>
            </p:cNvCxnSpPr>
            <p:nvPr/>
          </p:nvCxnSpPr>
          <p:spPr>
            <a:xfrm flipH="1">
              <a:off x="10915602" y="11474132"/>
              <a:ext cx="1257348"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E8A6C82-C427-26D6-3D5B-DD72365F208F}"/>
                </a:ext>
              </a:extLst>
            </p:cNvPr>
            <p:cNvSpPr txBox="1"/>
            <p:nvPr/>
          </p:nvSpPr>
          <p:spPr>
            <a:xfrm>
              <a:off x="2319110" y="10451710"/>
              <a:ext cx="889352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Research Scientist / </a:t>
              </a:r>
            </a:p>
            <a:p>
              <a:r>
                <a:rPr lang="en-GB" sz="6000">
                  <a:latin typeface="Arial"/>
                  <a:cs typeface="Arial"/>
                </a:rPr>
                <a:t>Research Data Scientist</a:t>
              </a:r>
            </a:p>
          </p:txBody>
        </p:sp>
      </p:grpSp>
      <p:grpSp>
        <p:nvGrpSpPr>
          <p:cNvPr id="50" name="Group 49">
            <a:extLst>
              <a:ext uri="{FF2B5EF4-FFF2-40B4-BE49-F238E27FC236}">
                <a16:creationId xmlns:a16="http://schemas.microsoft.com/office/drawing/2014/main" id="{EC109721-A4EE-4D07-18E8-2F8330272DEB}"/>
              </a:ext>
            </a:extLst>
          </p:cNvPr>
          <p:cNvGrpSpPr/>
          <p:nvPr/>
        </p:nvGrpSpPr>
        <p:grpSpPr>
          <a:xfrm>
            <a:off x="4434873" y="8331610"/>
            <a:ext cx="7738077" cy="1015663"/>
            <a:chOff x="4434873" y="8331610"/>
            <a:chExt cx="7738077" cy="1015663"/>
          </a:xfrm>
        </p:grpSpPr>
        <p:cxnSp>
          <p:nvCxnSpPr>
            <p:cNvPr id="52" name="Straight Arrow Connector 51">
              <a:extLst>
                <a:ext uri="{FF2B5EF4-FFF2-40B4-BE49-F238E27FC236}">
                  <a16:creationId xmlns:a16="http://schemas.microsoft.com/office/drawing/2014/main" id="{F940A126-EFFE-5E8C-B465-9284587F761F}"/>
                </a:ext>
              </a:extLst>
            </p:cNvPr>
            <p:cNvCxnSpPr>
              <a:cxnSpLocks/>
            </p:cNvCxnSpPr>
            <p:nvPr/>
          </p:nvCxnSpPr>
          <p:spPr>
            <a:xfrm flipH="1">
              <a:off x="9673858" y="8915046"/>
              <a:ext cx="249909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4B44C65B-38C2-7AC5-480E-F446385D677A}"/>
                </a:ext>
              </a:extLst>
            </p:cNvPr>
            <p:cNvSpPr txBox="1"/>
            <p:nvPr/>
          </p:nvSpPr>
          <p:spPr>
            <a:xfrm>
              <a:off x="4434873" y="8331610"/>
              <a:ext cx="541575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Data Engineer</a:t>
              </a:r>
            </a:p>
          </p:txBody>
        </p:sp>
      </p:grpSp>
      <p:grpSp>
        <p:nvGrpSpPr>
          <p:cNvPr id="51" name="Group 50">
            <a:extLst>
              <a:ext uri="{FF2B5EF4-FFF2-40B4-BE49-F238E27FC236}">
                <a16:creationId xmlns:a16="http://schemas.microsoft.com/office/drawing/2014/main" id="{A18179DA-908B-73C2-C7C8-C27EA185CC1B}"/>
              </a:ext>
            </a:extLst>
          </p:cNvPr>
          <p:cNvGrpSpPr/>
          <p:nvPr/>
        </p:nvGrpSpPr>
        <p:grpSpPr>
          <a:xfrm>
            <a:off x="7099407" y="5180907"/>
            <a:ext cx="6475700" cy="2919531"/>
            <a:chOff x="7099407" y="5180907"/>
            <a:chExt cx="6475700" cy="2919531"/>
          </a:xfrm>
        </p:grpSpPr>
        <p:cxnSp>
          <p:nvCxnSpPr>
            <p:cNvPr id="53" name="Straight Arrow Connector 52">
              <a:extLst>
                <a:ext uri="{FF2B5EF4-FFF2-40B4-BE49-F238E27FC236}">
                  <a16:creationId xmlns:a16="http://schemas.microsoft.com/office/drawing/2014/main" id="{B01F3A59-B870-3075-7F10-73CC9C5EF5B3}"/>
                </a:ext>
              </a:extLst>
            </p:cNvPr>
            <p:cNvCxnSpPr>
              <a:cxnSpLocks/>
            </p:cNvCxnSpPr>
            <p:nvPr/>
          </p:nvCxnSpPr>
          <p:spPr>
            <a:xfrm flipH="1" flipV="1">
              <a:off x="11711031" y="6514482"/>
              <a:ext cx="1864076" cy="158595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572C0DA-6439-3D2A-E8F3-94439C0EB562}"/>
                </a:ext>
              </a:extLst>
            </p:cNvPr>
            <p:cNvSpPr txBox="1"/>
            <p:nvPr/>
          </p:nvSpPr>
          <p:spPr>
            <a:xfrm>
              <a:off x="7099407" y="5180907"/>
              <a:ext cx="541575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Cyber Warfare Engineer</a:t>
              </a:r>
            </a:p>
          </p:txBody>
        </p:sp>
      </p:grpSp>
      <p:grpSp>
        <p:nvGrpSpPr>
          <p:cNvPr id="58" name="Group 57">
            <a:extLst>
              <a:ext uri="{FF2B5EF4-FFF2-40B4-BE49-F238E27FC236}">
                <a16:creationId xmlns:a16="http://schemas.microsoft.com/office/drawing/2014/main" id="{F58FEE79-8962-F252-29D2-8F2629D6EC15}"/>
              </a:ext>
            </a:extLst>
          </p:cNvPr>
          <p:cNvGrpSpPr/>
          <p:nvPr/>
        </p:nvGrpSpPr>
        <p:grpSpPr>
          <a:xfrm>
            <a:off x="17593190" y="3815280"/>
            <a:ext cx="5415756" cy="4335001"/>
            <a:chOff x="17593190" y="3815280"/>
            <a:chExt cx="5415756" cy="4335001"/>
          </a:xfrm>
        </p:grpSpPr>
        <p:cxnSp>
          <p:nvCxnSpPr>
            <p:cNvPr id="60" name="Straight Arrow Connector 59">
              <a:extLst>
                <a:ext uri="{FF2B5EF4-FFF2-40B4-BE49-F238E27FC236}">
                  <a16:creationId xmlns:a16="http://schemas.microsoft.com/office/drawing/2014/main" id="{39BD7F8E-5B7E-C095-1C4D-B8DB08F942DC}"/>
                </a:ext>
              </a:extLst>
            </p:cNvPr>
            <p:cNvCxnSpPr>
              <a:cxnSpLocks/>
            </p:cNvCxnSpPr>
            <p:nvPr/>
          </p:nvCxnSpPr>
          <p:spPr>
            <a:xfrm flipV="1">
              <a:off x="19007930" y="4830943"/>
              <a:ext cx="786141" cy="331933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6743569-EF33-2570-B69A-CE0989E8EE22}"/>
                </a:ext>
              </a:extLst>
            </p:cNvPr>
            <p:cNvSpPr txBox="1"/>
            <p:nvPr/>
          </p:nvSpPr>
          <p:spPr>
            <a:xfrm>
              <a:off x="17593190" y="3815280"/>
              <a:ext cx="541575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Data Scientist</a:t>
              </a:r>
            </a:p>
          </p:txBody>
        </p:sp>
      </p:grpSp>
      <p:grpSp>
        <p:nvGrpSpPr>
          <p:cNvPr id="61" name="Group 60">
            <a:extLst>
              <a:ext uri="{FF2B5EF4-FFF2-40B4-BE49-F238E27FC236}">
                <a16:creationId xmlns:a16="http://schemas.microsoft.com/office/drawing/2014/main" id="{A2C820DD-7604-281A-482B-C761E072EC61}"/>
              </a:ext>
            </a:extLst>
          </p:cNvPr>
          <p:cNvGrpSpPr/>
          <p:nvPr/>
        </p:nvGrpSpPr>
        <p:grpSpPr>
          <a:xfrm>
            <a:off x="21113499" y="5087725"/>
            <a:ext cx="5415756" cy="3012713"/>
            <a:chOff x="21113499" y="5087725"/>
            <a:chExt cx="5415756" cy="3012713"/>
          </a:xfrm>
        </p:grpSpPr>
        <p:sp>
          <p:nvSpPr>
            <p:cNvPr id="63" name="TextBox 62">
              <a:extLst>
                <a:ext uri="{FF2B5EF4-FFF2-40B4-BE49-F238E27FC236}">
                  <a16:creationId xmlns:a16="http://schemas.microsoft.com/office/drawing/2014/main" id="{4E3C77BF-6234-8F1D-E21F-46A358A5AD18}"/>
                </a:ext>
              </a:extLst>
            </p:cNvPr>
            <p:cNvSpPr txBox="1"/>
            <p:nvPr/>
          </p:nvSpPr>
          <p:spPr>
            <a:xfrm>
              <a:off x="21113499" y="5087725"/>
              <a:ext cx="541575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UX Developer</a:t>
              </a:r>
            </a:p>
          </p:txBody>
        </p:sp>
        <p:cxnSp>
          <p:nvCxnSpPr>
            <p:cNvPr id="64" name="Straight Arrow Connector 63">
              <a:extLst>
                <a:ext uri="{FF2B5EF4-FFF2-40B4-BE49-F238E27FC236}">
                  <a16:creationId xmlns:a16="http://schemas.microsoft.com/office/drawing/2014/main" id="{C3767036-4C89-09A7-3498-75BD17E1E01B}"/>
                </a:ext>
              </a:extLst>
            </p:cNvPr>
            <p:cNvCxnSpPr>
              <a:cxnSpLocks/>
            </p:cNvCxnSpPr>
            <p:nvPr/>
          </p:nvCxnSpPr>
          <p:spPr>
            <a:xfrm flipV="1">
              <a:off x="22701701" y="6213542"/>
              <a:ext cx="0" cy="188689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53646D8B-E3F6-0B50-EEB4-0E56936E8D4E}"/>
              </a:ext>
            </a:extLst>
          </p:cNvPr>
          <p:cNvGrpSpPr/>
          <p:nvPr/>
        </p:nvGrpSpPr>
        <p:grpSpPr>
          <a:xfrm>
            <a:off x="1623909" y="14632586"/>
            <a:ext cx="10575647" cy="2742635"/>
            <a:chOff x="1623909" y="14632586"/>
            <a:chExt cx="10575647" cy="2742635"/>
          </a:xfrm>
        </p:grpSpPr>
        <p:cxnSp>
          <p:nvCxnSpPr>
            <p:cNvPr id="5" name="Straight Arrow Connector 4">
              <a:extLst>
                <a:ext uri="{FF2B5EF4-FFF2-40B4-BE49-F238E27FC236}">
                  <a16:creationId xmlns:a16="http://schemas.microsoft.com/office/drawing/2014/main" id="{1223DC17-4328-4258-5084-F74CEBCCAC0F}"/>
                </a:ext>
              </a:extLst>
            </p:cNvPr>
            <p:cNvCxnSpPr>
              <a:cxnSpLocks/>
            </p:cNvCxnSpPr>
            <p:nvPr/>
          </p:nvCxnSpPr>
          <p:spPr>
            <a:xfrm flipH="1">
              <a:off x="6303315" y="14632586"/>
              <a:ext cx="5896241" cy="153348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518E40B-5BC2-A417-593D-25D8DFC4484E}"/>
                </a:ext>
              </a:extLst>
            </p:cNvPr>
            <p:cNvSpPr txBox="1"/>
            <p:nvPr/>
          </p:nvSpPr>
          <p:spPr>
            <a:xfrm>
              <a:off x="1623909" y="15436229"/>
              <a:ext cx="454485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Research Engineer</a:t>
              </a:r>
            </a:p>
          </p:txBody>
        </p:sp>
      </p:grpSp>
      <p:grpSp>
        <p:nvGrpSpPr>
          <p:cNvPr id="66" name="Group 65">
            <a:extLst>
              <a:ext uri="{FF2B5EF4-FFF2-40B4-BE49-F238E27FC236}">
                <a16:creationId xmlns:a16="http://schemas.microsoft.com/office/drawing/2014/main" id="{AB3B0072-20F0-4F5D-A108-4290EC5AC783}"/>
              </a:ext>
            </a:extLst>
          </p:cNvPr>
          <p:cNvGrpSpPr/>
          <p:nvPr/>
        </p:nvGrpSpPr>
        <p:grpSpPr>
          <a:xfrm>
            <a:off x="24185504" y="5107942"/>
            <a:ext cx="10561412" cy="3042339"/>
            <a:chOff x="24185504" y="5107942"/>
            <a:chExt cx="10561412" cy="3042339"/>
          </a:xfrm>
        </p:grpSpPr>
        <p:cxnSp>
          <p:nvCxnSpPr>
            <p:cNvPr id="9" name="Straight Arrow Connector 8">
              <a:extLst>
                <a:ext uri="{FF2B5EF4-FFF2-40B4-BE49-F238E27FC236}">
                  <a16:creationId xmlns:a16="http://schemas.microsoft.com/office/drawing/2014/main" id="{9779AF34-868A-94ED-467E-27D0A6CA929E}"/>
                </a:ext>
              </a:extLst>
            </p:cNvPr>
            <p:cNvCxnSpPr>
              <a:cxnSpLocks/>
            </p:cNvCxnSpPr>
            <p:nvPr/>
          </p:nvCxnSpPr>
          <p:spPr>
            <a:xfrm flipV="1">
              <a:off x="24185504" y="5864812"/>
              <a:ext cx="3651903" cy="228546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B9AD97D-A504-42F0-29C9-3110C4FA0742}"/>
                </a:ext>
              </a:extLst>
            </p:cNvPr>
            <p:cNvSpPr txBox="1"/>
            <p:nvPr/>
          </p:nvSpPr>
          <p:spPr>
            <a:xfrm>
              <a:off x="27848683" y="5107942"/>
              <a:ext cx="689823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Compliance officer</a:t>
              </a:r>
            </a:p>
          </p:txBody>
        </p:sp>
      </p:grpSp>
      <p:grpSp>
        <p:nvGrpSpPr>
          <p:cNvPr id="67" name="Group 66">
            <a:extLst>
              <a:ext uri="{FF2B5EF4-FFF2-40B4-BE49-F238E27FC236}">
                <a16:creationId xmlns:a16="http://schemas.microsoft.com/office/drawing/2014/main" id="{D4634D99-55BB-4B25-90DF-94FEBEE38589}"/>
              </a:ext>
            </a:extLst>
          </p:cNvPr>
          <p:cNvGrpSpPr/>
          <p:nvPr/>
        </p:nvGrpSpPr>
        <p:grpSpPr>
          <a:xfrm>
            <a:off x="11169036" y="15538400"/>
            <a:ext cx="6898233" cy="4216256"/>
            <a:chOff x="11169036" y="15538400"/>
            <a:chExt cx="6898233" cy="4216256"/>
          </a:xfrm>
        </p:grpSpPr>
        <p:cxnSp>
          <p:nvCxnSpPr>
            <p:cNvPr id="13" name="Straight Arrow Connector 12">
              <a:extLst>
                <a:ext uri="{FF2B5EF4-FFF2-40B4-BE49-F238E27FC236}">
                  <a16:creationId xmlns:a16="http://schemas.microsoft.com/office/drawing/2014/main" id="{DDF9536C-6C17-B6F4-C26B-77CDD88E6D03}"/>
                </a:ext>
              </a:extLst>
            </p:cNvPr>
            <p:cNvCxnSpPr>
              <a:cxnSpLocks/>
            </p:cNvCxnSpPr>
            <p:nvPr/>
          </p:nvCxnSpPr>
          <p:spPr>
            <a:xfrm flipH="1">
              <a:off x="12852393" y="15538400"/>
              <a:ext cx="1385988" cy="295849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D94A19F-491B-40A2-3A0F-C45A8FFBEAF2}"/>
                </a:ext>
              </a:extLst>
            </p:cNvPr>
            <p:cNvSpPr txBox="1"/>
            <p:nvPr/>
          </p:nvSpPr>
          <p:spPr>
            <a:xfrm>
              <a:off x="11169036" y="18738993"/>
              <a:ext cx="689823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6000">
                  <a:latin typeface="Arial"/>
                  <a:cs typeface="Arial"/>
                </a:rPr>
                <a:t>Training officer</a:t>
              </a:r>
            </a:p>
          </p:txBody>
        </p:sp>
      </p:grpSp>
      <p:grpSp>
        <p:nvGrpSpPr>
          <p:cNvPr id="68" name="Group 67">
            <a:extLst>
              <a:ext uri="{FF2B5EF4-FFF2-40B4-BE49-F238E27FC236}">
                <a16:creationId xmlns:a16="http://schemas.microsoft.com/office/drawing/2014/main" id="{8A33CCE1-E7FF-0DE2-B1C2-96BE3F395506}"/>
              </a:ext>
            </a:extLst>
          </p:cNvPr>
          <p:cNvGrpSpPr/>
          <p:nvPr/>
        </p:nvGrpSpPr>
        <p:grpSpPr>
          <a:xfrm>
            <a:off x="24139985" y="11667868"/>
            <a:ext cx="10541502" cy="1938992"/>
            <a:chOff x="24139985" y="11667868"/>
            <a:chExt cx="10541502" cy="1938992"/>
          </a:xfrm>
        </p:grpSpPr>
        <p:cxnSp>
          <p:nvCxnSpPr>
            <p:cNvPr id="19" name="Straight Arrow Connector 18">
              <a:extLst>
                <a:ext uri="{FF2B5EF4-FFF2-40B4-BE49-F238E27FC236}">
                  <a16:creationId xmlns:a16="http://schemas.microsoft.com/office/drawing/2014/main" id="{256BDE3D-0827-52AE-117E-68783173A71F}"/>
                </a:ext>
              </a:extLst>
            </p:cNvPr>
            <p:cNvCxnSpPr>
              <a:cxnSpLocks/>
            </p:cNvCxnSpPr>
            <p:nvPr/>
          </p:nvCxnSpPr>
          <p:spPr>
            <a:xfrm>
              <a:off x="24139985" y="12400599"/>
              <a:ext cx="3219008" cy="10801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982B212-5D3A-8684-B2F0-6C4BE8F7C3C6}"/>
                </a:ext>
              </a:extLst>
            </p:cNvPr>
            <p:cNvSpPr txBox="1"/>
            <p:nvPr/>
          </p:nvSpPr>
          <p:spPr>
            <a:xfrm>
              <a:off x="27783254" y="11667868"/>
              <a:ext cx="689823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Programme/Project manager</a:t>
              </a:r>
            </a:p>
          </p:txBody>
        </p:sp>
      </p:grpSp>
      <p:grpSp>
        <p:nvGrpSpPr>
          <p:cNvPr id="11" name="Group 10">
            <a:extLst>
              <a:ext uri="{FF2B5EF4-FFF2-40B4-BE49-F238E27FC236}">
                <a16:creationId xmlns:a16="http://schemas.microsoft.com/office/drawing/2014/main" id="{09EE9232-5A51-81F1-FECA-2E514B2EC587}"/>
              </a:ext>
            </a:extLst>
          </p:cNvPr>
          <p:cNvGrpSpPr/>
          <p:nvPr/>
        </p:nvGrpSpPr>
        <p:grpSpPr>
          <a:xfrm>
            <a:off x="12299040" y="4445841"/>
            <a:ext cx="5415756" cy="3624358"/>
            <a:chOff x="12299040" y="4445841"/>
            <a:chExt cx="5415756" cy="3624358"/>
          </a:xfrm>
        </p:grpSpPr>
        <p:cxnSp>
          <p:nvCxnSpPr>
            <p:cNvPr id="32" name="Straight Arrow Connector 31">
              <a:extLst>
                <a:ext uri="{FF2B5EF4-FFF2-40B4-BE49-F238E27FC236}">
                  <a16:creationId xmlns:a16="http://schemas.microsoft.com/office/drawing/2014/main" id="{C9323FF8-8214-9D3D-09B8-8A04DD5595F6}"/>
                </a:ext>
              </a:extLst>
            </p:cNvPr>
            <p:cNvCxnSpPr>
              <a:cxnSpLocks/>
            </p:cNvCxnSpPr>
            <p:nvPr/>
          </p:nvCxnSpPr>
          <p:spPr>
            <a:xfrm flipH="1" flipV="1">
              <a:off x="15006918" y="6514482"/>
              <a:ext cx="388236" cy="155571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51AD047-0012-6FF2-866A-F5763153A314}"/>
                </a:ext>
              </a:extLst>
            </p:cNvPr>
            <p:cNvSpPr txBox="1"/>
            <p:nvPr/>
          </p:nvSpPr>
          <p:spPr>
            <a:xfrm>
              <a:off x="12299040" y="4445841"/>
              <a:ext cx="541575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6000">
                  <a:latin typeface="Arial"/>
                  <a:cs typeface="Arial"/>
                </a:rPr>
                <a:t>Programme director</a:t>
              </a:r>
            </a:p>
          </p:txBody>
        </p:sp>
      </p:grpSp>
      <p:sp>
        <p:nvSpPr>
          <p:cNvPr id="43" name="TextBox 42">
            <a:extLst>
              <a:ext uri="{FF2B5EF4-FFF2-40B4-BE49-F238E27FC236}">
                <a16:creationId xmlns:a16="http://schemas.microsoft.com/office/drawing/2014/main" id="{EA5527C3-DD16-C8B6-D8E8-A5C84828FBAC}"/>
              </a:ext>
            </a:extLst>
          </p:cNvPr>
          <p:cNvSpPr txBox="1"/>
          <p:nvPr/>
        </p:nvSpPr>
        <p:spPr>
          <a:xfrm>
            <a:off x="961200" y="3834000"/>
            <a:ext cx="5409549" cy="1569660"/>
          </a:xfrm>
          <a:prstGeom prst="rect">
            <a:avLst/>
          </a:prstGeom>
          <a:noFill/>
        </p:spPr>
        <p:txBody>
          <a:bodyPr wrap="square" lIns="91440" tIns="45720" rIns="91440" bIns="45720" anchor="t">
            <a:spAutoFit/>
          </a:bodyPr>
          <a:lstStyle/>
          <a:p>
            <a:r>
              <a:rPr lang="en-US" sz="9600" b="1">
                <a:latin typeface="Arial"/>
                <a:cs typeface="Arial"/>
              </a:rPr>
              <a:t>Roles</a:t>
            </a:r>
            <a:endParaRPr lang="en-US"/>
          </a:p>
        </p:txBody>
      </p:sp>
      <p:grpSp>
        <p:nvGrpSpPr>
          <p:cNvPr id="3" name="Group 2">
            <a:extLst>
              <a:ext uri="{FF2B5EF4-FFF2-40B4-BE49-F238E27FC236}">
                <a16:creationId xmlns:a16="http://schemas.microsoft.com/office/drawing/2014/main" id="{1EA7DD46-C385-168B-F9A2-B237B61D1630}"/>
              </a:ext>
            </a:extLst>
          </p:cNvPr>
          <p:cNvGrpSpPr/>
          <p:nvPr/>
        </p:nvGrpSpPr>
        <p:grpSpPr>
          <a:xfrm>
            <a:off x="0" y="0"/>
            <a:ext cx="38015863" cy="3729671"/>
            <a:chOff x="0" y="0"/>
            <a:chExt cx="38015863" cy="3729671"/>
          </a:xfrm>
        </p:grpSpPr>
        <p:cxnSp>
          <p:nvCxnSpPr>
            <p:cNvPr id="4" name="Straight Connector 3">
              <a:extLst>
                <a:ext uri="{FF2B5EF4-FFF2-40B4-BE49-F238E27FC236}">
                  <a16:creationId xmlns:a16="http://schemas.microsoft.com/office/drawing/2014/main" id="{947E32FC-06E0-7B43-E167-98B4D4E0CC72}"/>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Shape&#10;&#10;Description automatically generated with low confidence">
              <a:extLst>
                <a:ext uri="{FF2B5EF4-FFF2-40B4-BE49-F238E27FC236}">
                  <a16:creationId xmlns:a16="http://schemas.microsoft.com/office/drawing/2014/main" id="{6E89FC42-3DCA-869C-51C7-8B2F6AB7C235}"/>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grpSp>
      <p:grpSp>
        <p:nvGrpSpPr>
          <p:cNvPr id="18" name="Group 17">
            <a:extLst>
              <a:ext uri="{FF2B5EF4-FFF2-40B4-BE49-F238E27FC236}">
                <a16:creationId xmlns:a16="http://schemas.microsoft.com/office/drawing/2014/main" id="{43A20168-7F71-895E-687E-FF4A22657F01}"/>
              </a:ext>
            </a:extLst>
          </p:cNvPr>
          <p:cNvGrpSpPr/>
          <p:nvPr/>
        </p:nvGrpSpPr>
        <p:grpSpPr>
          <a:xfrm>
            <a:off x="1219200" y="20303171"/>
            <a:ext cx="35661600" cy="758938"/>
            <a:chOff x="1219200" y="20303171"/>
            <a:chExt cx="35661600" cy="758938"/>
          </a:xfrm>
        </p:grpSpPr>
        <p:cxnSp>
          <p:nvCxnSpPr>
            <p:cNvPr id="24" name="Straight Connector 23">
              <a:extLst>
                <a:ext uri="{FF2B5EF4-FFF2-40B4-BE49-F238E27FC236}">
                  <a16:creationId xmlns:a16="http://schemas.microsoft.com/office/drawing/2014/main" id="{AA643831-6365-5DF7-6458-614D5CF7A11A}"/>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0A34477-A984-4F8F-D649-878377943E72}"/>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pic>
        <p:nvPicPr>
          <p:cNvPr id="8" name="Picture 7">
            <a:extLst>
              <a:ext uri="{FF2B5EF4-FFF2-40B4-BE49-F238E27FC236}">
                <a16:creationId xmlns:a16="http://schemas.microsoft.com/office/drawing/2014/main" id="{E0810AC9-79AA-01CC-9B25-2CD31D29FDD5}"/>
              </a:ext>
            </a:extLst>
          </p:cNvPr>
          <p:cNvPicPr>
            <a:picLocks noChangeAspect="1"/>
          </p:cNvPicPr>
          <p:nvPr/>
        </p:nvPicPr>
        <p:blipFill>
          <a:blip r:embed="rId4"/>
          <a:stretch>
            <a:fillRect/>
          </a:stretch>
        </p:blipFill>
        <p:spPr>
          <a:xfrm>
            <a:off x="12431320" y="8313467"/>
            <a:ext cx="11552740" cy="7048820"/>
          </a:xfrm>
          <a:prstGeom prst="rect">
            <a:avLst/>
          </a:prstGeom>
          <a:ln w="228600" cap="sq" cmpd="thickThin">
            <a:solidFill>
              <a:schemeClr val="accent6">
                <a:lumMod val="60000"/>
                <a:lumOff val="40000"/>
              </a:schemeClr>
            </a:solidFill>
            <a:prstDash val="solid"/>
            <a:miter lim="800000"/>
          </a:ln>
          <a:effectLst>
            <a:innerShdw blurRad="76200">
              <a:srgbClr val="000000"/>
            </a:innerShdw>
          </a:effectLst>
        </p:spPr>
      </p:pic>
    </p:spTree>
    <p:extLst>
      <p:ext uri="{BB962C8B-B14F-4D97-AF65-F5344CB8AC3E}">
        <p14:creationId xmlns:p14="http://schemas.microsoft.com/office/powerpoint/2010/main" val="291696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42BC3A0-34D9-BFC7-4C07-ABD432F9CEB2}"/>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4000"/>
            <a:ext cx="33858145" cy="17297043"/>
          </a:xfrm>
          <a:prstGeom prst="rect">
            <a:avLst/>
          </a:prstGeom>
          <a:noFill/>
        </p:spPr>
        <p:txBody>
          <a:bodyPr wrap="square" lIns="91440" tIns="45720" rIns="91440" bIns="45720" anchor="t">
            <a:spAutoFit/>
          </a:bodyPr>
          <a:lstStyle/>
          <a:p>
            <a:r>
              <a:rPr lang="en-US" sz="9600" b="1">
                <a:latin typeface="Arial"/>
                <a:cs typeface="Arial"/>
              </a:rPr>
              <a:t>Working as a Data Scientist </a:t>
            </a:r>
          </a:p>
          <a:p>
            <a:endParaRPr lang="en-US" sz="9600" b="1">
              <a:latin typeface="Arial"/>
              <a:cs typeface="Arial"/>
            </a:endParaRPr>
          </a:p>
          <a:p>
            <a:r>
              <a:rPr lang="en-US" sz="8000" i="1">
                <a:latin typeface="Arial"/>
                <a:cs typeface="Arial"/>
              </a:rPr>
              <a:t>Typical tasks include:</a:t>
            </a:r>
          </a:p>
          <a:p>
            <a:pPr marL="1143000" indent="-1143000">
              <a:lnSpc>
                <a:spcPct val="200000"/>
              </a:lnSpc>
              <a:buFont typeface="System Font Regular"/>
              <a:buChar char="-"/>
            </a:pPr>
            <a:r>
              <a:rPr lang="en-US" sz="6600">
                <a:latin typeface="Arial"/>
                <a:cs typeface="Arial"/>
              </a:rPr>
              <a:t>Scoping problems (identify the question to answer and the best way to approach it)</a:t>
            </a:r>
          </a:p>
          <a:p>
            <a:pPr marL="1143000" indent="-1143000">
              <a:lnSpc>
                <a:spcPct val="200000"/>
              </a:lnSpc>
              <a:buFont typeface="System Font Regular"/>
              <a:buChar char="-"/>
            </a:pPr>
            <a:r>
              <a:rPr lang="en-US" sz="6600">
                <a:latin typeface="Arial"/>
                <a:cs typeface="Arial"/>
              </a:rPr>
              <a:t>Data wrangling (e.g. cleaning datasets and creating databases)</a:t>
            </a:r>
          </a:p>
          <a:p>
            <a:pPr marL="1143000" indent="-1143000">
              <a:lnSpc>
                <a:spcPct val="200000"/>
              </a:lnSpc>
              <a:buFont typeface="System Font Regular"/>
              <a:buChar char="-"/>
            </a:pPr>
            <a:r>
              <a:rPr lang="en-US" sz="6600">
                <a:latin typeface="Arial"/>
                <a:cs typeface="Arial"/>
              </a:rPr>
              <a:t>Writing code to </a:t>
            </a:r>
            <a:r>
              <a:rPr lang="en-US" sz="6600" err="1">
                <a:latin typeface="Arial"/>
                <a:cs typeface="Arial"/>
              </a:rPr>
              <a:t>analyse</a:t>
            </a:r>
            <a:r>
              <a:rPr lang="en-US" sz="6600">
                <a:latin typeface="Arial"/>
                <a:cs typeface="Arial"/>
              </a:rPr>
              <a:t> data (actually run the analysis)</a:t>
            </a:r>
          </a:p>
          <a:p>
            <a:pPr marL="1143000" indent="-1143000">
              <a:lnSpc>
                <a:spcPct val="200000"/>
              </a:lnSpc>
              <a:buFont typeface="System Font Regular"/>
              <a:buChar char="-"/>
            </a:pPr>
            <a:r>
              <a:rPr lang="en-US" sz="6600">
                <a:latin typeface="Arial"/>
                <a:cs typeface="Arial"/>
              </a:rPr>
              <a:t>Reviewing other people’s code (or code written by AI tools)</a:t>
            </a:r>
          </a:p>
          <a:p>
            <a:pPr marL="1143000" indent="-1143000">
              <a:lnSpc>
                <a:spcPct val="200000"/>
              </a:lnSpc>
              <a:buFont typeface="System Font Regular"/>
              <a:buChar char="-"/>
            </a:pPr>
            <a:r>
              <a:rPr lang="en-US" sz="6600">
                <a:latin typeface="Arial"/>
                <a:cs typeface="Arial"/>
              </a:rPr>
              <a:t>Reporting the results (maybe presentations or written reports)</a:t>
            </a:r>
          </a:p>
          <a:p>
            <a:endParaRPr lang="en-US" sz="6000" i="1">
              <a:latin typeface="Arial"/>
              <a:cs typeface="Arial"/>
            </a:endParaRPr>
          </a:p>
          <a:p>
            <a:r>
              <a:rPr lang="en-US" sz="6000" i="1">
                <a:latin typeface="Arial"/>
                <a:cs typeface="Arial"/>
              </a:rPr>
              <a:t>You can find more examples in The Alan Turing Institute’s ‘Spotlight Series on data science and AI’</a:t>
            </a:r>
          </a:p>
          <a:p>
            <a:endParaRPr lang="en-US" sz="6600" b="1">
              <a:solidFill>
                <a:srgbClr val="000000"/>
              </a:solidFill>
            </a:endParaRPr>
          </a:p>
        </p:txBody>
      </p:sp>
      <p:grpSp>
        <p:nvGrpSpPr>
          <p:cNvPr id="6" name="Group 5">
            <a:extLst>
              <a:ext uri="{FF2B5EF4-FFF2-40B4-BE49-F238E27FC236}">
                <a16:creationId xmlns:a16="http://schemas.microsoft.com/office/drawing/2014/main" id="{BBC71785-3736-6D66-C410-95749B493E45}"/>
              </a:ext>
            </a:extLst>
          </p:cNvPr>
          <p:cNvGrpSpPr/>
          <p:nvPr/>
        </p:nvGrpSpPr>
        <p:grpSpPr>
          <a:xfrm>
            <a:off x="1219200" y="20303171"/>
            <a:ext cx="35661600" cy="758938"/>
            <a:chOff x="1219200" y="20303171"/>
            <a:chExt cx="35661600" cy="758938"/>
          </a:xfrm>
        </p:grpSpPr>
        <p:cxnSp>
          <p:nvCxnSpPr>
            <p:cNvPr id="7" name="Straight Connector 6">
              <a:extLst>
                <a:ext uri="{FF2B5EF4-FFF2-40B4-BE49-F238E27FC236}">
                  <a16:creationId xmlns:a16="http://schemas.microsoft.com/office/drawing/2014/main" id="{E667FFEF-868E-B637-2887-080609494727}"/>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BFD9BE3-BA3D-0998-B27E-DF6FBD4BE731}"/>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56189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83ED18-0D00-6045-8104-8A7CC75BE799}"/>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1" y="3834000"/>
            <a:ext cx="10121298" cy="3154710"/>
          </a:xfrm>
          <a:prstGeom prst="rect">
            <a:avLst/>
          </a:prstGeom>
          <a:noFill/>
        </p:spPr>
        <p:txBody>
          <a:bodyPr wrap="square" lIns="91440" tIns="45720" rIns="91440" bIns="45720" anchor="t">
            <a:spAutoFit/>
          </a:bodyPr>
          <a:lstStyle/>
          <a:p>
            <a:r>
              <a:rPr lang="en-US" sz="13300" b="1">
                <a:latin typeface="Arial"/>
                <a:cs typeface="Arial"/>
              </a:rPr>
              <a:t>Employers</a:t>
            </a:r>
            <a:endParaRPr lang="en-US" sz="13300">
              <a:highlight>
                <a:srgbClr val="FFFF00"/>
              </a:highlight>
            </a:endParaRPr>
          </a:p>
          <a:p>
            <a:endParaRPr lang="en-US" sz="6600" b="1">
              <a:solidFill>
                <a:srgbClr val="000000"/>
              </a:solidFill>
            </a:endParaRPr>
          </a:p>
        </p:txBody>
      </p:sp>
      <p:grpSp>
        <p:nvGrpSpPr>
          <p:cNvPr id="2" name="Group 1">
            <a:extLst>
              <a:ext uri="{FF2B5EF4-FFF2-40B4-BE49-F238E27FC236}">
                <a16:creationId xmlns:a16="http://schemas.microsoft.com/office/drawing/2014/main" id="{B104CDA6-8142-E2EA-D779-7956D74519DF}"/>
              </a:ext>
            </a:extLst>
          </p:cNvPr>
          <p:cNvGrpSpPr/>
          <p:nvPr/>
        </p:nvGrpSpPr>
        <p:grpSpPr>
          <a:xfrm>
            <a:off x="1575156" y="14648744"/>
            <a:ext cx="21125747" cy="4457541"/>
            <a:chOff x="4876918" y="15353710"/>
            <a:chExt cx="21125747" cy="4457541"/>
          </a:xfrm>
        </p:grpSpPr>
        <p:pic>
          <p:nvPicPr>
            <p:cNvPr id="38" name="Picture 37">
              <a:extLst>
                <a:ext uri="{FF2B5EF4-FFF2-40B4-BE49-F238E27FC236}">
                  <a16:creationId xmlns:a16="http://schemas.microsoft.com/office/drawing/2014/main" id="{812F9E2A-D12B-7BA2-2EB7-894DF2EEDA71}"/>
                </a:ext>
              </a:extLst>
            </p:cNvPr>
            <p:cNvPicPr>
              <a:picLocks noChangeAspect="1"/>
            </p:cNvPicPr>
            <p:nvPr/>
          </p:nvPicPr>
          <p:blipFill>
            <a:blip r:embed="rId4"/>
            <a:stretch>
              <a:fillRect/>
            </a:stretch>
          </p:blipFill>
          <p:spPr>
            <a:xfrm>
              <a:off x="21853023" y="15888239"/>
              <a:ext cx="4149642" cy="2305357"/>
            </a:xfrm>
            <a:prstGeom prst="rect">
              <a:avLst/>
            </a:prstGeom>
          </p:spPr>
        </p:pic>
        <p:sp>
          <p:nvSpPr>
            <p:cNvPr id="13" name="TextBox 12">
              <a:extLst>
                <a:ext uri="{FF2B5EF4-FFF2-40B4-BE49-F238E27FC236}">
                  <a16:creationId xmlns:a16="http://schemas.microsoft.com/office/drawing/2014/main" id="{004730DE-69D6-A875-31A4-162BB21DAA38}"/>
                </a:ext>
              </a:extLst>
            </p:cNvPr>
            <p:cNvSpPr txBox="1"/>
            <p:nvPr/>
          </p:nvSpPr>
          <p:spPr>
            <a:xfrm>
              <a:off x="10834975" y="15888239"/>
              <a:ext cx="11486920" cy="1446550"/>
            </a:xfrm>
            <a:prstGeom prst="rect">
              <a:avLst/>
            </a:prstGeom>
            <a:solidFill>
              <a:srgbClr val="D6BBEB"/>
            </a:solidFill>
          </p:spPr>
          <p:txBody>
            <a:bodyPr wrap="square" lIns="91440" tIns="45720" rIns="91440" bIns="45720" rtlCol="0" anchor="t">
              <a:spAutoFit/>
            </a:bodyPr>
            <a:lstStyle/>
            <a:p>
              <a:pPr algn="ctr"/>
              <a:r>
                <a:rPr lang="en-GB" sz="8800" b="1">
                  <a:latin typeface="Arial"/>
                  <a:cs typeface="Arial"/>
                </a:rPr>
                <a:t>Research institutes</a:t>
              </a:r>
            </a:p>
          </p:txBody>
        </p:sp>
        <p:pic>
          <p:nvPicPr>
            <p:cNvPr id="1026" name="Picture 2">
              <a:extLst>
                <a:ext uri="{FF2B5EF4-FFF2-40B4-BE49-F238E27FC236}">
                  <a16:creationId xmlns:a16="http://schemas.microsoft.com/office/drawing/2014/main" id="{2429D8EF-241B-9EC7-6B09-5AB5E495F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918" y="15353710"/>
              <a:ext cx="5696284" cy="24075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DR UK | The Alan Turing Institute">
              <a:extLst>
                <a:ext uri="{FF2B5EF4-FFF2-40B4-BE49-F238E27FC236}">
                  <a16:creationId xmlns:a16="http://schemas.microsoft.com/office/drawing/2014/main" id="{08828A34-5B72-F9F4-417E-D0705E97A7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5071" y="17505895"/>
              <a:ext cx="6957983" cy="2305356"/>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04FB8349-B6F0-E812-26C5-D96FD7704946}"/>
                </a:ext>
              </a:extLst>
            </p:cNvPr>
            <p:cNvPicPr>
              <a:picLocks noChangeAspect="1"/>
            </p:cNvPicPr>
            <p:nvPr/>
          </p:nvPicPr>
          <p:blipFill>
            <a:blip r:embed="rId7"/>
            <a:stretch>
              <a:fillRect/>
            </a:stretch>
          </p:blipFill>
          <p:spPr>
            <a:xfrm>
              <a:off x="17377307" y="17648127"/>
              <a:ext cx="5696284" cy="1679523"/>
            </a:xfrm>
            <a:prstGeom prst="rect">
              <a:avLst/>
            </a:prstGeom>
          </p:spPr>
        </p:pic>
      </p:grpSp>
      <p:grpSp>
        <p:nvGrpSpPr>
          <p:cNvPr id="4" name="Group 3">
            <a:extLst>
              <a:ext uri="{FF2B5EF4-FFF2-40B4-BE49-F238E27FC236}">
                <a16:creationId xmlns:a16="http://schemas.microsoft.com/office/drawing/2014/main" id="{EC33FE79-A102-091D-D7F2-49A9C952DA88}"/>
              </a:ext>
            </a:extLst>
          </p:cNvPr>
          <p:cNvGrpSpPr/>
          <p:nvPr/>
        </p:nvGrpSpPr>
        <p:grpSpPr>
          <a:xfrm>
            <a:off x="22595085" y="5936833"/>
            <a:ext cx="15510425" cy="7947103"/>
            <a:chOff x="22629135" y="7578683"/>
            <a:chExt cx="15510425" cy="7947103"/>
          </a:xfrm>
        </p:grpSpPr>
        <p:sp>
          <p:nvSpPr>
            <p:cNvPr id="9" name="TextBox 8">
              <a:extLst>
                <a:ext uri="{FF2B5EF4-FFF2-40B4-BE49-F238E27FC236}">
                  <a16:creationId xmlns:a16="http://schemas.microsoft.com/office/drawing/2014/main" id="{0131A933-E15B-A6DC-19F9-4B0940EB2790}"/>
                </a:ext>
              </a:extLst>
            </p:cNvPr>
            <p:cNvSpPr txBox="1"/>
            <p:nvPr/>
          </p:nvSpPr>
          <p:spPr>
            <a:xfrm>
              <a:off x="26859186" y="11787352"/>
              <a:ext cx="9681645" cy="1446550"/>
            </a:xfrm>
            <a:prstGeom prst="rect">
              <a:avLst/>
            </a:prstGeom>
            <a:solidFill>
              <a:srgbClr val="D6BBEB"/>
            </a:solidFill>
          </p:spPr>
          <p:txBody>
            <a:bodyPr wrap="square" lIns="91440" tIns="45720" rIns="91440" bIns="45720" rtlCol="0" anchor="t">
              <a:spAutoFit/>
            </a:bodyPr>
            <a:lstStyle/>
            <a:p>
              <a:pPr algn="ctr"/>
              <a:r>
                <a:rPr lang="en-GB" sz="8800" b="1">
                  <a:latin typeface="Arial"/>
                  <a:cs typeface="Arial"/>
                </a:rPr>
                <a:t>UK Government</a:t>
              </a:r>
            </a:p>
          </p:txBody>
        </p:sp>
        <p:pic>
          <p:nvPicPr>
            <p:cNvPr id="35" name="Picture 34">
              <a:extLst>
                <a:ext uri="{FF2B5EF4-FFF2-40B4-BE49-F238E27FC236}">
                  <a16:creationId xmlns:a16="http://schemas.microsoft.com/office/drawing/2014/main" id="{92C74AF1-1435-BC5F-1140-8FFFAA6705DD}"/>
                </a:ext>
              </a:extLst>
            </p:cNvPr>
            <p:cNvPicPr>
              <a:picLocks noChangeAspect="1"/>
            </p:cNvPicPr>
            <p:nvPr/>
          </p:nvPicPr>
          <p:blipFill>
            <a:blip r:embed="rId8"/>
            <a:stretch>
              <a:fillRect/>
            </a:stretch>
          </p:blipFill>
          <p:spPr>
            <a:xfrm>
              <a:off x="30987756" y="7578683"/>
              <a:ext cx="5553075" cy="2466975"/>
            </a:xfrm>
            <a:prstGeom prst="rect">
              <a:avLst/>
            </a:prstGeom>
          </p:spPr>
        </p:pic>
        <p:sp>
          <p:nvSpPr>
            <p:cNvPr id="36" name="TextBox 35">
              <a:extLst>
                <a:ext uri="{FF2B5EF4-FFF2-40B4-BE49-F238E27FC236}">
                  <a16:creationId xmlns:a16="http://schemas.microsoft.com/office/drawing/2014/main" id="{3615B616-09B0-7A3D-349F-49AC75320CB1}"/>
                </a:ext>
              </a:extLst>
            </p:cNvPr>
            <p:cNvSpPr txBox="1"/>
            <p:nvPr/>
          </p:nvSpPr>
          <p:spPr>
            <a:xfrm>
              <a:off x="30887422" y="10277343"/>
              <a:ext cx="7252138" cy="769441"/>
            </a:xfrm>
            <a:prstGeom prst="rect">
              <a:avLst/>
            </a:prstGeom>
            <a:noFill/>
          </p:spPr>
          <p:txBody>
            <a:bodyPr wrap="square" rtlCol="0">
              <a:spAutoFit/>
            </a:bodyPr>
            <a:lstStyle/>
            <a:p>
              <a:r>
                <a:rPr lang="en-GB" sz="4400"/>
                <a:t>Government Digital Service</a:t>
              </a:r>
            </a:p>
          </p:txBody>
        </p:sp>
        <p:sp>
          <p:nvSpPr>
            <p:cNvPr id="37" name="TextBox 36">
              <a:extLst>
                <a:ext uri="{FF2B5EF4-FFF2-40B4-BE49-F238E27FC236}">
                  <a16:creationId xmlns:a16="http://schemas.microsoft.com/office/drawing/2014/main" id="{858193FE-CEBD-B577-1B07-575D1204234D}"/>
                </a:ext>
              </a:extLst>
            </p:cNvPr>
            <p:cNvSpPr txBox="1"/>
            <p:nvPr/>
          </p:nvSpPr>
          <p:spPr>
            <a:xfrm>
              <a:off x="26859186" y="13402128"/>
              <a:ext cx="9937477" cy="2123658"/>
            </a:xfrm>
            <a:prstGeom prst="rect">
              <a:avLst/>
            </a:prstGeom>
            <a:noFill/>
          </p:spPr>
          <p:txBody>
            <a:bodyPr wrap="square" rtlCol="0">
              <a:spAutoFit/>
            </a:bodyPr>
            <a:lstStyle/>
            <a:p>
              <a:r>
                <a:rPr lang="en-GB" sz="4400"/>
                <a:t>24 Ministerial Departments</a:t>
              </a:r>
            </a:p>
            <a:p>
              <a:r>
                <a:rPr lang="en-GB" sz="4400"/>
                <a:t>20 Non ministerial departments</a:t>
              </a:r>
            </a:p>
            <a:p>
              <a:r>
                <a:rPr lang="en-GB" sz="4400"/>
                <a:t>418 Agencies and other public bodies</a:t>
              </a:r>
            </a:p>
          </p:txBody>
        </p:sp>
        <p:pic>
          <p:nvPicPr>
            <p:cNvPr id="1032" name="Picture 8" descr="Home - Office for National Statistics">
              <a:extLst>
                <a:ext uri="{FF2B5EF4-FFF2-40B4-BE49-F238E27FC236}">
                  <a16:creationId xmlns:a16="http://schemas.microsoft.com/office/drawing/2014/main" id="{6A516CD2-DD40-EBA6-D830-DB9C20EF93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97202" y="10320024"/>
              <a:ext cx="4848225" cy="94297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1C5B3A51-33B7-4BEE-F834-0013C5A9575C}"/>
                </a:ext>
              </a:extLst>
            </p:cNvPr>
            <p:cNvPicPr>
              <a:picLocks noChangeAspect="1"/>
            </p:cNvPicPr>
            <p:nvPr/>
          </p:nvPicPr>
          <p:blipFill>
            <a:blip r:embed="rId10"/>
            <a:stretch>
              <a:fillRect/>
            </a:stretch>
          </p:blipFill>
          <p:spPr>
            <a:xfrm>
              <a:off x="22629135" y="11747985"/>
              <a:ext cx="3957713" cy="2638475"/>
            </a:xfrm>
            <a:prstGeom prst="rect">
              <a:avLst/>
            </a:prstGeom>
          </p:spPr>
        </p:pic>
      </p:grpSp>
      <p:grpSp>
        <p:nvGrpSpPr>
          <p:cNvPr id="5" name="Group 4">
            <a:extLst>
              <a:ext uri="{FF2B5EF4-FFF2-40B4-BE49-F238E27FC236}">
                <a16:creationId xmlns:a16="http://schemas.microsoft.com/office/drawing/2014/main" id="{ABF4811A-9F1C-3249-C4EF-FEF8166D9071}"/>
              </a:ext>
            </a:extLst>
          </p:cNvPr>
          <p:cNvGrpSpPr/>
          <p:nvPr/>
        </p:nvGrpSpPr>
        <p:grpSpPr>
          <a:xfrm>
            <a:off x="421755" y="5543086"/>
            <a:ext cx="20498071" cy="8654778"/>
            <a:chOff x="1090165" y="5382702"/>
            <a:chExt cx="20498071" cy="8654778"/>
          </a:xfrm>
        </p:grpSpPr>
        <p:pic>
          <p:nvPicPr>
            <p:cNvPr id="30" name="Picture 29">
              <a:extLst>
                <a:ext uri="{FF2B5EF4-FFF2-40B4-BE49-F238E27FC236}">
                  <a16:creationId xmlns:a16="http://schemas.microsoft.com/office/drawing/2014/main" id="{337B8BAF-EB07-134E-8597-B68F01452157}"/>
                </a:ext>
              </a:extLst>
            </p:cNvPr>
            <p:cNvPicPr>
              <a:picLocks noChangeAspect="1"/>
            </p:cNvPicPr>
            <p:nvPr/>
          </p:nvPicPr>
          <p:blipFill>
            <a:blip r:embed="rId11"/>
            <a:stretch>
              <a:fillRect/>
            </a:stretch>
          </p:blipFill>
          <p:spPr>
            <a:xfrm>
              <a:off x="1090165" y="9981554"/>
              <a:ext cx="6433309" cy="3574061"/>
            </a:xfrm>
            <a:prstGeom prst="rect">
              <a:avLst/>
            </a:prstGeom>
          </p:spPr>
        </p:pic>
        <p:pic>
          <p:nvPicPr>
            <p:cNvPr id="31" name="Picture 30">
              <a:extLst>
                <a:ext uri="{FF2B5EF4-FFF2-40B4-BE49-F238E27FC236}">
                  <a16:creationId xmlns:a16="http://schemas.microsoft.com/office/drawing/2014/main" id="{E4220ED3-D898-F247-7D31-1A9428190E20}"/>
                </a:ext>
              </a:extLst>
            </p:cNvPr>
            <p:cNvPicPr>
              <a:picLocks noChangeAspect="1"/>
            </p:cNvPicPr>
            <p:nvPr/>
          </p:nvPicPr>
          <p:blipFill>
            <a:blip r:embed="rId12"/>
            <a:stretch>
              <a:fillRect/>
            </a:stretch>
          </p:blipFill>
          <p:spPr>
            <a:xfrm>
              <a:off x="8254670" y="10051404"/>
              <a:ext cx="5160610" cy="3986076"/>
            </a:xfrm>
            <a:prstGeom prst="rect">
              <a:avLst/>
            </a:prstGeom>
          </p:spPr>
        </p:pic>
        <p:pic>
          <p:nvPicPr>
            <p:cNvPr id="32" name="Picture 31">
              <a:extLst>
                <a:ext uri="{FF2B5EF4-FFF2-40B4-BE49-F238E27FC236}">
                  <a16:creationId xmlns:a16="http://schemas.microsoft.com/office/drawing/2014/main" id="{F3587F62-9FBE-766F-8E9A-4D5F77456FF5}"/>
                </a:ext>
              </a:extLst>
            </p:cNvPr>
            <p:cNvPicPr>
              <a:picLocks noChangeAspect="1"/>
            </p:cNvPicPr>
            <p:nvPr/>
          </p:nvPicPr>
          <p:blipFill>
            <a:blip r:embed="rId13"/>
            <a:stretch>
              <a:fillRect/>
            </a:stretch>
          </p:blipFill>
          <p:spPr>
            <a:xfrm>
              <a:off x="5123935" y="6636069"/>
              <a:ext cx="4038600" cy="1133475"/>
            </a:xfrm>
            <a:prstGeom prst="rect">
              <a:avLst/>
            </a:prstGeom>
          </p:spPr>
        </p:pic>
        <p:pic>
          <p:nvPicPr>
            <p:cNvPr id="33" name="Picture 32">
              <a:extLst>
                <a:ext uri="{FF2B5EF4-FFF2-40B4-BE49-F238E27FC236}">
                  <a16:creationId xmlns:a16="http://schemas.microsoft.com/office/drawing/2014/main" id="{17ABAB37-561B-4F0C-35E3-A11CA3F58C99}"/>
                </a:ext>
              </a:extLst>
            </p:cNvPr>
            <p:cNvPicPr>
              <a:picLocks noChangeAspect="1"/>
            </p:cNvPicPr>
            <p:nvPr/>
          </p:nvPicPr>
          <p:blipFill>
            <a:blip r:embed="rId14"/>
            <a:stretch>
              <a:fillRect/>
            </a:stretch>
          </p:blipFill>
          <p:spPr>
            <a:xfrm>
              <a:off x="14050246" y="10361731"/>
              <a:ext cx="3327061" cy="2289018"/>
            </a:xfrm>
            <a:prstGeom prst="rect">
              <a:avLst/>
            </a:prstGeom>
          </p:spPr>
        </p:pic>
        <p:pic>
          <p:nvPicPr>
            <p:cNvPr id="34" name="Picture 33">
              <a:extLst>
                <a:ext uri="{FF2B5EF4-FFF2-40B4-BE49-F238E27FC236}">
                  <a16:creationId xmlns:a16="http://schemas.microsoft.com/office/drawing/2014/main" id="{CF9BFEE6-CD44-5158-BE80-A708FF222928}"/>
                </a:ext>
              </a:extLst>
            </p:cNvPr>
            <p:cNvPicPr>
              <a:picLocks noChangeAspect="1"/>
            </p:cNvPicPr>
            <p:nvPr/>
          </p:nvPicPr>
          <p:blipFill>
            <a:blip r:embed="rId15"/>
            <a:stretch>
              <a:fillRect/>
            </a:stretch>
          </p:blipFill>
          <p:spPr>
            <a:xfrm>
              <a:off x="16427625" y="5382702"/>
              <a:ext cx="5160611" cy="4162893"/>
            </a:xfrm>
            <a:prstGeom prst="rect">
              <a:avLst/>
            </a:prstGeom>
          </p:spPr>
        </p:pic>
        <p:pic>
          <p:nvPicPr>
            <p:cNvPr id="41" name="Picture 40">
              <a:extLst>
                <a:ext uri="{FF2B5EF4-FFF2-40B4-BE49-F238E27FC236}">
                  <a16:creationId xmlns:a16="http://schemas.microsoft.com/office/drawing/2014/main" id="{C11F756F-BBA3-BCCF-9998-45F993C06F9A}"/>
                </a:ext>
              </a:extLst>
            </p:cNvPr>
            <p:cNvPicPr>
              <a:picLocks noChangeAspect="1"/>
            </p:cNvPicPr>
            <p:nvPr/>
          </p:nvPicPr>
          <p:blipFill>
            <a:blip r:embed="rId16"/>
            <a:stretch>
              <a:fillRect/>
            </a:stretch>
          </p:blipFill>
          <p:spPr>
            <a:xfrm>
              <a:off x="10373425" y="6148924"/>
              <a:ext cx="3632420" cy="2421613"/>
            </a:xfrm>
            <a:prstGeom prst="rect">
              <a:avLst/>
            </a:prstGeom>
          </p:spPr>
        </p:pic>
        <p:sp>
          <p:nvSpPr>
            <p:cNvPr id="6" name="TextBox 5">
              <a:extLst>
                <a:ext uri="{FF2B5EF4-FFF2-40B4-BE49-F238E27FC236}">
                  <a16:creationId xmlns:a16="http://schemas.microsoft.com/office/drawing/2014/main" id="{05F2859C-A8C8-5DB3-A1EF-4CABE6E0CBB9}"/>
                </a:ext>
              </a:extLst>
            </p:cNvPr>
            <p:cNvSpPr txBox="1"/>
            <p:nvPr/>
          </p:nvSpPr>
          <p:spPr>
            <a:xfrm>
              <a:off x="3310759" y="8303451"/>
              <a:ext cx="12612414" cy="1446550"/>
            </a:xfrm>
            <a:prstGeom prst="rect">
              <a:avLst/>
            </a:prstGeom>
            <a:solidFill>
              <a:srgbClr val="D6BBEB"/>
            </a:solidFill>
          </p:spPr>
          <p:txBody>
            <a:bodyPr wrap="square" lIns="91440" tIns="45720" rIns="91440" bIns="45720" rtlCol="0" anchor="t">
              <a:spAutoFit/>
            </a:bodyPr>
            <a:lstStyle/>
            <a:p>
              <a:pPr algn="ctr"/>
              <a:r>
                <a:rPr lang="en-GB" sz="8800" b="1">
                  <a:latin typeface="Arial"/>
                  <a:cs typeface="Arial"/>
                </a:rPr>
                <a:t>Defence and Security </a:t>
              </a:r>
              <a:endParaRPr lang="en-GB" sz="8800" b="1"/>
            </a:p>
          </p:txBody>
        </p:sp>
      </p:grpSp>
      <p:sp>
        <p:nvSpPr>
          <p:cNvPr id="7" name="TextBox 6">
            <a:extLst>
              <a:ext uri="{FF2B5EF4-FFF2-40B4-BE49-F238E27FC236}">
                <a16:creationId xmlns:a16="http://schemas.microsoft.com/office/drawing/2014/main" id="{B7EAC13D-F733-440B-E598-99D932C1F085}"/>
              </a:ext>
            </a:extLst>
          </p:cNvPr>
          <p:cNvSpPr txBox="1"/>
          <p:nvPr/>
        </p:nvSpPr>
        <p:spPr>
          <a:xfrm>
            <a:off x="25046417" y="16579356"/>
            <a:ext cx="11486920" cy="1446550"/>
          </a:xfrm>
          <a:prstGeom prst="rect">
            <a:avLst/>
          </a:prstGeom>
          <a:solidFill>
            <a:srgbClr val="D6BBEB"/>
          </a:solidFill>
        </p:spPr>
        <p:txBody>
          <a:bodyPr wrap="square" lIns="91440" tIns="45720" rIns="91440" bIns="45720" rtlCol="0" anchor="t">
            <a:spAutoFit/>
          </a:bodyPr>
          <a:lstStyle/>
          <a:p>
            <a:pPr algn="ctr"/>
            <a:r>
              <a:rPr lang="en-GB" sz="8800" b="1">
                <a:latin typeface="Arial"/>
                <a:cs typeface="Arial"/>
              </a:rPr>
              <a:t>Industry</a:t>
            </a:r>
          </a:p>
        </p:txBody>
      </p:sp>
      <p:sp>
        <p:nvSpPr>
          <p:cNvPr id="8" name="TextBox 7">
            <a:extLst>
              <a:ext uri="{FF2B5EF4-FFF2-40B4-BE49-F238E27FC236}">
                <a16:creationId xmlns:a16="http://schemas.microsoft.com/office/drawing/2014/main" id="{746CD87E-3D0C-5C20-2ADF-36490FE6DD55}"/>
              </a:ext>
            </a:extLst>
          </p:cNvPr>
          <p:cNvSpPr txBox="1"/>
          <p:nvPr/>
        </p:nvSpPr>
        <p:spPr>
          <a:xfrm>
            <a:off x="23628096" y="15183273"/>
            <a:ext cx="8165778" cy="1200329"/>
          </a:xfrm>
          <a:prstGeom prst="rect">
            <a:avLst/>
          </a:prstGeom>
          <a:noFill/>
        </p:spPr>
        <p:txBody>
          <a:bodyPr wrap="square" rtlCol="0">
            <a:spAutoFit/>
          </a:bodyPr>
          <a:lstStyle/>
          <a:p>
            <a:r>
              <a:rPr lang="en-GB" sz="7200" b="1"/>
              <a:t>Also:</a:t>
            </a:r>
          </a:p>
        </p:txBody>
      </p:sp>
      <p:sp>
        <p:nvSpPr>
          <p:cNvPr id="10" name="TextBox 9">
            <a:extLst>
              <a:ext uri="{FF2B5EF4-FFF2-40B4-BE49-F238E27FC236}">
                <a16:creationId xmlns:a16="http://schemas.microsoft.com/office/drawing/2014/main" id="{4A8CE3D5-B65C-5C52-9659-CC9E41D8F0CD}"/>
              </a:ext>
            </a:extLst>
          </p:cNvPr>
          <p:cNvSpPr txBox="1"/>
          <p:nvPr/>
        </p:nvSpPr>
        <p:spPr>
          <a:xfrm>
            <a:off x="25046417" y="18306734"/>
            <a:ext cx="11486920" cy="1446550"/>
          </a:xfrm>
          <a:prstGeom prst="rect">
            <a:avLst/>
          </a:prstGeom>
          <a:solidFill>
            <a:srgbClr val="D6BBEB"/>
          </a:solidFill>
        </p:spPr>
        <p:txBody>
          <a:bodyPr wrap="square" lIns="91440" tIns="45720" rIns="91440" bIns="45720" rtlCol="0" anchor="t">
            <a:spAutoFit/>
          </a:bodyPr>
          <a:lstStyle/>
          <a:p>
            <a:pPr algn="ctr"/>
            <a:r>
              <a:rPr lang="en-GB" sz="8800" b="1">
                <a:latin typeface="Arial"/>
                <a:cs typeface="Arial"/>
              </a:rPr>
              <a:t>NGOs</a:t>
            </a:r>
          </a:p>
        </p:txBody>
      </p:sp>
      <p:grpSp>
        <p:nvGrpSpPr>
          <p:cNvPr id="16" name="Group 15">
            <a:extLst>
              <a:ext uri="{FF2B5EF4-FFF2-40B4-BE49-F238E27FC236}">
                <a16:creationId xmlns:a16="http://schemas.microsoft.com/office/drawing/2014/main" id="{05263873-C08F-28C9-7009-C2D539EA58B2}"/>
              </a:ext>
            </a:extLst>
          </p:cNvPr>
          <p:cNvGrpSpPr/>
          <p:nvPr/>
        </p:nvGrpSpPr>
        <p:grpSpPr>
          <a:xfrm>
            <a:off x="1219200" y="20303171"/>
            <a:ext cx="35661600" cy="758938"/>
            <a:chOff x="1219200" y="20303171"/>
            <a:chExt cx="35661600" cy="758938"/>
          </a:xfrm>
        </p:grpSpPr>
        <p:cxnSp>
          <p:nvCxnSpPr>
            <p:cNvPr id="17" name="Straight Connector 16">
              <a:extLst>
                <a:ext uri="{FF2B5EF4-FFF2-40B4-BE49-F238E27FC236}">
                  <a16:creationId xmlns:a16="http://schemas.microsoft.com/office/drawing/2014/main" id="{2146DD1F-93EC-2C03-F1F4-D7E640BD34D2}"/>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6542FF9-C5A4-192D-1A8D-C11343010B89}"/>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377655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AEE3DD9-7AD3-36D3-CC52-130A3559D7BD}"/>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4000"/>
            <a:ext cx="33858145" cy="4632037"/>
          </a:xfrm>
          <a:prstGeom prst="rect">
            <a:avLst/>
          </a:prstGeom>
          <a:noFill/>
        </p:spPr>
        <p:txBody>
          <a:bodyPr wrap="square" lIns="91440" tIns="45720" rIns="91440" bIns="45720" anchor="t">
            <a:spAutoFit/>
          </a:bodyPr>
          <a:lstStyle/>
          <a:p>
            <a:r>
              <a:rPr lang="en-US" sz="13300" b="1" err="1">
                <a:latin typeface="Arial"/>
                <a:cs typeface="Arial"/>
              </a:rPr>
              <a:t>Defence</a:t>
            </a:r>
            <a:r>
              <a:rPr lang="en-US" sz="13300" b="1">
                <a:latin typeface="Arial"/>
                <a:cs typeface="Arial"/>
              </a:rPr>
              <a:t> and Security careers</a:t>
            </a:r>
          </a:p>
          <a:p>
            <a:r>
              <a:rPr lang="en-US" sz="9600" i="1">
                <a:latin typeface="Arial"/>
                <a:cs typeface="Arial"/>
              </a:rPr>
              <a:t>Employers:  </a:t>
            </a:r>
            <a:endParaRPr lang="en-US" sz="9600" i="1"/>
          </a:p>
          <a:p>
            <a:endParaRPr lang="en-US" sz="6600" b="1">
              <a:solidFill>
                <a:srgbClr val="000000"/>
              </a:solidFill>
            </a:endParaRPr>
          </a:p>
        </p:txBody>
      </p:sp>
      <p:graphicFrame>
        <p:nvGraphicFramePr>
          <p:cNvPr id="8" name="Diagram 7">
            <a:extLst>
              <a:ext uri="{FF2B5EF4-FFF2-40B4-BE49-F238E27FC236}">
                <a16:creationId xmlns:a16="http://schemas.microsoft.com/office/drawing/2014/main" id="{85CE193D-CB8F-0E06-FBCE-FA3401F13524}"/>
              </a:ext>
            </a:extLst>
          </p:cNvPr>
          <p:cNvGraphicFramePr/>
          <p:nvPr>
            <p:extLst>
              <p:ext uri="{D42A27DB-BD31-4B8C-83A1-F6EECF244321}">
                <p14:modId xmlns:p14="http://schemas.microsoft.com/office/powerpoint/2010/main" val="2406216384"/>
              </p:ext>
            </p:extLst>
          </p:nvPr>
        </p:nvGraphicFramePr>
        <p:xfrm>
          <a:off x="11402832" y="7748354"/>
          <a:ext cx="25335949" cy="113641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1" name="Group 10">
            <a:extLst>
              <a:ext uri="{FF2B5EF4-FFF2-40B4-BE49-F238E27FC236}">
                <a16:creationId xmlns:a16="http://schemas.microsoft.com/office/drawing/2014/main" id="{59D1313A-ACC9-CB3B-4891-955B76C0F4BD}"/>
              </a:ext>
            </a:extLst>
          </p:cNvPr>
          <p:cNvGrpSpPr/>
          <p:nvPr/>
        </p:nvGrpSpPr>
        <p:grpSpPr>
          <a:xfrm>
            <a:off x="1219200" y="20303171"/>
            <a:ext cx="35661600" cy="758938"/>
            <a:chOff x="1219200" y="20303171"/>
            <a:chExt cx="35661600" cy="758938"/>
          </a:xfrm>
        </p:grpSpPr>
        <p:cxnSp>
          <p:nvCxnSpPr>
            <p:cNvPr id="12" name="Straight Connector 11">
              <a:extLst>
                <a:ext uri="{FF2B5EF4-FFF2-40B4-BE49-F238E27FC236}">
                  <a16:creationId xmlns:a16="http://schemas.microsoft.com/office/drawing/2014/main" id="{74EFAF3C-2BE5-367C-E51E-C5D7F7669598}"/>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17FC47B-C96F-61E2-0DE8-ED7AD37645C2}"/>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35" name="Group 34">
            <a:extLst>
              <a:ext uri="{FF2B5EF4-FFF2-40B4-BE49-F238E27FC236}">
                <a16:creationId xmlns:a16="http://schemas.microsoft.com/office/drawing/2014/main" id="{34E1BA9C-F7AD-F002-A861-6A40EC94F571}"/>
              </a:ext>
            </a:extLst>
          </p:cNvPr>
          <p:cNvGrpSpPr/>
          <p:nvPr/>
        </p:nvGrpSpPr>
        <p:grpSpPr>
          <a:xfrm>
            <a:off x="-21055" y="7308694"/>
            <a:ext cx="9617142" cy="12288383"/>
            <a:chOff x="31951957" y="553490"/>
            <a:chExt cx="13396731" cy="17964510"/>
          </a:xfrm>
        </p:grpSpPr>
        <p:pic>
          <p:nvPicPr>
            <p:cNvPr id="27" name="Picture 26">
              <a:extLst>
                <a:ext uri="{FF2B5EF4-FFF2-40B4-BE49-F238E27FC236}">
                  <a16:creationId xmlns:a16="http://schemas.microsoft.com/office/drawing/2014/main" id="{FBA55BAD-0C47-5661-80C3-66D8965C81B1}"/>
                </a:ext>
              </a:extLst>
            </p:cNvPr>
            <p:cNvPicPr>
              <a:picLocks noChangeAspect="1"/>
            </p:cNvPicPr>
            <p:nvPr/>
          </p:nvPicPr>
          <p:blipFill>
            <a:blip r:embed="rId9"/>
            <a:stretch>
              <a:fillRect/>
            </a:stretch>
          </p:blipFill>
          <p:spPr>
            <a:xfrm>
              <a:off x="31951957" y="6279236"/>
              <a:ext cx="9680630" cy="5343548"/>
            </a:xfrm>
            <a:prstGeom prst="rect">
              <a:avLst/>
            </a:prstGeom>
          </p:spPr>
        </p:pic>
        <p:pic>
          <p:nvPicPr>
            <p:cNvPr id="28" name="Picture 27">
              <a:extLst>
                <a:ext uri="{FF2B5EF4-FFF2-40B4-BE49-F238E27FC236}">
                  <a16:creationId xmlns:a16="http://schemas.microsoft.com/office/drawing/2014/main" id="{36A36E54-129B-126A-7225-ACA606B7211F}"/>
                </a:ext>
              </a:extLst>
            </p:cNvPr>
            <p:cNvPicPr>
              <a:picLocks noChangeAspect="1"/>
            </p:cNvPicPr>
            <p:nvPr/>
          </p:nvPicPr>
          <p:blipFill>
            <a:blip r:embed="rId10"/>
            <a:stretch>
              <a:fillRect/>
            </a:stretch>
          </p:blipFill>
          <p:spPr>
            <a:xfrm>
              <a:off x="31999229" y="10695298"/>
              <a:ext cx="5160610" cy="3986076"/>
            </a:xfrm>
            <a:prstGeom prst="rect">
              <a:avLst/>
            </a:prstGeom>
          </p:spPr>
        </p:pic>
        <p:pic>
          <p:nvPicPr>
            <p:cNvPr id="30" name="Picture 29">
              <a:extLst>
                <a:ext uri="{FF2B5EF4-FFF2-40B4-BE49-F238E27FC236}">
                  <a16:creationId xmlns:a16="http://schemas.microsoft.com/office/drawing/2014/main" id="{C36DBDBC-6EBB-5FD0-E540-14770E3578FE}"/>
                </a:ext>
              </a:extLst>
            </p:cNvPr>
            <p:cNvPicPr>
              <a:picLocks noChangeAspect="1"/>
            </p:cNvPicPr>
            <p:nvPr/>
          </p:nvPicPr>
          <p:blipFill>
            <a:blip r:embed="rId11"/>
            <a:stretch>
              <a:fillRect/>
            </a:stretch>
          </p:blipFill>
          <p:spPr>
            <a:xfrm>
              <a:off x="32979310" y="14107697"/>
              <a:ext cx="12094451" cy="4410303"/>
            </a:xfrm>
            <a:prstGeom prst="rect">
              <a:avLst/>
            </a:prstGeom>
          </p:spPr>
        </p:pic>
        <p:pic>
          <p:nvPicPr>
            <p:cNvPr id="31" name="Picture 30">
              <a:extLst>
                <a:ext uri="{FF2B5EF4-FFF2-40B4-BE49-F238E27FC236}">
                  <a16:creationId xmlns:a16="http://schemas.microsoft.com/office/drawing/2014/main" id="{49E9C268-ACE4-9DBC-7ABD-AA7E625FDBE0}"/>
                </a:ext>
              </a:extLst>
            </p:cNvPr>
            <p:cNvPicPr>
              <a:picLocks noChangeAspect="1"/>
            </p:cNvPicPr>
            <p:nvPr/>
          </p:nvPicPr>
          <p:blipFill>
            <a:blip r:embed="rId12"/>
            <a:stretch>
              <a:fillRect/>
            </a:stretch>
          </p:blipFill>
          <p:spPr>
            <a:xfrm>
              <a:off x="38899204" y="3177793"/>
              <a:ext cx="6449484" cy="4386186"/>
            </a:xfrm>
            <a:prstGeom prst="rect">
              <a:avLst/>
            </a:prstGeom>
          </p:spPr>
        </p:pic>
        <p:pic>
          <p:nvPicPr>
            <p:cNvPr id="32" name="Picture 31">
              <a:extLst>
                <a:ext uri="{FF2B5EF4-FFF2-40B4-BE49-F238E27FC236}">
                  <a16:creationId xmlns:a16="http://schemas.microsoft.com/office/drawing/2014/main" id="{07176A8A-E756-ABF7-EE91-EA0C860E5131}"/>
                </a:ext>
              </a:extLst>
            </p:cNvPr>
            <p:cNvPicPr>
              <a:picLocks noChangeAspect="1"/>
            </p:cNvPicPr>
            <p:nvPr/>
          </p:nvPicPr>
          <p:blipFill>
            <a:blip r:embed="rId13"/>
            <a:stretch>
              <a:fillRect/>
            </a:stretch>
          </p:blipFill>
          <p:spPr>
            <a:xfrm>
              <a:off x="32011910" y="553490"/>
              <a:ext cx="5160611" cy="4162893"/>
            </a:xfrm>
            <a:prstGeom prst="rect">
              <a:avLst/>
            </a:prstGeom>
          </p:spPr>
        </p:pic>
        <p:pic>
          <p:nvPicPr>
            <p:cNvPr id="33" name="Picture 32">
              <a:extLst>
                <a:ext uri="{FF2B5EF4-FFF2-40B4-BE49-F238E27FC236}">
                  <a16:creationId xmlns:a16="http://schemas.microsoft.com/office/drawing/2014/main" id="{1FAAC2CD-8E84-7B95-C58D-4C3AC232BF23}"/>
                </a:ext>
              </a:extLst>
            </p:cNvPr>
            <p:cNvPicPr>
              <a:picLocks noChangeAspect="1"/>
            </p:cNvPicPr>
            <p:nvPr/>
          </p:nvPicPr>
          <p:blipFill>
            <a:blip r:embed="rId14"/>
            <a:stretch>
              <a:fillRect/>
            </a:stretch>
          </p:blipFill>
          <p:spPr>
            <a:xfrm>
              <a:off x="38842354" y="933376"/>
              <a:ext cx="3632420" cy="2421613"/>
            </a:xfrm>
            <a:prstGeom prst="rect">
              <a:avLst/>
            </a:prstGeom>
          </p:spPr>
        </p:pic>
      </p:grpSp>
    </p:spTree>
    <p:extLst>
      <p:ext uri="{BB962C8B-B14F-4D97-AF65-F5344CB8AC3E}">
        <p14:creationId xmlns:p14="http://schemas.microsoft.com/office/powerpoint/2010/main" val="277145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graphicEl>
                                              <a:dgm id="{628D0ED7-3C2B-48CD-B37E-0993EAD2A14A}"/>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graphicEl>
                                              <a:dgm id="{4D21C50B-FD28-9A4D-B0AE-1EBA44299C8D}"/>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graphicEl>
                                              <a:dgm id="{F2D765EA-7A20-4C6B-8EB3-1ABFC036F2D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graphicEl>
                                              <a:dgm id="{19BE70CE-F141-42C2-9759-17603DB611A5}"/>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graphicEl>
                                              <a:dgm id="{D480B723-49FF-44FC-9726-7CC619B1DE3B}"/>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graphicEl>
                                              <a:dgm id="{E2DB7739-0AA4-4F46-B844-9945B605BE8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A763BD9-ADA4-310E-3EBB-8F5F3CA83E5C}"/>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00" y="3834000"/>
            <a:ext cx="36447046" cy="1569660"/>
          </a:xfrm>
          <a:prstGeom prst="rect">
            <a:avLst/>
          </a:prstGeom>
          <a:noFill/>
        </p:spPr>
        <p:txBody>
          <a:bodyPr wrap="square" lIns="91440" tIns="45720" rIns="91440" bIns="45720" anchor="t">
            <a:spAutoFit/>
          </a:bodyPr>
          <a:lstStyle/>
          <a:p>
            <a:r>
              <a:rPr lang="en-US" sz="9600" b="1">
                <a:latin typeface="Arial"/>
                <a:cs typeface="Arial"/>
              </a:rPr>
              <a:t>What Defence and Security employees say about their role…*</a:t>
            </a:r>
            <a:endParaRPr lang="en-US"/>
          </a:p>
        </p:txBody>
      </p:sp>
      <p:sp>
        <p:nvSpPr>
          <p:cNvPr id="5" name="TextBox 4">
            <a:extLst>
              <a:ext uri="{FF2B5EF4-FFF2-40B4-BE49-F238E27FC236}">
                <a16:creationId xmlns:a16="http://schemas.microsoft.com/office/drawing/2014/main" id="{80F43341-F770-C398-2679-AC3E3E40F1DE}"/>
              </a:ext>
            </a:extLst>
          </p:cNvPr>
          <p:cNvSpPr txBox="1"/>
          <p:nvPr/>
        </p:nvSpPr>
        <p:spPr>
          <a:xfrm>
            <a:off x="10832056" y="19049141"/>
            <a:ext cx="14631930" cy="769441"/>
          </a:xfrm>
          <a:prstGeom prst="rect">
            <a:avLst/>
          </a:prstGeom>
          <a:noFill/>
        </p:spPr>
        <p:txBody>
          <a:bodyPr wrap="square" lIns="91440" tIns="45720" rIns="91440" bIns="45720" anchor="t">
            <a:spAutoFit/>
          </a:bodyPr>
          <a:lstStyle/>
          <a:p>
            <a:r>
              <a:rPr lang="en-US" sz="4400" b="1" i="1">
                <a:latin typeface="Arial"/>
                <a:cs typeface="Arial"/>
              </a:rPr>
              <a:t>*</a:t>
            </a:r>
            <a:r>
              <a:rPr lang="en-US" sz="4400" b="1" i="1" err="1">
                <a:latin typeface="Arial"/>
                <a:cs typeface="Arial"/>
              </a:rPr>
              <a:t>nb.</a:t>
            </a:r>
            <a:r>
              <a:rPr lang="en-US" sz="4400" b="1" i="1">
                <a:latin typeface="Arial"/>
                <a:cs typeface="Arial"/>
              </a:rPr>
              <a:t> names have been changed to maintain anonymity </a:t>
            </a:r>
            <a:endParaRPr lang="en-US" sz="800" b="1" i="1"/>
          </a:p>
        </p:txBody>
      </p:sp>
      <p:grpSp>
        <p:nvGrpSpPr>
          <p:cNvPr id="7" name="Group 6">
            <a:extLst>
              <a:ext uri="{FF2B5EF4-FFF2-40B4-BE49-F238E27FC236}">
                <a16:creationId xmlns:a16="http://schemas.microsoft.com/office/drawing/2014/main" id="{29964A4B-F570-9DFC-52B4-AECBA5117D03}"/>
              </a:ext>
            </a:extLst>
          </p:cNvPr>
          <p:cNvGrpSpPr/>
          <p:nvPr/>
        </p:nvGrpSpPr>
        <p:grpSpPr>
          <a:xfrm>
            <a:off x="2523822" y="6177314"/>
            <a:ext cx="13646439" cy="11595076"/>
            <a:chOff x="2523822" y="6558314"/>
            <a:chExt cx="13646439" cy="11595076"/>
          </a:xfrm>
        </p:grpSpPr>
        <p:sp>
          <p:nvSpPr>
            <p:cNvPr id="11" name="Speech Bubble: Rectangle 10">
              <a:extLst>
                <a:ext uri="{FF2B5EF4-FFF2-40B4-BE49-F238E27FC236}">
                  <a16:creationId xmlns:a16="http://schemas.microsoft.com/office/drawing/2014/main" id="{2AC84418-051B-0704-D78C-0C1DB753B127}"/>
                </a:ext>
              </a:extLst>
            </p:cNvPr>
            <p:cNvSpPr/>
            <p:nvPr/>
          </p:nvSpPr>
          <p:spPr>
            <a:xfrm>
              <a:off x="2523822" y="6558314"/>
              <a:ext cx="13646439" cy="11595076"/>
            </a:xfrm>
            <a:prstGeom prst="wedgeRectCallout">
              <a:avLst>
                <a:gd name="adj1" fmla="val -1406"/>
                <a:gd name="adj2" fmla="val 67395"/>
              </a:avLst>
            </a:prstGeom>
            <a:solidFill>
              <a:schemeClr val="accent1">
                <a:lumMod val="40000"/>
                <a:lumOff val="6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FA7DBDFC-2146-341A-7B64-785277A710CE}"/>
                </a:ext>
              </a:extLst>
            </p:cNvPr>
            <p:cNvSpPr txBox="1"/>
            <p:nvPr/>
          </p:nvSpPr>
          <p:spPr>
            <a:xfrm>
              <a:off x="3194624" y="6769707"/>
              <a:ext cx="12304833" cy="11172289"/>
            </a:xfrm>
            <a:prstGeom prst="rect">
              <a:avLst/>
            </a:prstGeom>
            <a:solidFill>
              <a:schemeClr val="accent1">
                <a:lumMod val="40000"/>
                <a:lumOff val="60000"/>
              </a:schemeClr>
            </a:solidFill>
            <a:ln>
              <a:noFill/>
            </a:ln>
          </p:spPr>
          <p:txBody>
            <a:bodyPr wrap="square" lIns="91440" tIns="45720" rIns="91440" bIns="45720" rtlCol="0" anchor="t">
              <a:spAutoFit/>
            </a:bodyPr>
            <a:lstStyle/>
            <a:p>
              <a:r>
                <a:rPr lang="en-GB" sz="7200" b="0" i="1">
                  <a:solidFill>
                    <a:srgbClr val="000000"/>
                  </a:solidFill>
                  <a:effectLst/>
                  <a:latin typeface="Arial"/>
                  <a:cs typeface="Arial"/>
                </a:rPr>
                <a:t>“The thing I enjoy most about my role is the fact that I get to work on some cool projects that help to safeguard the UK. Also, the fact that I get to work with a wide variety of people, all of whom are always willing to help and talk about what they do.” </a:t>
              </a:r>
            </a:p>
            <a:p>
              <a:r>
                <a:rPr lang="en-GB" sz="7200" b="1" i="1">
                  <a:solidFill>
                    <a:srgbClr val="000000"/>
                  </a:solidFill>
                  <a:latin typeface="Arial"/>
                  <a:cs typeface="Arial"/>
                </a:rPr>
                <a:t>- </a:t>
              </a:r>
              <a:r>
                <a:rPr lang="en-GB" sz="7200" b="1">
                  <a:solidFill>
                    <a:srgbClr val="000000"/>
                  </a:solidFill>
                  <a:latin typeface="Arial"/>
                  <a:cs typeface="Arial"/>
                </a:rPr>
                <a:t>Lisa, GCHQ</a:t>
              </a:r>
              <a:endParaRPr lang="en-GB" sz="7200" b="1" i="1">
                <a:latin typeface="Arial"/>
                <a:cs typeface="Arial"/>
              </a:endParaRPr>
            </a:p>
          </p:txBody>
        </p:sp>
      </p:grpSp>
      <p:grpSp>
        <p:nvGrpSpPr>
          <p:cNvPr id="6" name="Group 5">
            <a:extLst>
              <a:ext uri="{FF2B5EF4-FFF2-40B4-BE49-F238E27FC236}">
                <a16:creationId xmlns:a16="http://schemas.microsoft.com/office/drawing/2014/main" id="{7F336A1E-8192-F01F-9DF6-23E3B21FC47A}"/>
              </a:ext>
            </a:extLst>
          </p:cNvPr>
          <p:cNvGrpSpPr/>
          <p:nvPr/>
        </p:nvGrpSpPr>
        <p:grpSpPr>
          <a:xfrm>
            <a:off x="17159142" y="6177314"/>
            <a:ext cx="18977988" cy="11638039"/>
            <a:chOff x="17159142" y="6558314"/>
            <a:chExt cx="18977988" cy="11638039"/>
          </a:xfrm>
        </p:grpSpPr>
        <p:sp>
          <p:nvSpPr>
            <p:cNvPr id="13" name="Speech Bubble: Rectangle 12">
              <a:extLst>
                <a:ext uri="{FF2B5EF4-FFF2-40B4-BE49-F238E27FC236}">
                  <a16:creationId xmlns:a16="http://schemas.microsoft.com/office/drawing/2014/main" id="{999C2B4B-BBA1-2D8F-9208-64E0A8D158B5}"/>
                </a:ext>
              </a:extLst>
            </p:cNvPr>
            <p:cNvSpPr/>
            <p:nvPr/>
          </p:nvSpPr>
          <p:spPr>
            <a:xfrm>
              <a:off x="17159142" y="6558314"/>
              <a:ext cx="18977988" cy="11638039"/>
            </a:xfrm>
            <a:prstGeom prst="wedgeRectCallout">
              <a:avLst>
                <a:gd name="adj1" fmla="val 3634"/>
                <a:gd name="adj2" fmla="val 67329"/>
              </a:avLst>
            </a:prstGeom>
            <a:solidFill>
              <a:schemeClr val="accent1">
                <a:lumMod val="40000"/>
                <a:lumOff val="6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49B8415-8089-32B2-E9F7-18EDCCF10CD8}"/>
                </a:ext>
              </a:extLst>
            </p:cNvPr>
            <p:cNvSpPr txBox="1"/>
            <p:nvPr/>
          </p:nvSpPr>
          <p:spPr>
            <a:xfrm>
              <a:off x="18148021" y="6801633"/>
              <a:ext cx="17000229" cy="11172289"/>
            </a:xfrm>
            <a:prstGeom prst="rect">
              <a:avLst/>
            </a:prstGeom>
            <a:solidFill>
              <a:schemeClr val="accent1">
                <a:lumMod val="40000"/>
                <a:lumOff val="60000"/>
              </a:schemeClr>
            </a:solidFill>
            <a:ln>
              <a:noFill/>
            </a:ln>
          </p:spPr>
          <p:txBody>
            <a:bodyPr wrap="square" rtlCol="0">
              <a:spAutoFit/>
            </a:bodyPr>
            <a:lstStyle/>
            <a:p>
              <a:r>
                <a:rPr lang="en-GB" sz="7200" b="0" i="1">
                  <a:solidFill>
                    <a:srgbClr val="000000"/>
                  </a:solidFill>
                  <a:effectLst/>
                </a:rPr>
                <a:t>“One of the main challenges of the role is the fact that Cyber Security is constantly developing day by day, so my knowledge and thinking is constantly being challenged alongside it. It is quite a good challenge as it means that I am never bored and learning it is very interesting, especially when you can apply the learning to a real work problem!” </a:t>
              </a:r>
            </a:p>
            <a:p>
              <a:r>
                <a:rPr lang="en-GB" sz="7200" b="1" i="1">
                  <a:solidFill>
                    <a:srgbClr val="000000"/>
                  </a:solidFill>
                </a:rPr>
                <a:t>- </a:t>
              </a:r>
              <a:r>
                <a:rPr lang="en-GB" sz="7200" b="1">
                  <a:solidFill>
                    <a:srgbClr val="000000"/>
                  </a:solidFill>
                </a:rPr>
                <a:t>Verity, GCHQ</a:t>
              </a:r>
              <a:endParaRPr lang="en-GB" sz="7200" b="1" i="1"/>
            </a:p>
          </p:txBody>
        </p:sp>
      </p:grpSp>
      <p:grpSp>
        <p:nvGrpSpPr>
          <p:cNvPr id="16" name="Group 15">
            <a:extLst>
              <a:ext uri="{FF2B5EF4-FFF2-40B4-BE49-F238E27FC236}">
                <a16:creationId xmlns:a16="http://schemas.microsoft.com/office/drawing/2014/main" id="{0A2784AB-81EA-6DB8-A52B-87DC8BF5ECBA}"/>
              </a:ext>
            </a:extLst>
          </p:cNvPr>
          <p:cNvGrpSpPr/>
          <p:nvPr/>
        </p:nvGrpSpPr>
        <p:grpSpPr>
          <a:xfrm>
            <a:off x="1219200" y="20303171"/>
            <a:ext cx="35661600" cy="758938"/>
            <a:chOff x="1219200" y="20303171"/>
            <a:chExt cx="35661600" cy="758938"/>
          </a:xfrm>
        </p:grpSpPr>
        <p:cxnSp>
          <p:nvCxnSpPr>
            <p:cNvPr id="17" name="Straight Connector 16">
              <a:extLst>
                <a:ext uri="{FF2B5EF4-FFF2-40B4-BE49-F238E27FC236}">
                  <a16:creationId xmlns:a16="http://schemas.microsoft.com/office/drawing/2014/main" id="{893D513A-275C-6237-7785-24825775FE65}"/>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A6B0214-4610-AB3C-0485-D65CD881F1BA}"/>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11828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AA57EE-FEE6-ED37-41C2-911116AA0DC1}"/>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4000"/>
            <a:ext cx="33858145" cy="1569660"/>
          </a:xfrm>
          <a:prstGeom prst="rect">
            <a:avLst/>
          </a:prstGeom>
          <a:noFill/>
        </p:spPr>
        <p:txBody>
          <a:bodyPr wrap="square" lIns="91440" tIns="45720" rIns="91440" bIns="45720" anchor="t">
            <a:spAutoFit/>
          </a:bodyPr>
          <a:lstStyle/>
          <a:p>
            <a:r>
              <a:rPr lang="en-GB" sz="9600" b="1"/>
              <a:t>Routes into Data Science at MI5, MI6 and GCHQ</a:t>
            </a:r>
            <a:endParaRPr lang="en-US" sz="71400" b="1">
              <a:solidFill>
                <a:srgbClr val="000000"/>
              </a:solidFill>
            </a:endParaRPr>
          </a:p>
        </p:txBody>
      </p:sp>
      <p:sp>
        <p:nvSpPr>
          <p:cNvPr id="5" name="TextBox 4">
            <a:extLst>
              <a:ext uri="{FF2B5EF4-FFF2-40B4-BE49-F238E27FC236}">
                <a16:creationId xmlns:a16="http://schemas.microsoft.com/office/drawing/2014/main" id="{8C454D7A-AFDF-636A-CCA2-AF668AE28C82}"/>
              </a:ext>
            </a:extLst>
          </p:cNvPr>
          <p:cNvSpPr txBox="1"/>
          <p:nvPr/>
        </p:nvSpPr>
        <p:spPr>
          <a:xfrm>
            <a:off x="1219200" y="15091283"/>
            <a:ext cx="34156618" cy="7940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7200" b="1" u="sng">
                <a:latin typeface="Arial"/>
                <a:cs typeface="Arial"/>
              </a:rPr>
              <a:t>Important to know </a:t>
            </a:r>
          </a:p>
          <a:p>
            <a:endParaRPr lang="en-GB" sz="6000"/>
          </a:p>
          <a:p>
            <a:pPr marL="857250" indent="-857250">
              <a:buFont typeface="Arial" panose="020B0604020202020204" pitchFamily="34" charset="0"/>
              <a:buChar char="•"/>
            </a:pPr>
            <a:r>
              <a:rPr lang="en-GB" sz="6000">
                <a:latin typeface="Arial"/>
                <a:cs typeface="Arial"/>
              </a:rPr>
              <a:t>Some roles are only open to British Citizens with a residency requirement (between 5-10 years).</a:t>
            </a:r>
          </a:p>
          <a:p>
            <a:pPr marL="857250" indent="-857250">
              <a:buFont typeface="Arial" panose="020B0604020202020204" pitchFamily="34" charset="0"/>
              <a:buChar char="•"/>
            </a:pPr>
            <a:r>
              <a:rPr lang="en-GB" sz="6000">
                <a:latin typeface="Arial"/>
                <a:cs typeface="Arial"/>
              </a:rPr>
              <a:t>You will have to undergo security vetting, which can mean a long application process.</a:t>
            </a:r>
          </a:p>
          <a:p>
            <a:pPr marL="857250" indent="-857250">
              <a:buFont typeface="Arial" panose="020B0604020202020204" pitchFamily="34" charset="0"/>
              <a:buChar char="•"/>
            </a:pPr>
            <a:r>
              <a:rPr lang="en-GB" sz="6000">
                <a:latin typeface="Arial"/>
                <a:cs typeface="Arial"/>
              </a:rPr>
              <a:t>Intelligence agencies operate a strict, no drugs policy.   </a:t>
            </a:r>
          </a:p>
          <a:p>
            <a:endParaRPr lang="en-GB" sz="6000">
              <a:latin typeface="Arial"/>
              <a:cs typeface="Arial"/>
            </a:endParaRPr>
          </a:p>
          <a:p>
            <a:endParaRPr lang="en-GB" sz="6000"/>
          </a:p>
          <a:p>
            <a:pPr marL="342900" indent="-342900">
              <a:buAutoNum type="arabicPeriod"/>
            </a:pPr>
            <a:endParaRPr lang="en-GB"/>
          </a:p>
          <a:p>
            <a:pPr marL="342900" indent="-342900">
              <a:buAutoNum type="arabicPeriod"/>
            </a:pPr>
            <a:endParaRPr lang="en-GB" sz="6000"/>
          </a:p>
        </p:txBody>
      </p:sp>
      <p:graphicFrame>
        <p:nvGraphicFramePr>
          <p:cNvPr id="6" name="Diagram 5">
            <a:extLst>
              <a:ext uri="{FF2B5EF4-FFF2-40B4-BE49-F238E27FC236}">
                <a16:creationId xmlns:a16="http://schemas.microsoft.com/office/drawing/2014/main" id="{64CF8451-D70C-B8F7-BCBB-5D7B25C6B280}"/>
              </a:ext>
            </a:extLst>
          </p:cNvPr>
          <p:cNvGraphicFramePr/>
          <p:nvPr>
            <p:extLst>
              <p:ext uri="{D42A27DB-BD31-4B8C-83A1-F6EECF244321}">
                <p14:modId xmlns:p14="http://schemas.microsoft.com/office/powerpoint/2010/main" val="480623992"/>
              </p:ext>
            </p:extLst>
          </p:nvPr>
        </p:nvGraphicFramePr>
        <p:xfrm>
          <a:off x="4412059" y="4719224"/>
          <a:ext cx="29191744" cy="108600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0" name="Group 9">
            <a:extLst>
              <a:ext uri="{FF2B5EF4-FFF2-40B4-BE49-F238E27FC236}">
                <a16:creationId xmlns:a16="http://schemas.microsoft.com/office/drawing/2014/main" id="{64B9489D-FA06-F8CD-9DBE-21C7FFA6B79C}"/>
              </a:ext>
            </a:extLst>
          </p:cNvPr>
          <p:cNvGrpSpPr/>
          <p:nvPr/>
        </p:nvGrpSpPr>
        <p:grpSpPr>
          <a:xfrm>
            <a:off x="1219200" y="20303171"/>
            <a:ext cx="35661600" cy="758938"/>
            <a:chOff x="1219200" y="20303171"/>
            <a:chExt cx="35661600" cy="758938"/>
          </a:xfrm>
        </p:grpSpPr>
        <p:cxnSp>
          <p:nvCxnSpPr>
            <p:cNvPr id="11" name="Straight Connector 10">
              <a:extLst>
                <a:ext uri="{FF2B5EF4-FFF2-40B4-BE49-F238E27FC236}">
                  <a16:creationId xmlns:a16="http://schemas.microsoft.com/office/drawing/2014/main" id="{C72E6FB3-D2EE-278A-0C3A-66A17CED104D}"/>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BAF494E-D19B-5CE0-0F73-5706D96FAE62}"/>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23709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64B4D3CE-1C4F-444C-A6E0-C64AE7000CD3}"/>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84F5473-B8CE-4020-8F0A-6884F2966C80}"/>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graphicEl>
                                              <a:dgm id="{7588A2EC-6DD9-4A0B-ADAC-053C4D1E7F5F}"/>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graphicEl>
                                              <a:dgm id="{3EABBE04-AD1B-4B72-8A05-D6447674863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1EE7AE66-3AEF-44B9-8041-1015F1D5503A}"/>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83F9939F-0092-43D4-B79C-8A69B1311FB4}"/>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uiExpand="1">
        <p:bldSub>
          <a:bldDgm bld="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6A5586D-5B8C-971E-B9DD-55EB59736906}"/>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9473108C-C6D8-119E-5A0B-926C966EFEA8}"/>
              </a:ext>
            </a:extLst>
          </p:cNvPr>
          <p:cNvSpPr txBox="1"/>
          <p:nvPr/>
        </p:nvSpPr>
        <p:spPr>
          <a:xfrm>
            <a:off x="24371072" y="7424397"/>
            <a:ext cx="11768117" cy="7278916"/>
          </a:xfrm>
          <a:prstGeom prst="rect">
            <a:avLst/>
          </a:prstGeom>
          <a:noFill/>
        </p:spPr>
        <p:txBody>
          <a:bodyPr wrap="square">
            <a:spAutoFit/>
          </a:bodyPr>
          <a:lstStyle/>
          <a:p>
            <a:r>
              <a:rPr lang="en-GB" sz="9600">
                <a:hlinkClick r:id="rId4"/>
              </a:rPr>
              <a:t>Graduates | MI5 - The Security Service</a:t>
            </a:r>
            <a:endParaRPr lang="en-GB" sz="9600"/>
          </a:p>
          <a:p>
            <a:endParaRPr lang="en-GB" sz="11500"/>
          </a:p>
          <a:p>
            <a:r>
              <a:rPr lang="en-GB" sz="8000">
                <a:hlinkClick r:id="rId5"/>
              </a:rPr>
              <a:t>Videos | MI5 - The Security Service</a:t>
            </a:r>
            <a:endParaRPr lang="en-GB" sz="8000"/>
          </a:p>
        </p:txBody>
      </p:sp>
      <p:pic>
        <p:nvPicPr>
          <p:cNvPr id="8" name="Picture 7">
            <a:extLst>
              <a:ext uri="{FF2B5EF4-FFF2-40B4-BE49-F238E27FC236}">
                <a16:creationId xmlns:a16="http://schemas.microsoft.com/office/drawing/2014/main" id="{2C3111E7-08C3-6549-D493-70CA93078F70}"/>
              </a:ext>
            </a:extLst>
          </p:cNvPr>
          <p:cNvPicPr>
            <a:picLocks noChangeAspect="1"/>
          </p:cNvPicPr>
          <p:nvPr/>
        </p:nvPicPr>
        <p:blipFill>
          <a:blip r:embed="rId6"/>
          <a:stretch>
            <a:fillRect/>
          </a:stretch>
        </p:blipFill>
        <p:spPr>
          <a:xfrm>
            <a:off x="1876674" y="4402618"/>
            <a:ext cx="20515385" cy="14450919"/>
          </a:xfrm>
          <a:prstGeom prst="rect">
            <a:avLst/>
          </a:prstGeom>
        </p:spPr>
      </p:pic>
      <p:grpSp>
        <p:nvGrpSpPr>
          <p:cNvPr id="16" name="Group 15">
            <a:extLst>
              <a:ext uri="{FF2B5EF4-FFF2-40B4-BE49-F238E27FC236}">
                <a16:creationId xmlns:a16="http://schemas.microsoft.com/office/drawing/2014/main" id="{9AC405D2-B9D7-97D6-E878-404AD5BD069E}"/>
              </a:ext>
            </a:extLst>
          </p:cNvPr>
          <p:cNvGrpSpPr/>
          <p:nvPr/>
        </p:nvGrpSpPr>
        <p:grpSpPr>
          <a:xfrm>
            <a:off x="1219200" y="20303171"/>
            <a:ext cx="35661600" cy="758938"/>
            <a:chOff x="1219200" y="20303171"/>
            <a:chExt cx="35661600" cy="758938"/>
          </a:xfrm>
        </p:grpSpPr>
        <p:cxnSp>
          <p:nvCxnSpPr>
            <p:cNvPr id="17" name="Straight Connector 16">
              <a:extLst>
                <a:ext uri="{FF2B5EF4-FFF2-40B4-BE49-F238E27FC236}">
                  <a16:creationId xmlns:a16="http://schemas.microsoft.com/office/drawing/2014/main" id="{26E36A4E-50FC-046F-9F40-2EBFBFAFFDD5}"/>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949336D-57C6-8F2A-C9A6-0F55E96C7DC5}"/>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744905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7EC5330-E217-B531-52D0-65B3D9D95E1A}"/>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00" y="3834000"/>
            <a:ext cx="33858145" cy="4632037"/>
          </a:xfrm>
          <a:prstGeom prst="rect">
            <a:avLst/>
          </a:prstGeom>
          <a:noFill/>
        </p:spPr>
        <p:txBody>
          <a:bodyPr wrap="square" lIns="91440" tIns="45720" rIns="91440" bIns="45720" anchor="t">
            <a:spAutoFit/>
          </a:bodyPr>
          <a:lstStyle/>
          <a:p>
            <a:r>
              <a:rPr lang="en-US" sz="13300" b="1"/>
              <a:t>Research careers</a:t>
            </a:r>
            <a:endParaRPr lang="en-US" sz="13300" b="1">
              <a:latin typeface="Arial"/>
              <a:cs typeface="Arial"/>
            </a:endParaRPr>
          </a:p>
          <a:p>
            <a:r>
              <a:rPr lang="en-US" sz="9600" i="1">
                <a:latin typeface="Arial"/>
                <a:cs typeface="Arial"/>
              </a:rPr>
              <a:t>Employer: The Alan Turing Institute</a:t>
            </a:r>
            <a:endParaRPr lang="en-US" sz="9600" i="1"/>
          </a:p>
          <a:p>
            <a:endParaRPr lang="en-US" sz="6600" b="1">
              <a:solidFill>
                <a:srgbClr val="000000"/>
              </a:solidFill>
            </a:endParaRPr>
          </a:p>
        </p:txBody>
      </p:sp>
      <p:pic>
        <p:nvPicPr>
          <p:cNvPr id="6" name="Picture 5" descr="A black text on a white background&#10;&#10;Description automatically generated with medium confidence">
            <a:extLst>
              <a:ext uri="{FF2B5EF4-FFF2-40B4-BE49-F238E27FC236}">
                <a16:creationId xmlns:a16="http://schemas.microsoft.com/office/drawing/2014/main" id="{1370F3C1-8B2F-5FC5-60B8-7F9D1D1A5B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7381" y="8966821"/>
            <a:ext cx="8812400" cy="3734779"/>
          </a:xfrm>
          <a:prstGeom prst="rect">
            <a:avLst/>
          </a:prstGeom>
        </p:spPr>
      </p:pic>
      <p:pic>
        <p:nvPicPr>
          <p:cNvPr id="8" name="Picture 7">
            <a:extLst>
              <a:ext uri="{FF2B5EF4-FFF2-40B4-BE49-F238E27FC236}">
                <a16:creationId xmlns:a16="http://schemas.microsoft.com/office/drawing/2014/main" id="{A00A86E5-96AF-FB66-DE17-6BB2CC8A6156}"/>
              </a:ext>
            </a:extLst>
          </p:cNvPr>
          <p:cNvPicPr>
            <a:picLocks noChangeAspect="1"/>
          </p:cNvPicPr>
          <p:nvPr/>
        </p:nvPicPr>
        <p:blipFill>
          <a:blip r:embed="rId5"/>
          <a:stretch>
            <a:fillRect/>
          </a:stretch>
        </p:blipFill>
        <p:spPr>
          <a:xfrm>
            <a:off x="2487381" y="14211971"/>
            <a:ext cx="8802480" cy="2873159"/>
          </a:xfrm>
          <a:prstGeom prst="rect">
            <a:avLst/>
          </a:prstGeom>
        </p:spPr>
      </p:pic>
      <p:graphicFrame>
        <p:nvGraphicFramePr>
          <p:cNvPr id="5" name="Diagram 4">
            <a:extLst>
              <a:ext uri="{FF2B5EF4-FFF2-40B4-BE49-F238E27FC236}">
                <a16:creationId xmlns:a16="http://schemas.microsoft.com/office/drawing/2014/main" id="{8FADAC77-BF68-610E-A08C-C47FA7FCA085}"/>
              </a:ext>
            </a:extLst>
          </p:cNvPr>
          <p:cNvGraphicFramePr/>
          <p:nvPr>
            <p:extLst>
              <p:ext uri="{D42A27DB-BD31-4B8C-83A1-F6EECF244321}">
                <p14:modId xmlns:p14="http://schemas.microsoft.com/office/powerpoint/2010/main" val="2928718252"/>
              </p:ext>
            </p:extLst>
          </p:nvPr>
        </p:nvGraphicFramePr>
        <p:xfrm>
          <a:off x="12564721" y="7616007"/>
          <a:ext cx="24193846" cy="111479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7" name="Group 16">
            <a:extLst>
              <a:ext uri="{FF2B5EF4-FFF2-40B4-BE49-F238E27FC236}">
                <a16:creationId xmlns:a16="http://schemas.microsoft.com/office/drawing/2014/main" id="{BD627211-72CB-D671-7B56-D2E9D1517EE5}"/>
              </a:ext>
            </a:extLst>
          </p:cNvPr>
          <p:cNvGrpSpPr/>
          <p:nvPr/>
        </p:nvGrpSpPr>
        <p:grpSpPr>
          <a:xfrm>
            <a:off x="1219200" y="20303171"/>
            <a:ext cx="35661600" cy="758938"/>
            <a:chOff x="1219200" y="20303171"/>
            <a:chExt cx="35661600" cy="758938"/>
          </a:xfrm>
        </p:grpSpPr>
        <p:cxnSp>
          <p:nvCxnSpPr>
            <p:cNvPr id="18" name="Straight Connector 17">
              <a:extLst>
                <a:ext uri="{FF2B5EF4-FFF2-40B4-BE49-F238E27FC236}">
                  <a16:creationId xmlns:a16="http://schemas.microsoft.com/office/drawing/2014/main" id="{16800D0D-F147-3A92-2EF7-6F36215F21C3}"/>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76487FE-B6F5-2E7E-E571-E8B07D2D0C27}"/>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04014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A1D42C94-F771-442C-A479-E69C62731FC9}"/>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2BC47549-F9C7-45C4-8B16-6411FC3B0D96}"/>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9492AF71-C07E-4F16-9DC7-3D481DBB7E3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7C31ED1A-2601-4AC6-835D-3571E31398E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7C0DF401-7553-4AB9-A194-3B4EDABE7FBC}"/>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2A9BF5E1-39A0-4783-BEB5-1F5B31A063B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8444F18-5730-7E80-74B5-AAD6016FC2AD}"/>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00" y="3834000"/>
            <a:ext cx="33858145" cy="4632037"/>
          </a:xfrm>
          <a:prstGeom prst="rect">
            <a:avLst/>
          </a:prstGeom>
          <a:noFill/>
        </p:spPr>
        <p:txBody>
          <a:bodyPr wrap="square" lIns="91440" tIns="45720" rIns="91440" bIns="45720" anchor="t">
            <a:spAutoFit/>
          </a:bodyPr>
          <a:lstStyle/>
          <a:p>
            <a:r>
              <a:rPr lang="en-US" sz="13300" b="1"/>
              <a:t>Public sector careers</a:t>
            </a:r>
            <a:endParaRPr lang="en-US" sz="13300" b="1">
              <a:latin typeface="Arial"/>
              <a:cs typeface="Arial"/>
            </a:endParaRPr>
          </a:p>
          <a:p>
            <a:r>
              <a:rPr lang="en-US" sz="9600" i="1">
                <a:latin typeface="Arial"/>
                <a:cs typeface="Arial"/>
              </a:rPr>
              <a:t>Employers: NHS and the Civil Service </a:t>
            </a:r>
            <a:endParaRPr lang="en-US" sz="9600" i="1"/>
          </a:p>
          <a:p>
            <a:endParaRPr lang="en-US" sz="6600" b="1">
              <a:solidFill>
                <a:srgbClr val="000000"/>
              </a:solidFill>
            </a:endParaRPr>
          </a:p>
        </p:txBody>
      </p:sp>
      <p:pic>
        <p:nvPicPr>
          <p:cNvPr id="8" name="Picture 7">
            <a:extLst>
              <a:ext uri="{FF2B5EF4-FFF2-40B4-BE49-F238E27FC236}">
                <a16:creationId xmlns:a16="http://schemas.microsoft.com/office/drawing/2014/main" id="{10E14B42-CD61-ABEC-9D8C-7A6B1033E9B0}"/>
              </a:ext>
            </a:extLst>
          </p:cNvPr>
          <p:cNvPicPr>
            <a:picLocks noChangeAspect="1"/>
          </p:cNvPicPr>
          <p:nvPr/>
        </p:nvPicPr>
        <p:blipFill>
          <a:blip r:embed="rId4"/>
          <a:stretch>
            <a:fillRect/>
          </a:stretch>
        </p:blipFill>
        <p:spPr>
          <a:xfrm>
            <a:off x="2490713" y="8962309"/>
            <a:ext cx="5000334" cy="2023572"/>
          </a:xfrm>
          <a:prstGeom prst="rect">
            <a:avLst/>
          </a:prstGeom>
        </p:spPr>
      </p:pic>
      <p:graphicFrame>
        <p:nvGraphicFramePr>
          <p:cNvPr id="6" name="Diagram 5">
            <a:extLst>
              <a:ext uri="{FF2B5EF4-FFF2-40B4-BE49-F238E27FC236}">
                <a16:creationId xmlns:a16="http://schemas.microsoft.com/office/drawing/2014/main" id="{EE5F4931-5346-1373-9DB0-ED131E2DBC20}"/>
              </a:ext>
            </a:extLst>
          </p:cNvPr>
          <p:cNvGraphicFramePr/>
          <p:nvPr>
            <p:extLst>
              <p:ext uri="{D42A27DB-BD31-4B8C-83A1-F6EECF244321}">
                <p14:modId xmlns:p14="http://schemas.microsoft.com/office/powerpoint/2010/main" val="3910171869"/>
              </p:ext>
            </p:extLst>
          </p:nvPr>
        </p:nvGraphicFramePr>
        <p:xfrm>
          <a:off x="9843714" y="8597681"/>
          <a:ext cx="26072650" cy="95738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 name="Picture 4">
            <a:extLst>
              <a:ext uri="{FF2B5EF4-FFF2-40B4-BE49-F238E27FC236}">
                <a16:creationId xmlns:a16="http://schemas.microsoft.com/office/drawing/2014/main" id="{B464A2DD-52AB-9D81-AD91-C7184A1CF859}"/>
              </a:ext>
            </a:extLst>
          </p:cNvPr>
          <p:cNvPicPr>
            <a:picLocks noChangeAspect="1"/>
          </p:cNvPicPr>
          <p:nvPr/>
        </p:nvPicPr>
        <p:blipFill>
          <a:blip r:embed="rId10"/>
          <a:stretch>
            <a:fillRect/>
          </a:stretch>
        </p:blipFill>
        <p:spPr>
          <a:xfrm>
            <a:off x="2195056" y="11949178"/>
            <a:ext cx="7648658" cy="2521842"/>
          </a:xfrm>
          <a:prstGeom prst="rect">
            <a:avLst/>
          </a:prstGeom>
        </p:spPr>
      </p:pic>
      <p:pic>
        <p:nvPicPr>
          <p:cNvPr id="11" name="Picture 10">
            <a:extLst>
              <a:ext uri="{FF2B5EF4-FFF2-40B4-BE49-F238E27FC236}">
                <a16:creationId xmlns:a16="http://schemas.microsoft.com/office/drawing/2014/main" id="{B3C2D2CA-A867-5C02-3C55-373DED8DF2A8}"/>
              </a:ext>
            </a:extLst>
          </p:cNvPr>
          <p:cNvPicPr>
            <a:picLocks noChangeAspect="1"/>
          </p:cNvPicPr>
          <p:nvPr/>
        </p:nvPicPr>
        <p:blipFill>
          <a:blip r:embed="rId11"/>
          <a:stretch>
            <a:fillRect/>
          </a:stretch>
        </p:blipFill>
        <p:spPr>
          <a:xfrm>
            <a:off x="2490713" y="15394644"/>
            <a:ext cx="7320346" cy="2521842"/>
          </a:xfrm>
          <a:prstGeom prst="rect">
            <a:avLst/>
          </a:prstGeom>
        </p:spPr>
      </p:pic>
      <p:grpSp>
        <p:nvGrpSpPr>
          <p:cNvPr id="17" name="Group 16">
            <a:extLst>
              <a:ext uri="{FF2B5EF4-FFF2-40B4-BE49-F238E27FC236}">
                <a16:creationId xmlns:a16="http://schemas.microsoft.com/office/drawing/2014/main" id="{D6296D46-BE17-74C8-2DC5-44D53EAA2ED4}"/>
              </a:ext>
            </a:extLst>
          </p:cNvPr>
          <p:cNvGrpSpPr/>
          <p:nvPr/>
        </p:nvGrpSpPr>
        <p:grpSpPr>
          <a:xfrm>
            <a:off x="1219200" y="20303171"/>
            <a:ext cx="35661600" cy="758938"/>
            <a:chOff x="1219200" y="20303171"/>
            <a:chExt cx="35661600" cy="758938"/>
          </a:xfrm>
        </p:grpSpPr>
        <p:cxnSp>
          <p:nvCxnSpPr>
            <p:cNvPr id="18" name="Straight Connector 17">
              <a:extLst>
                <a:ext uri="{FF2B5EF4-FFF2-40B4-BE49-F238E27FC236}">
                  <a16:creationId xmlns:a16="http://schemas.microsoft.com/office/drawing/2014/main" id="{5938242B-93BA-4259-DBD7-9FFBEA087DBB}"/>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1376673-0BA7-C839-5200-C774C86A5BBA}"/>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94532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1999E843-2A96-4724-B86E-1ED0C25BB2B8}"/>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DAFE76D0-AFA2-42DB-9B19-0EF426EF864B}"/>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graphicEl>
                                              <a:dgm id="{E9BFACA6-FB88-41F3-8E74-380DAF20BBAE}"/>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graphicEl>
                                              <a:dgm id="{789CECEA-6F72-44E0-B278-7FE9EDFF6548}"/>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graphicEl>
                                              <a:dgm id="{0AC262F9-CC4D-46F3-9D48-F0DE6C77696A}"/>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304AEEAF-AA6A-4CBF-A315-5F0D8D512F8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1EE3A8-03C0-0911-DF40-16B36CEAA73C}"/>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C7A3821-465F-4A90-AEB1-587636604B24}"/>
              </a:ext>
            </a:extLst>
          </p:cNvPr>
          <p:cNvSpPr txBox="1"/>
          <p:nvPr/>
        </p:nvSpPr>
        <p:spPr>
          <a:xfrm>
            <a:off x="961230" y="3834000"/>
            <a:ext cx="33858145" cy="1569660"/>
          </a:xfrm>
          <a:prstGeom prst="rect">
            <a:avLst/>
          </a:prstGeom>
          <a:noFill/>
        </p:spPr>
        <p:txBody>
          <a:bodyPr wrap="square" lIns="91440" tIns="45720" rIns="91440" bIns="45720" anchor="t">
            <a:spAutoFit/>
          </a:bodyPr>
          <a:lstStyle/>
          <a:p>
            <a:r>
              <a:rPr lang="en-US" sz="9600" b="1">
                <a:latin typeface="Arial"/>
                <a:cs typeface="Arial"/>
              </a:rPr>
              <a:t>Routes into academia and public sector Data Science</a:t>
            </a:r>
            <a:endParaRPr lang="en-US"/>
          </a:p>
        </p:txBody>
      </p:sp>
      <p:graphicFrame>
        <p:nvGraphicFramePr>
          <p:cNvPr id="9" name="Diagram 8">
            <a:extLst>
              <a:ext uri="{FF2B5EF4-FFF2-40B4-BE49-F238E27FC236}">
                <a16:creationId xmlns:a16="http://schemas.microsoft.com/office/drawing/2014/main" id="{7F6C55A3-702F-350E-0646-89C63053AE08}"/>
              </a:ext>
            </a:extLst>
          </p:cNvPr>
          <p:cNvGraphicFramePr/>
          <p:nvPr>
            <p:extLst>
              <p:ext uri="{D42A27DB-BD31-4B8C-83A1-F6EECF244321}">
                <p14:modId xmlns:p14="http://schemas.microsoft.com/office/powerpoint/2010/main" val="3708538781"/>
              </p:ext>
            </p:extLst>
          </p:nvPr>
        </p:nvGraphicFramePr>
        <p:xfrm>
          <a:off x="873388" y="5139342"/>
          <a:ext cx="36269085" cy="140340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7" name="Group 16">
            <a:extLst>
              <a:ext uri="{FF2B5EF4-FFF2-40B4-BE49-F238E27FC236}">
                <a16:creationId xmlns:a16="http://schemas.microsoft.com/office/drawing/2014/main" id="{6DC89EF9-0C1E-D1BC-5C2A-C3170FBB0508}"/>
              </a:ext>
            </a:extLst>
          </p:cNvPr>
          <p:cNvGrpSpPr/>
          <p:nvPr/>
        </p:nvGrpSpPr>
        <p:grpSpPr>
          <a:xfrm>
            <a:off x="1219200" y="20303171"/>
            <a:ext cx="35661600" cy="758938"/>
            <a:chOff x="1219200" y="20303171"/>
            <a:chExt cx="35661600" cy="758938"/>
          </a:xfrm>
        </p:grpSpPr>
        <p:cxnSp>
          <p:nvCxnSpPr>
            <p:cNvPr id="18" name="Straight Connector 17">
              <a:extLst>
                <a:ext uri="{FF2B5EF4-FFF2-40B4-BE49-F238E27FC236}">
                  <a16:creationId xmlns:a16="http://schemas.microsoft.com/office/drawing/2014/main" id="{DE6EE0E6-BED1-2E3E-D5DD-09732C7B0E2A}"/>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2016C26-F200-DA20-FADC-62918266C662}"/>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244594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graphicEl>
                                              <a:dgm id="{45B34B96-DC92-40EF-BB4D-D5FFC540715D}"/>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graphicEl>
                                              <a:dgm id="{D07647D4-002B-47B5-AA8E-D187AB57178E}"/>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graphicEl>
                                              <a:dgm id="{E69C8629-5FA6-4281-8071-0869449BDADE}"/>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graphicEl>
                                              <a:dgm id="{A8114F2B-CF9B-4ECF-B7BB-7F3781C92CB9}"/>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graphicEl>
                                              <a:dgm id="{AD324287-A892-4789-826A-BFEC4CDF1FFF}"/>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graphicEl>
                                              <a:dgm id="{55FEC92E-0CEC-4FEE-A962-FB6A3C4E4EDE}"/>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graphicEl>
                                              <a:dgm id="{6ED2B6FA-A687-464E-8540-74CFF160F561}"/>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graphicEl>
                                              <a:dgm id="{D60B97A1-71BB-4720-8F4A-0EDBFB19CDF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AF46F-BD72-D3AF-041A-35C89F9B01D8}"/>
            </a:ext>
          </a:extLst>
        </p:cNvPr>
        <p:cNvGrpSpPr/>
        <p:nvPr/>
      </p:nvGrpSpPr>
      <p:grpSpPr>
        <a:xfrm>
          <a:off x="0" y="0"/>
          <a:ext cx="0" cy="0"/>
          <a:chOff x="0" y="0"/>
          <a:chExt cx="0" cy="0"/>
        </a:xfrm>
      </p:grpSpPr>
      <p:pic>
        <p:nvPicPr>
          <p:cNvPr id="3" name="Picture 2" descr="Shape&#10;&#10;Description automatically generated with low confidence">
            <a:extLst>
              <a:ext uri="{FF2B5EF4-FFF2-40B4-BE49-F238E27FC236}">
                <a16:creationId xmlns:a16="http://schemas.microsoft.com/office/drawing/2014/main" id="{E55A5062-50D9-FA9E-B3AB-D3EAC4154F8F}"/>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76FD6392-7C27-9180-3C3F-D1E129EEC2DE}"/>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97859D3-3121-2D18-60FE-AA72CDC5925B}"/>
              </a:ext>
            </a:extLst>
          </p:cNvPr>
          <p:cNvSpPr txBox="1"/>
          <p:nvPr/>
        </p:nvSpPr>
        <p:spPr>
          <a:xfrm>
            <a:off x="961200" y="3834000"/>
            <a:ext cx="11950128" cy="1569660"/>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9600" b="1" i="0" u="none" strike="noStrike" kern="1200" cap="none" spc="0" normalizeH="0" baseline="0" noProof="0">
                <a:ln>
                  <a:noFill/>
                </a:ln>
                <a:solidFill>
                  <a:prstClr val="black"/>
                </a:solidFill>
                <a:effectLst/>
                <a:uLnTx/>
                <a:uFillTx/>
                <a:latin typeface="Arial"/>
                <a:ea typeface="+mn-ea"/>
                <a:cs typeface="Arial"/>
              </a:rPr>
              <a:t>Job applications</a:t>
            </a:r>
          </a:p>
        </p:txBody>
      </p:sp>
      <p:sp>
        <p:nvSpPr>
          <p:cNvPr id="5" name="TextBox 4">
            <a:extLst>
              <a:ext uri="{FF2B5EF4-FFF2-40B4-BE49-F238E27FC236}">
                <a16:creationId xmlns:a16="http://schemas.microsoft.com/office/drawing/2014/main" id="{BCD11620-6139-0EF0-9944-DF9558888266}"/>
              </a:ext>
            </a:extLst>
          </p:cNvPr>
          <p:cNvSpPr txBox="1"/>
          <p:nvPr/>
        </p:nvSpPr>
        <p:spPr>
          <a:xfrm>
            <a:off x="2600208" y="5447145"/>
            <a:ext cx="33623614" cy="10292897"/>
          </a:xfrm>
          <a:prstGeom prst="rect">
            <a:avLst/>
          </a:prstGeom>
          <a:noFill/>
        </p:spPr>
        <p:txBody>
          <a:bodyPr wrap="square" lIns="0" tIns="0" rIns="0" bIns="0" rtlCol="0">
            <a:noAutofit/>
          </a:bodyPr>
          <a:lstStyle/>
          <a:p>
            <a:pPr marL="1143000" indent="-1143000">
              <a:lnSpc>
                <a:spcPct val="200000"/>
              </a:lnSpc>
              <a:buFont typeface="System Font Regular"/>
              <a:buChar char="-"/>
            </a:pPr>
            <a:r>
              <a:rPr lang="en-GB" sz="6600">
                <a:latin typeface="Arial"/>
                <a:cs typeface="Arial"/>
              </a:rPr>
              <a:t>Write a good CV / cover letter</a:t>
            </a:r>
          </a:p>
          <a:p>
            <a:pPr marL="1143000" indent="-1143000">
              <a:lnSpc>
                <a:spcPct val="200000"/>
              </a:lnSpc>
              <a:buFont typeface="System Font Regular"/>
              <a:buChar char="-"/>
            </a:pPr>
            <a:r>
              <a:rPr lang="en-GB" sz="6600">
                <a:latin typeface="Arial"/>
                <a:cs typeface="Arial"/>
              </a:rPr>
              <a:t>Create a LinkedIn profile</a:t>
            </a:r>
          </a:p>
          <a:p>
            <a:pPr marL="1143000" indent="-1143000">
              <a:lnSpc>
                <a:spcPct val="200000"/>
              </a:lnSpc>
              <a:buFont typeface="System Font Regular"/>
              <a:buChar char="-"/>
            </a:pPr>
            <a:r>
              <a:rPr lang="en-GB" sz="6600">
                <a:latin typeface="Arial"/>
                <a:cs typeface="Arial"/>
              </a:rPr>
              <a:t>Look at latest developments in the domain or in AI models</a:t>
            </a:r>
          </a:p>
          <a:p>
            <a:pPr marL="1143000" indent="-1143000">
              <a:lnSpc>
                <a:spcPct val="200000"/>
              </a:lnSpc>
              <a:buFont typeface="System Font Regular"/>
              <a:buChar char="-"/>
            </a:pPr>
            <a:r>
              <a:rPr lang="en-GB" sz="6600">
                <a:latin typeface="Arial"/>
                <a:cs typeface="Arial"/>
              </a:rPr>
              <a:t>Have some examples of your code / analysis skills on GitHub or as a portfolio</a:t>
            </a:r>
          </a:p>
          <a:p>
            <a:pPr marL="1143000" marR="0" indent="-1143000" defTabSz="914400" latinLnBrk="0">
              <a:lnSpc>
                <a:spcPct val="200000"/>
              </a:lnSpc>
              <a:buClrTx/>
              <a:buSzTx/>
              <a:buFont typeface="System Font Regular"/>
              <a:buChar char="-"/>
              <a:tabLst/>
            </a:pPr>
            <a:r>
              <a:rPr lang="en-GB" sz="6600">
                <a:latin typeface="Arial"/>
                <a:cs typeface="Arial"/>
              </a:rPr>
              <a:t>Research what the interview will be like (e.g. will you need to do a coding exercise) and consider whether you can prep example answers in advance</a:t>
            </a:r>
          </a:p>
          <a:p>
            <a:pPr marR="0" defTabSz="914400" latinLnBrk="0">
              <a:lnSpc>
                <a:spcPct val="200000"/>
              </a:lnSpc>
              <a:buClrTx/>
              <a:buSzTx/>
              <a:tabLst/>
            </a:pPr>
            <a:r>
              <a:rPr lang="en-GB" sz="6600" i="1">
                <a:latin typeface="Arial"/>
                <a:cs typeface="Arial"/>
              </a:rPr>
              <a:t>More information at </a:t>
            </a:r>
            <a:r>
              <a:rPr lang="en-GB" sz="6600" i="1">
                <a:latin typeface="Arial"/>
                <a:cs typeface="Arial"/>
                <a:hlinkClick r:id="rId4"/>
              </a:rPr>
              <a:t>https://nationalcareers.service.gov.uk/job-profiles/data-scientist</a:t>
            </a:r>
            <a:r>
              <a:rPr lang="en-GB" sz="6600">
                <a:latin typeface="Arial"/>
                <a:cs typeface="Arial"/>
              </a:rPr>
              <a:t> </a:t>
            </a:r>
          </a:p>
        </p:txBody>
      </p:sp>
      <p:pic>
        <p:nvPicPr>
          <p:cNvPr id="9" name="Graphic 8">
            <a:extLst>
              <a:ext uri="{FF2B5EF4-FFF2-40B4-BE49-F238E27FC236}">
                <a16:creationId xmlns:a16="http://schemas.microsoft.com/office/drawing/2014/main" id="{EE47AB62-9024-01DC-07FC-828B5AAA25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218476" y="4462798"/>
            <a:ext cx="9022081" cy="2198107"/>
          </a:xfrm>
          <a:prstGeom prst="rect">
            <a:avLst/>
          </a:prstGeom>
        </p:spPr>
      </p:pic>
      <p:pic>
        <p:nvPicPr>
          <p:cNvPr id="11" name="Picture 10" descr="A blue and black logo&#10;&#10;AI-generated content may be incorrect.">
            <a:extLst>
              <a:ext uri="{FF2B5EF4-FFF2-40B4-BE49-F238E27FC236}">
                <a16:creationId xmlns:a16="http://schemas.microsoft.com/office/drawing/2014/main" id="{DA24F86B-ABA9-6581-43EA-9A6A242E7E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854969" y="7735751"/>
            <a:ext cx="8072750" cy="1964877"/>
          </a:xfrm>
          <a:prstGeom prst="rect">
            <a:avLst/>
          </a:prstGeom>
        </p:spPr>
      </p:pic>
      <p:grpSp>
        <p:nvGrpSpPr>
          <p:cNvPr id="18" name="Group 17">
            <a:extLst>
              <a:ext uri="{FF2B5EF4-FFF2-40B4-BE49-F238E27FC236}">
                <a16:creationId xmlns:a16="http://schemas.microsoft.com/office/drawing/2014/main" id="{781A9158-7BEE-2EA9-E3F7-72ABE2DD3B79}"/>
              </a:ext>
            </a:extLst>
          </p:cNvPr>
          <p:cNvGrpSpPr/>
          <p:nvPr/>
        </p:nvGrpSpPr>
        <p:grpSpPr>
          <a:xfrm>
            <a:off x="1219200" y="20303171"/>
            <a:ext cx="35661600" cy="758938"/>
            <a:chOff x="1219200" y="20303171"/>
            <a:chExt cx="35661600" cy="758938"/>
          </a:xfrm>
        </p:grpSpPr>
        <p:cxnSp>
          <p:nvCxnSpPr>
            <p:cNvPr id="19" name="Straight Connector 18">
              <a:extLst>
                <a:ext uri="{FF2B5EF4-FFF2-40B4-BE49-F238E27FC236}">
                  <a16:creationId xmlns:a16="http://schemas.microsoft.com/office/drawing/2014/main" id="{75ACDADA-C67E-7B27-C7D6-591AC84337DA}"/>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E57ABA4-AB78-3C6C-D172-ECDDFA12FD9F}"/>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09718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F138DA0-8706-E37C-7307-FAA4C57CFB9C}"/>
              </a:ext>
            </a:extLst>
          </p:cNvPr>
          <p:cNvGrpSpPr/>
          <p:nvPr/>
        </p:nvGrpSpPr>
        <p:grpSpPr>
          <a:xfrm>
            <a:off x="0" y="0"/>
            <a:ext cx="38015863" cy="3729671"/>
            <a:chOff x="0" y="0"/>
            <a:chExt cx="38015863" cy="3729671"/>
          </a:xfrm>
        </p:grpSpPr>
        <p:pic>
          <p:nvPicPr>
            <p:cNvPr id="3" name="Picture 2" descr="Shape&#10;&#10;Description automatically generated with low confidence">
              <a:extLst>
                <a:ext uri="{FF2B5EF4-FFF2-40B4-BE49-F238E27FC236}">
                  <a16:creationId xmlns:a16="http://schemas.microsoft.com/office/drawing/2014/main" id="{203022DC-8A34-4241-AC8C-B6CB90EA7368}"/>
                </a:ext>
              </a:extLst>
            </p:cNvPr>
            <p:cNvPicPr>
              <a:picLocks noChangeAspect="1"/>
            </p:cNvPicPr>
            <p:nvPr/>
          </p:nvPicPr>
          <p:blipFill rotWithShape="1">
            <a:blip r:embed="rId4">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D4843C4E-09F5-406F-8712-D70D59A969E3}"/>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4909B88C-0432-4137-EF6E-FB1B82A088E3}"/>
              </a:ext>
            </a:extLst>
          </p:cNvPr>
          <p:cNvSpPr txBox="1"/>
          <p:nvPr/>
        </p:nvSpPr>
        <p:spPr>
          <a:xfrm>
            <a:off x="868176" y="3834000"/>
            <a:ext cx="35355646" cy="452431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9600" b="1">
                <a:solidFill>
                  <a:prstClr val="black"/>
                </a:solidFill>
                <a:latin typeface="Arial"/>
                <a:cs typeface="Arial"/>
              </a:rPr>
              <a:t>Why is it important to have diversity across data science and AI roles</a:t>
            </a:r>
            <a:r>
              <a:rPr kumimoji="0" lang="en-US" sz="9600" b="1" i="0" u="none" strike="noStrike" kern="1200" cap="none" spc="0" normalizeH="0" baseline="0" noProof="0">
                <a:ln>
                  <a:noFill/>
                </a:ln>
                <a:solidFill>
                  <a:prstClr val="black"/>
                </a:solidFill>
                <a:effectLst/>
                <a:uLnTx/>
                <a:uFillTx/>
                <a:latin typeface="Arial"/>
                <a:ea typeface="+mn-ea"/>
                <a:cs typeface="Arial"/>
              </a:rPr>
              <a: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9600" b="1" i="0" u="none" strike="noStrike" kern="1200" cap="none" spc="0" normalizeH="0" baseline="0" noProof="0">
              <a:ln>
                <a:noFill/>
              </a:ln>
              <a:solidFill>
                <a:prstClr val="black"/>
              </a:solidFill>
              <a:effectLst/>
              <a:uLnTx/>
              <a:uFillTx/>
              <a:latin typeface="Arial"/>
              <a:ea typeface="+mn-ea"/>
              <a:cs typeface="Arial"/>
            </a:endParaRPr>
          </a:p>
        </p:txBody>
      </p:sp>
      <p:grpSp>
        <p:nvGrpSpPr>
          <p:cNvPr id="15" name="Group 14">
            <a:extLst>
              <a:ext uri="{FF2B5EF4-FFF2-40B4-BE49-F238E27FC236}">
                <a16:creationId xmlns:a16="http://schemas.microsoft.com/office/drawing/2014/main" id="{92439632-4472-04AC-7CC1-6B153D620E9A}"/>
              </a:ext>
            </a:extLst>
          </p:cNvPr>
          <p:cNvGrpSpPr/>
          <p:nvPr/>
        </p:nvGrpSpPr>
        <p:grpSpPr>
          <a:xfrm>
            <a:off x="1219200" y="20303171"/>
            <a:ext cx="35661600" cy="758938"/>
            <a:chOff x="1219200" y="20303171"/>
            <a:chExt cx="35661600" cy="758938"/>
          </a:xfrm>
        </p:grpSpPr>
        <p:cxnSp>
          <p:nvCxnSpPr>
            <p:cNvPr id="16" name="Straight Connector 15">
              <a:extLst>
                <a:ext uri="{FF2B5EF4-FFF2-40B4-BE49-F238E27FC236}">
                  <a16:creationId xmlns:a16="http://schemas.microsoft.com/office/drawing/2014/main" id="{F4D54DC9-5038-74AC-8D77-D1D861282629}"/>
                </a:ext>
              </a:extLst>
            </p:cNvPr>
            <p:cNvCxnSpPr>
              <a:cxnSpLocks/>
            </p:cNvCxnSpPr>
            <p:nvPr/>
          </p:nvCxnSpPr>
          <p:spPr>
            <a:xfrm>
              <a:off x="1219200" y="20303171"/>
              <a:ext cx="3566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F9A4BBE-DB70-8F1E-96D3-B952DD9F7BCB}"/>
                </a:ext>
              </a:extLst>
            </p:cNvPr>
            <p:cNvSpPr txBox="1"/>
            <p:nvPr/>
          </p:nvSpPr>
          <p:spPr>
            <a:xfrm>
              <a:off x="1219200" y="20457776"/>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				The Alan Turing Institute</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grpSp>
      <p:pic>
        <p:nvPicPr>
          <p:cNvPr id="4" name="Picture 3" descr="A blue rectangle with black text&#10;&#10;AI-generated content may be incorrect.">
            <a:extLst>
              <a:ext uri="{FF2B5EF4-FFF2-40B4-BE49-F238E27FC236}">
                <a16:creationId xmlns:a16="http://schemas.microsoft.com/office/drawing/2014/main" id="{A85BD6F0-262B-38A5-C9B5-D1866E3D72B9}"/>
              </a:ext>
            </a:extLst>
          </p:cNvPr>
          <p:cNvPicPr>
            <a:picLocks noChangeAspect="1"/>
          </p:cNvPicPr>
          <p:nvPr/>
        </p:nvPicPr>
        <p:blipFill>
          <a:blip r:embed="rId5"/>
          <a:stretch>
            <a:fillRect/>
          </a:stretch>
        </p:blipFill>
        <p:spPr>
          <a:xfrm>
            <a:off x="1561600" y="6576454"/>
            <a:ext cx="35310683" cy="11413766"/>
          </a:xfrm>
          <a:prstGeom prst="rect">
            <a:avLst/>
          </a:prstGeom>
        </p:spPr>
      </p:pic>
    </p:spTree>
    <p:extLst>
      <p:ext uri="{BB962C8B-B14F-4D97-AF65-F5344CB8AC3E}">
        <p14:creationId xmlns:p14="http://schemas.microsoft.com/office/powerpoint/2010/main" val="4238566328"/>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9B602-9151-4C84-B9D1-63EEF06C5EA7}"/>
              </a:ext>
            </a:extLst>
          </p:cNvPr>
          <p:cNvSpPr>
            <a:spLocks noGrp="1"/>
          </p:cNvSpPr>
          <p:nvPr>
            <p:ph type="title"/>
          </p:nvPr>
        </p:nvSpPr>
        <p:spPr>
          <a:xfrm>
            <a:off x="1795192" y="9083611"/>
            <a:ext cx="18099775" cy="2376008"/>
          </a:xfrm>
        </p:spPr>
        <p:txBody>
          <a:bodyPr/>
          <a:lstStyle/>
          <a:p>
            <a:r>
              <a:rPr lang="en-US" sz="13300"/>
              <a:t>Researcher Spotlight</a:t>
            </a:r>
            <a:endParaRPr lang="en-US"/>
          </a:p>
        </p:txBody>
      </p:sp>
      <p:sp>
        <p:nvSpPr>
          <p:cNvPr id="7" name="Text Placeholder 6">
            <a:extLst>
              <a:ext uri="{FF2B5EF4-FFF2-40B4-BE49-F238E27FC236}">
                <a16:creationId xmlns:a16="http://schemas.microsoft.com/office/drawing/2014/main" id="{5F710615-86BB-4D3E-AE19-B6277662E94E}"/>
              </a:ext>
            </a:extLst>
          </p:cNvPr>
          <p:cNvSpPr>
            <a:spLocks noGrp="1"/>
          </p:cNvSpPr>
          <p:nvPr>
            <p:ph type="body" sz="quarter" idx="12"/>
          </p:nvPr>
        </p:nvSpPr>
        <p:spPr>
          <a:xfrm>
            <a:off x="1792281" y="15490672"/>
            <a:ext cx="31444171" cy="1887567"/>
          </a:xfrm>
          <a:ln>
            <a:noFill/>
          </a:ln>
        </p:spPr>
        <p:txBody>
          <a:bodyPr/>
          <a:lstStyle/>
          <a:p>
            <a:r>
              <a:rPr lang="en-GB" sz="11600" b="1" dirty="0">
                <a:cs typeface="Arial"/>
              </a:rPr>
              <a:t>Dr Azadeh Mohammadi</a:t>
            </a:r>
            <a:br>
              <a:rPr lang="en-GB" sz="11600" dirty="0">
                <a:cs typeface="Arial"/>
              </a:rPr>
            </a:br>
            <a:r>
              <a:rPr lang="en-GB" sz="11600" b="1" dirty="0">
                <a:cs typeface="Arial"/>
              </a:rPr>
              <a:t>[Salford University</a:t>
            </a:r>
            <a:r>
              <a:rPr lang="en-GB" sz="11600" dirty="0">
                <a:cs typeface="Arial"/>
              </a:rPr>
              <a:t>]</a:t>
            </a:r>
            <a:endParaRPr lang="en-US" dirty="0"/>
          </a:p>
        </p:txBody>
      </p:sp>
      <p:pic>
        <p:nvPicPr>
          <p:cNvPr id="11" name="Picture Placeholder 2" descr="Black and white molecular model">
            <a:extLst>
              <a:ext uri="{FF2B5EF4-FFF2-40B4-BE49-F238E27FC236}">
                <a16:creationId xmlns:a16="http://schemas.microsoft.com/office/drawing/2014/main" id="{509F6D76-200C-41AC-BD82-C70FF431BE26}"/>
              </a:ext>
            </a:extLst>
          </p:cNvPr>
          <p:cNvPicPr>
            <a:picLocks noChangeAspect="1"/>
          </p:cNvPicPr>
          <p:nvPr/>
        </p:nvPicPr>
        <p:blipFill>
          <a:blip r:embed="rId3">
            <a:extLst>
              <a:ext uri="{28A0092B-C50C-407E-A947-70E740481C1C}">
                <a14:useLocalDpi xmlns:a14="http://schemas.microsoft.com/office/drawing/2010/main" val="0"/>
              </a:ext>
            </a:extLst>
          </a:blip>
          <a:srcRect l="28512" r="28512"/>
          <a:stretch>
            <a:fillRect/>
          </a:stretch>
        </p:blipFill>
        <p:spPr>
          <a:xfrm>
            <a:off x="23490869" y="-1"/>
            <a:ext cx="14524994" cy="20431815"/>
          </a:xfrm>
          <a:custGeom>
            <a:avLst/>
            <a:gdLst>
              <a:gd name="connsiteX0" fmla="*/ 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0 w 3816350"/>
              <a:gd name="connsiteY4" fmla="*/ 0 h 3240087"/>
              <a:gd name="connsiteX0" fmla="*/ 68580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685800 w 3816350"/>
              <a:gd name="connsiteY4" fmla="*/ 0 h 3240087"/>
              <a:gd name="connsiteX0" fmla="*/ 1892300 w 3816350"/>
              <a:gd name="connsiteY0" fmla="*/ 0 h 3240087"/>
              <a:gd name="connsiteX1" fmla="*/ 3816350 w 3816350"/>
              <a:gd name="connsiteY1" fmla="*/ 0 h 3240087"/>
              <a:gd name="connsiteX2" fmla="*/ 3816350 w 3816350"/>
              <a:gd name="connsiteY2" fmla="*/ 3240087 h 3240087"/>
              <a:gd name="connsiteX3" fmla="*/ 0 w 3816350"/>
              <a:gd name="connsiteY3" fmla="*/ 3240087 h 3240087"/>
              <a:gd name="connsiteX4" fmla="*/ 1892300 w 3816350"/>
              <a:gd name="connsiteY4" fmla="*/ 0 h 3240087"/>
              <a:gd name="connsiteX0" fmla="*/ 1206500 w 3130550"/>
              <a:gd name="connsiteY0" fmla="*/ 0 h 3240087"/>
              <a:gd name="connsiteX1" fmla="*/ 3130550 w 3130550"/>
              <a:gd name="connsiteY1" fmla="*/ 0 h 3240087"/>
              <a:gd name="connsiteX2" fmla="*/ 3130550 w 3130550"/>
              <a:gd name="connsiteY2" fmla="*/ 3240087 h 3240087"/>
              <a:gd name="connsiteX3" fmla="*/ 0 w 3130550"/>
              <a:gd name="connsiteY3" fmla="*/ 1754187 h 3240087"/>
              <a:gd name="connsiteX4" fmla="*/ 1206500 w 3130550"/>
              <a:gd name="connsiteY4" fmla="*/ 0 h 3240087"/>
              <a:gd name="connsiteX0" fmla="*/ 1822450 w 3746500"/>
              <a:gd name="connsiteY0" fmla="*/ 0 h 3240087"/>
              <a:gd name="connsiteX1" fmla="*/ 3746500 w 3746500"/>
              <a:gd name="connsiteY1" fmla="*/ 0 h 3240087"/>
              <a:gd name="connsiteX2" fmla="*/ 3746500 w 3746500"/>
              <a:gd name="connsiteY2" fmla="*/ 3240087 h 3240087"/>
              <a:gd name="connsiteX3" fmla="*/ 0 w 3746500"/>
              <a:gd name="connsiteY3" fmla="*/ 2154237 h 3240087"/>
              <a:gd name="connsiteX4" fmla="*/ 1822450 w 3746500"/>
              <a:gd name="connsiteY4" fmla="*/ 0 h 3240087"/>
              <a:gd name="connsiteX0" fmla="*/ 1822450 w 3752850"/>
              <a:gd name="connsiteY0" fmla="*/ 0 h 4097337"/>
              <a:gd name="connsiteX1" fmla="*/ 3746500 w 3752850"/>
              <a:gd name="connsiteY1" fmla="*/ 0 h 4097337"/>
              <a:gd name="connsiteX2" fmla="*/ 3752850 w 3752850"/>
              <a:gd name="connsiteY2" fmla="*/ 4097337 h 4097337"/>
              <a:gd name="connsiteX3" fmla="*/ 0 w 3752850"/>
              <a:gd name="connsiteY3" fmla="*/ 2154237 h 4097337"/>
              <a:gd name="connsiteX4" fmla="*/ 1822450 w 3752850"/>
              <a:gd name="connsiteY4" fmla="*/ 0 h 4097337"/>
              <a:gd name="connsiteX0" fmla="*/ 1682750 w 3613150"/>
              <a:gd name="connsiteY0" fmla="*/ 0 h 4097337"/>
              <a:gd name="connsiteX1" fmla="*/ 3606800 w 3613150"/>
              <a:gd name="connsiteY1" fmla="*/ 0 h 4097337"/>
              <a:gd name="connsiteX2" fmla="*/ 3613150 w 3613150"/>
              <a:gd name="connsiteY2" fmla="*/ 4097337 h 4097337"/>
              <a:gd name="connsiteX3" fmla="*/ 0 w 3613150"/>
              <a:gd name="connsiteY3" fmla="*/ 2014537 h 4097337"/>
              <a:gd name="connsiteX4" fmla="*/ 1682750 w 3613150"/>
              <a:gd name="connsiteY4" fmla="*/ 0 h 4097337"/>
              <a:gd name="connsiteX0" fmla="*/ 1682750 w 3613150"/>
              <a:gd name="connsiteY0" fmla="*/ 0 h 4573587"/>
              <a:gd name="connsiteX1" fmla="*/ 3606800 w 3613150"/>
              <a:gd name="connsiteY1" fmla="*/ 0 h 4573587"/>
              <a:gd name="connsiteX2" fmla="*/ 3613150 w 3613150"/>
              <a:gd name="connsiteY2" fmla="*/ 4573587 h 4573587"/>
              <a:gd name="connsiteX3" fmla="*/ 0 w 3613150"/>
              <a:gd name="connsiteY3" fmla="*/ 2014537 h 4573587"/>
              <a:gd name="connsiteX4" fmla="*/ 1682750 w 3613150"/>
              <a:gd name="connsiteY4" fmla="*/ 0 h 4573587"/>
              <a:gd name="connsiteX0" fmla="*/ 1682750 w 3610769"/>
              <a:gd name="connsiteY0" fmla="*/ 0 h 4573587"/>
              <a:gd name="connsiteX1" fmla="*/ 3606800 w 3610769"/>
              <a:gd name="connsiteY1" fmla="*/ 0 h 4573587"/>
              <a:gd name="connsiteX2" fmla="*/ 3610769 w 3610769"/>
              <a:gd name="connsiteY2" fmla="*/ 4573587 h 4573587"/>
              <a:gd name="connsiteX3" fmla="*/ 0 w 3610769"/>
              <a:gd name="connsiteY3" fmla="*/ 2014537 h 4573587"/>
              <a:gd name="connsiteX4" fmla="*/ 1682750 w 3610769"/>
              <a:gd name="connsiteY4" fmla="*/ 0 h 4573587"/>
              <a:gd name="connsiteX0" fmla="*/ 1682750 w 3607332"/>
              <a:gd name="connsiteY0" fmla="*/ 0 h 4573587"/>
              <a:gd name="connsiteX1" fmla="*/ 3606800 w 3607332"/>
              <a:gd name="connsiteY1" fmla="*/ 0 h 4573587"/>
              <a:gd name="connsiteX2" fmla="*/ 3606007 w 3607332"/>
              <a:gd name="connsiteY2" fmla="*/ 4573587 h 4573587"/>
              <a:gd name="connsiteX3" fmla="*/ 0 w 3607332"/>
              <a:gd name="connsiteY3" fmla="*/ 2014537 h 4573587"/>
              <a:gd name="connsiteX4" fmla="*/ 1682750 w 3607332"/>
              <a:gd name="connsiteY4" fmla="*/ 0 h 4573587"/>
              <a:gd name="connsiteX0" fmla="*/ 1682750 w 3608388"/>
              <a:gd name="connsiteY0" fmla="*/ 0 h 4573587"/>
              <a:gd name="connsiteX1" fmla="*/ 3606800 w 3608388"/>
              <a:gd name="connsiteY1" fmla="*/ 0 h 4573587"/>
              <a:gd name="connsiteX2" fmla="*/ 3608388 w 3608388"/>
              <a:gd name="connsiteY2" fmla="*/ 4573587 h 4573587"/>
              <a:gd name="connsiteX3" fmla="*/ 0 w 3608388"/>
              <a:gd name="connsiteY3" fmla="*/ 2014537 h 4573587"/>
              <a:gd name="connsiteX4" fmla="*/ 1682750 w 3608388"/>
              <a:gd name="connsiteY4" fmla="*/ 0 h 4573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8388" h="4573587">
                <a:moveTo>
                  <a:pt x="1682750" y="0"/>
                </a:moveTo>
                <a:lnTo>
                  <a:pt x="3606800" y="0"/>
                </a:lnTo>
                <a:cubicBezTo>
                  <a:pt x="3608917" y="1365779"/>
                  <a:pt x="3606271" y="3207808"/>
                  <a:pt x="3608388" y="4573587"/>
                </a:cubicBezTo>
                <a:lnTo>
                  <a:pt x="0" y="2014537"/>
                </a:lnTo>
                <a:lnTo>
                  <a:pt x="1682750" y="0"/>
                </a:lnTo>
                <a:close/>
              </a:path>
            </a:pathLst>
          </a:custGeom>
        </p:spPr>
      </p:pic>
      <p:sp>
        <p:nvSpPr>
          <p:cNvPr id="6" name="TextBox 5">
            <a:extLst>
              <a:ext uri="{FF2B5EF4-FFF2-40B4-BE49-F238E27FC236}">
                <a16:creationId xmlns:a16="http://schemas.microsoft.com/office/drawing/2014/main" id="{614D89EA-31B1-027F-EC6D-7F287CB38AF5}"/>
              </a:ext>
            </a:extLst>
          </p:cNvPr>
          <p:cNvSpPr txBox="1"/>
          <p:nvPr/>
        </p:nvSpPr>
        <p:spPr>
          <a:xfrm>
            <a:off x="1792281" y="19691629"/>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2291888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2D04AF-C1AF-AFB3-129D-293BB877A5FC}"/>
            </a:ext>
          </a:extLst>
        </p:cNvPr>
        <p:cNvGrpSpPr/>
        <p:nvPr/>
      </p:nvGrpSpPr>
      <p:grpSpPr>
        <a:xfrm>
          <a:off x="0" y="0"/>
          <a:ext cx="0" cy="0"/>
          <a:chOff x="0" y="0"/>
          <a:chExt cx="0" cy="0"/>
        </a:xfrm>
      </p:grpSpPr>
      <p:pic>
        <p:nvPicPr>
          <p:cNvPr id="3" name="Picture 2" descr="Shape&#10;&#10;Description automatically generated with low confidence">
            <a:extLst>
              <a:ext uri="{FF2B5EF4-FFF2-40B4-BE49-F238E27FC236}">
                <a16:creationId xmlns:a16="http://schemas.microsoft.com/office/drawing/2014/main" id="{A796CAC2-53A7-794F-0ADC-195E3134165E}"/>
              </a:ext>
            </a:extLst>
          </p:cNvPr>
          <p:cNvPicPr>
            <a:picLocks noChangeAspect="1"/>
          </p:cNvPicPr>
          <p:nvPr/>
        </p:nvPicPr>
        <p:blipFill rotWithShape="1">
          <a:blip r:embed="rId3">
            <a:extLst>
              <a:ext uri="{28A0092B-C50C-407E-A947-70E740481C1C}">
                <a14:useLocalDpi xmlns:a14="http://schemas.microsoft.com/office/drawing/2010/main" val="0"/>
              </a:ext>
            </a:extLst>
          </a:blip>
          <a:srcRect b="66304"/>
          <a:stretch/>
        </p:blipFill>
        <p:spPr>
          <a:xfrm>
            <a:off x="0" y="0"/>
            <a:ext cx="38015863" cy="3353817"/>
          </a:xfrm>
          <a:prstGeom prst="rect">
            <a:avLst/>
          </a:prstGeom>
        </p:spPr>
      </p:pic>
      <p:cxnSp>
        <p:nvCxnSpPr>
          <p:cNvPr id="14" name="Straight Connector 13">
            <a:extLst>
              <a:ext uri="{FF2B5EF4-FFF2-40B4-BE49-F238E27FC236}">
                <a16:creationId xmlns:a16="http://schemas.microsoft.com/office/drawing/2014/main" id="{3677DBD4-A636-7773-8260-44BEC7663EE1}"/>
              </a:ext>
            </a:extLst>
          </p:cNvPr>
          <p:cNvCxnSpPr>
            <a:cxnSpLocks/>
          </p:cNvCxnSpPr>
          <p:nvPr/>
        </p:nvCxnSpPr>
        <p:spPr>
          <a:xfrm>
            <a:off x="1219200" y="3729671"/>
            <a:ext cx="35661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8">
            <a:extLst>
              <a:ext uri="{FF2B5EF4-FFF2-40B4-BE49-F238E27FC236}">
                <a16:creationId xmlns:a16="http://schemas.microsoft.com/office/drawing/2014/main" id="{90F5F8E3-6EC5-42CA-8AA3-103AAD2F72D8}"/>
              </a:ext>
            </a:extLst>
          </p:cNvPr>
          <p:cNvSpPr txBox="1">
            <a:spLocks/>
          </p:cNvSpPr>
          <p:nvPr/>
        </p:nvSpPr>
        <p:spPr>
          <a:xfrm>
            <a:off x="1792041" y="3729671"/>
            <a:ext cx="19592154" cy="2209742"/>
          </a:xfrm>
          <a:prstGeom prst="rect">
            <a:avLst/>
          </a:prstGeom>
        </p:spPr>
        <p:txBody>
          <a:bodyPr lIns="0" tIns="0" rIns="0" bIns="0"/>
          <a:lstStyle>
            <a:lvl1pPr algn="l" rtl="0" eaLnBrk="0" fontAlgn="base" hangingPunct="0">
              <a:spcBef>
                <a:spcPct val="0"/>
              </a:spcBef>
              <a:spcAft>
                <a:spcPct val="0"/>
              </a:spcAft>
              <a:buFont typeface="Arial" panose="020B0604020202020204" pitchFamily="34" charset="0"/>
              <a:defRPr sz="5097" b="0" kern="1200">
                <a:solidFill>
                  <a:sysClr val="windowText" lastClr="000000"/>
                </a:solidFill>
                <a:latin typeface="+mn-lt"/>
                <a:ea typeface="+mn-ea"/>
                <a:cs typeface="+mn-cs"/>
              </a:defRPr>
            </a:lvl1pPr>
            <a:lvl2pPr marL="468553" indent="-468553" algn="l" rtl="0" eaLnBrk="0" fontAlgn="base" hangingPunct="0">
              <a:spcBef>
                <a:spcPct val="0"/>
              </a:spcBef>
              <a:spcAft>
                <a:spcPct val="0"/>
              </a:spcAft>
              <a:buFont typeface="Arial" pitchFamily="34" charset="0"/>
              <a:buChar char="–"/>
              <a:defRPr sz="3605" kern="1200">
                <a:solidFill>
                  <a:sysClr val="windowText" lastClr="000000"/>
                </a:solidFill>
                <a:latin typeface="+mn-lt"/>
                <a:ea typeface="+mn-ea"/>
                <a:cs typeface="+mn-cs"/>
              </a:defRPr>
            </a:lvl2pPr>
            <a:lvl3pPr marL="937107" indent="-502244" algn="l" rtl="0" eaLnBrk="0" fontAlgn="base" hangingPunct="0">
              <a:spcBef>
                <a:spcPct val="0"/>
              </a:spcBef>
              <a:spcAft>
                <a:spcPct val="0"/>
              </a:spcAft>
              <a:buFont typeface="Arial" panose="020B0604020202020204" pitchFamily="34" charset="0"/>
              <a:buChar char="–"/>
              <a:defRPr sz="3605" kern="1200">
                <a:solidFill>
                  <a:sysClr val="windowText" lastClr="000000"/>
                </a:solidFill>
                <a:latin typeface="+mn-lt"/>
                <a:ea typeface="+mn-ea"/>
                <a:cs typeface="+mn-cs"/>
              </a:defRPr>
            </a:lvl3pPr>
            <a:lvl4pPr marL="1405661" indent="-502244" algn="l" rtl="0" eaLnBrk="0" fontAlgn="base" hangingPunct="0">
              <a:spcBef>
                <a:spcPct val="0"/>
              </a:spcBef>
              <a:spcAft>
                <a:spcPct val="0"/>
              </a:spcAft>
              <a:buFont typeface="Arial" panose="020B0604020202020204" pitchFamily="34" charset="0"/>
              <a:buChar char="–"/>
              <a:defRPr sz="3605" kern="1200">
                <a:solidFill>
                  <a:sysClr val="windowText" lastClr="000000"/>
                </a:solidFill>
                <a:latin typeface="+mn-lt"/>
                <a:ea typeface="+mn-ea"/>
                <a:cs typeface="+mn-cs"/>
              </a:defRPr>
            </a:lvl4pPr>
            <a:lvl5pPr marL="1874215" indent="-502244" algn="l" rtl="0" eaLnBrk="0" fontAlgn="base" hangingPunct="0">
              <a:spcBef>
                <a:spcPct val="0"/>
              </a:spcBef>
              <a:spcAft>
                <a:spcPct val="0"/>
              </a:spcAft>
              <a:buFont typeface="Arial" panose="020B0604020202020204" pitchFamily="34" charset="0"/>
              <a:buChar char="–"/>
              <a:defRPr sz="3605" kern="1200">
                <a:solidFill>
                  <a:sysClr val="windowText" lastClr="000000"/>
                </a:solidFill>
                <a:latin typeface="+mn-lt"/>
                <a:ea typeface="+mn-ea"/>
                <a:cs typeface="+mn-cs"/>
              </a:defRPr>
            </a:lvl5pPr>
            <a:lvl6pPr marL="3460088" indent="-504597" algn="l" defTabSz="1830964" rtl="0" eaLnBrk="1" latinLnBrk="0" hangingPunct="1">
              <a:spcBef>
                <a:spcPts val="0"/>
              </a:spcBef>
              <a:buFont typeface="Arial" panose="020B0604020202020204" pitchFamily="34" charset="0"/>
              <a:buChar char="–"/>
              <a:defRPr sz="4205" kern="1200">
                <a:solidFill>
                  <a:schemeClr val="tx1"/>
                </a:solidFill>
                <a:latin typeface="+mn-lt"/>
                <a:ea typeface="+mn-ea"/>
                <a:cs typeface="+mn-cs"/>
              </a:defRPr>
            </a:lvl6pPr>
            <a:lvl7pPr marL="4325110" indent="-504597" algn="l" defTabSz="1830964" rtl="0" eaLnBrk="1" latinLnBrk="0" hangingPunct="1">
              <a:spcBef>
                <a:spcPts val="0"/>
              </a:spcBef>
              <a:buFont typeface="Arial" panose="020B0604020202020204" pitchFamily="34" charset="0"/>
              <a:buChar char="–"/>
              <a:defRPr sz="4205" kern="1200">
                <a:solidFill>
                  <a:schemeClr val="tx1"/>
                </a:solidFill>
                <a:latin typeface="+mn-lt"/>
                <a:ea typeface="+mn-ea"/>
                <a:cs typeface="+mn-cs"/>
              </a:defRPr>
            </a:lvl7pPr>
            <a:lvl8pPr marL="6866113" indent="-457741" algn="l" defTabSz="1830964" rtl="0" eaLnBrk="1" latinLnBrk="0" hangingPunct="1">
              <a:spcBef>
                <a:spcPct val="20000"/>
              </a:spcBef>
              <a:buFont typeface="Arial" panose="020B0604020202020204" pitchFamily="34" charset="0"/>
              <a:buChar char="•"/>
              <a:defRPr sz="4005" kern="1200">
                <a:solidFill>
                  <a:schemeClr val="tx1"/>
                </a:solidFill>
                <a:latin typeface="+mn-lt"/>
                <a:ea typeface="+mn-ea"/>
                <a:cs typeface="+mn-cs"/>
              </a:defRPr>
            </a:lvl8pPr>
            <a:lvl9pPr marL="7781595" indent="-457741" algn="l" defTabSz="1830964" rtl="0" eaLnBrk="1" latinLnBrk="0" hangingPunct="1">
              <a:spcBef>
                <a:spcPct val="20000"/>
              </a:spcBef>
              <a:buFont typeface="Arial" panose="020B0604020202020204" pitchFamily="34" charset="0"/>
              <a:buChar char="•"/>
              <a:defRPr sz="4005" kern="1200">
                <a:solidFill>
                  <a:schemeClr val="tx1"/>
                </a:solidFill>
                <a:latin typeface="+mn-lt"/>
                <a:ea typeface="+mn-ea"/>
                <a:cs typeface="+mn-cs"/>
              </a:defRPr>
            </a:lvl9pPr>
          </a:lstStyle>
          <a:p>
            <a:endParaRPr lang="en-US" sz="8500" b="1"/>
          </a:p>
          <a:p>
            <a:endParaRPr lang="en-US" sz="8500" b="1"/>
          </a:p>
        </p:txBody>
      </p:sp>
      <p:sp>
        <p:nvSpPr>
          <p:cNvPr id="29" name="TextBox 28">
            <a:extLst>
              <a:ext uri="{FF2B5EF4-FFF2-40B4-BE49-F238E27FC236}">
                <a16:creationId xmlns:a16="http://schemas.microsoft.com/office/drawing/2014/main" id="{EE3B8102-81D6-228B-419D-BE9F59C6C21E}"/>
              </a:ext>
            </a:extLst>
          </p:cNvPr>
          <p:cNvSpPr txBox="1"/>
          <p:nvPr/>
        </p:nvSpPr>
        <p:spPr>
          <a:xfrm>
            <a:off x="961230" y="3834000"/>
            <a:ext cx="33858145" cy="4278094"/>
          </a:xfrm>
          <a:prstGeom prst="rect">
            <a:avLst/>
          </a:prstGeom>
          <a:noFill/>
        </p:spPr>
        <p:txBody>
          <a:bodyPr wrap="square" lIns="91440" tIns="45720" rIns="91440" bIns="45720" anchor="t">
            <a:spAutoFit/>
          </a:bodyPr>
          <a:lstStyle/>
          <a:p>
            <a:r>
              <a:rPr lang="en-US" sz="9600" b="1">
                <a:latin typeface="Arial"/>
                <a:cs typeface="Arial"/>
              </a:rPr>
              <a:t>Working as a Data Scientist</a:t>
            </a:r>
            <a:br>
              <a:rPr lang="en-US" sz="9600" b="1">
                <a:latin typeface="Arial"/>
                <a:cs typeface="Arial"/>
              </a:rPr>
            </a:br>
            <a:r>
              <a:rPr lang="en-US" sz="9600" b="1">
                <a:latin typeface="Arial"/>
                <a:cs typeface="Arial"/>
              </a:rPr>
              <a:t>		</a:t>
            </a:r>
            <a:r>
              <a:rPr lang="en-US" sz="8000" i="1">
                <a:latin typeface="Arial"/>
                <a:cs typeface="Arial"/>
              </a:rPr>
              <a:t>The Alan Turing Institute’s ‘Spotlight Series on data science and AI’</a:t>
            </a:r>
          </a:p>
          <a:p>
            <a:pPr marL="285750" indent="-285750">
              <a:buFont typeface="Arial" panose="020B0604020202020204" pitchFamily="34" charset="0"/>
              <a:buChar char="•"/>
            </a:pPr>
            <a:endParaRPr lang="en-US" sz="1400" i="1"/>
          </a:p>
          <a:p>
            <a:endParaRPr lang="en-US" sz="6600" b="1">
              <a:solidFill>
                <a:srgbClr val="000000"/>
              </a:solidFill>
            </a:endParaRPr>
          </a:p>
        </p:txBody>
      </p:sp>
      <p:pic>
        <p:nvPicPr>
          <p:cNvPr id="13" name="Picture 12">
            <a:extLst>
              <a:ext uri="{FF2B5EF4-FFF2-40B4-BE49-F238E27FC236}">
                <a16:creationId xmlns:a16="http://schemas.microsoft.com/office/drawing/2014/main" id="{0F32643E-C2DC-A086-0B6A-6ABA5B9941D7}"/>
              </a:ext>
            </a:extLst>
          </p:cNvPr>
          <p:cNvPicPr>
            <a:picLocks noChangeAspect="1"/>
          </p:cNvPicPr>
          <p:nvPr/>
        </p:nvPicPr>
        <p:blipFill>
          <a:blip r:embed="rId4"/>
          <a:stretch>
            <a:fillRect/>
          </a:stretch>
        </p:blipFill>
        <p:spPr>
          <a:xfrm>
            <a:off x="961230" y="8704593"/>
            <a:ext cx="16001583" cy="9194102"/>
          </a:xfrm>
          <a:prstGeom prst="rect">
            <a:avLst/>
          </a:prstGeom>
        </p:spPr>
      </p:pic>
      <p:pic>
        <p:nvPicPr>
          <p:cNvPr id="30" name="Picture 29">
            <a:extLst>
              <a:ext uri="{FF2B5EF4-FFF2-40B4-BE49-F238E27FC236}">
                <a16:creationId xmlns:a16="http://schemas.microsoft.com/office/drawing/2014/main" id="{D3FE064D-D4E0-C55B-F85B-48C659466BE9}"/>
              </a:ext>
            </a:extLst>
          </p:cNvPr>
          <p:cNvPicPr>
            <a:picLocks noChangeAspect="1"/>
          </p:cNvPicPr>
          <p:nvPr/>
        </p:nvPicPr>
        <p:blipFill>
          <a:blip r:embed="rId5"/>
          <a:stretch>
            <a:fillRect/>
          </a:stretch>
        </p:blipFill>
        <p:spPr>
          <a:xfrm>
            <a:off x="17890302" y="10691812"/>
            <a:ext cx="19766209" cy="9194085"/>
          </a:xfrm>
          <a:prstGeom prst="rect">
            <a:avLst/>
          </a:prstGeom>
        </p:spPr>
      </p:pic>
    </p:spTree>
    <p:extLst>
      <p:ext uri="{BB962C8B-B14F-4D97-AF65-F5344CB8AC3E}">
        <p14:creationId xmlns:p14="http://schemas.microsoft.com/office/powerpoint/2010/main" val="44026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5B368-DA5B-A275-8369-0D81AF9C0159}"/>
              </a:ext>
            </a:extLst>
          </p:cNvPr>
          <p:cNvSpPr>
            <a:spLocks noGrp="1"/>
          </p:cNvSpPr>
          <p:nvPr>
            <p:ph type="title"/>
          </p:nvPr>
        </p:nvSpPr>
        <p:spPr/>
        <p:txBody>
          <a:bodyPr/>
          <a:lstStyle/>
          <a:p>
            <a:r>
              <a:rPr lang="en-GB" sz="13300" b="1">
                <a:cs typeface="Arial"/>
              </a:rPr>
              <a:t>Thank you</a:t>
            </a:r>
            <a:br>
              <a:rPr lang="en-GB" sz="13300">
                <a:cs typeface="Arial"/>
              </a:rPr>
            </a:br>
            <a:r>
              <a:rPr lang="en-GB" sz="11100" i="1">
                <a:cs typeface="Arial"/>
              </a:rPr>
              <a:t>To find out more…</a:t>
            </a:r>
            <a:endParaRPr lang="en-GB" sz="13300" i="1">
              <a:cs typeface="Arial"/>
            </a:endParaRPr>
          </a:p>
        </p:txBody>
      </p:sp>
      <p:sp>
        <p:nvSpPr>
          <p:cNvPr id="6" name="TextBox 5">
            <a:extLst>
              <a:ext uri="{FF2B5EF4-FFF2-40B4-BE49-F238E27FC236}">
                <a16:creationId xmlns:a16="http://schemas.microsoft.com/office/drawing/2014/main" id="{A74A3C10-B5D1-339C-4782-790B457B12E5}"/>
              </a:ext>
            </a:extLst>
          </p:cNvPr>
          <p:cNvSpPr txBox="1"/>
          <p:nvPr/>
        </p:nvSpPr>
        <p:spPr>
          <a:xfrm>
            <a:off x="1561891" y="5785937"/>
            <a:ext cx="34393018" cy="1486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6000" b="1" u="sng" dirty="0">
              <a:latin typeface="Arial"/>
              <a:cs typeface="Arial"/>
            </a:endParaRPr>
          </a:p>
          <a:p>
            <a:pPr marL="857250" indent="-857250">
              <a:buFont typeface="Arial"/>
              <a:buChar char="•"/>
            </a:pPr>
            <a:r>
              <a:rPr lang="en-GB" sz="6000" dirty="0">
                <a:latin typeface="Arial"/>
                <a:cs typeface="Arial"/>
              </a:rPr>
              <a:t>Scan our QR code to sign up to the mailing list. As a member of the mailing list, you will receive a bank of useful links and resources to get you started.</a:t>
            </a:r>
            <a:br>
              <a:rPr lang="en-GB" sz="6000" dirty="0">
                <a:latin typeface="Arial"/>
                <a:cs typeface="Arial"/>
              </a:rPr>
            </a:br>
            <a:endParaRPr lang="en-GB" sz="6000" dirty="0">
              <a:highlight>
                <a:srgbClr val="FFFF00"/>
              </a:highlight>
              <a:latin typeface="Arial"/>
              <a:cs typeface="Arial"/>
            </a:endParaRPr>
          </a:p>
          <a:p>
            <a:endParaRPr lang="en-GB" sz="6000" i="1" dirty="0">
              <a:latin typeface="Arial"/>
              <a:cs typeface="Arial"/>
            </a:endParaRPr>
          </a:p>
          <a:p>
            <a:endParaRPr lang="en-GB" sz="6000" i="1" dirty="0">
              <a:latin typeface="Arial"/>
              <a:cs typeface="Arial"/>
            </a:endParaRPr>
          </a:p>
          <a:p>
            <a:endParaRPr lang="en-GB" sz="6000" i="1" dirty="0">
              <a:latin typeface="Arial"/>
              <a:cs typeface="Arial"/>
            </a:endParaRPr>
          </a:p>
          <a:p>
            <a:endParaRPr lang="en-GB" sz="6000" i="1" dirty="0">
              <a:latin typeface="Arial"/>
              <a:cs typeface="Arial"/>
            </a:endParaRPr>
          </a:p>
          <a:p>
            <a:endParaRPr lang="en-GB" sz="6000" i="1" dirty="0">
              <a:latin typeface="Arial"/>
              <a:cs typeface="Arial"/>
            </a:endParaRPr>
          </a:p>
          <a:p>
            <a:pPr marL="857250" indent="-857250">
              <a:buFont typeface="Arial"/>
              <a:buChar char="•"/>
            </a:pPr>
            <a:r>
              <a:rPr lang="en-GB" sz="6000" dirty="0">
                <a:latin typeface="Arial"/>
                <a:cs typeface="Arial"/>
              </a:rPr>
              <a:t>If you’re unable to scan the QR code, please access the evaluation form and mailing list here: </a:t>
            </a:r>
          </a:p>
          <a:p>
            <a:r>
              <a:rPr lang="en-GB" sz="6000" dirty="0">
                <a:latin typeface="Arial"/>
                <a:cs typeface="Arial"/>
                <a:hlinkClick r:id="rId3"/>
              </a:rPr>
              <a:t>https://bit.ly/2026UniCareers</a:t>
            </a:r>
            <a:endParaRPr lang="en-GB" sz="6000" dirty="0">
              <a:latin typeface="Arial"/>
              <a:cs typeface="Arial"/>
            </a:endParaRPr>
          </a:p>
          <a:p>
            <a:r>
              <a:rPr lang="en-GB" sz="6000" dirty="0">
                <a:latin typeface="Arial"/>
                <a:cs typeface="Arial"/>
              </a:rPr>
              <a:t> </a:t>
            </a:r>
          </a:p>
          <a:p>
            <a:pPr marL="857250" indent="-857250">
              <a:buFont typeface="Arial"/>
              <a:buChar char="•"/>
            </a:pPr>
            <a:endParaRPr lang="en-GB" sz="6000" dirty="0">
              <a:latin typeface="Arial"/>
              <a:cs typeface="Arial"/>
            </a:endParaRPr>
          </a:p>
          <a:p>
            <a:pPr marL="857250" indent="-857250">
              <a:buFont typeface="Arial"/>
              <a:buChar char="•"/>
            </a:pPr>
            <a:r>
              <a:rPr lang="en-GB" sz="6000" dirty="0">
                <a:latin typeface="Arial"/>
                <a:cs typeface="Arial"/>
              </a:rPr>
              <a:t>Email us at </a:t>
            </a:r>
            <a:r>
              <a:rPr lang="en-GB" sz="6000" dirty="0">
                <a:latin typeface="Arial"/>
                <a:cs typeface="Arial"/>
                <a:hlinkClick r:id="rId4"/>
              </a:rPr>
              <a:t>outreach@turing.ac.uk</a:t>
            </a:r>
            <a:r>
              <a:rPr lang="en-GB" sz="6000" dirty="0">
                <a:latin typeface="Arial"/>
                <a:cs typeface="Arial"/>
              </a:rPr>
              <a:t> with questions, comments or to say hi!</a:t>
            </a:r>
          </a:p>
          <a:p>
            <a:br>
              <a:rPr lang="en-GB" sz="6000" i="1" dirty="0">
                <a:latin typeface="Arial"/>
                <a:cs typeface="Arial"/>
              </a:rPr>
            </a:br>
            <a:endParaRPr lang="en-GB" sz="6000" i="1" dirty="0">
              <a:latin typeface="Arial"/>
              <a:cs typeface="Arial"/>
            </a:endParaRPr>
          </a:p>
        </p:txBody>
      </p:sp>
      <p:sp>
        <p:nvSpPr>
          <p:cNvPr id="8" name="TextBox 7">
            <a:extLst>
              <a:ext uri="{FF2B5EF4-FFF2-40B4-BE49-F238E27FC236}">
                <a16:creationId xmlns:a16="http://schemas.microsoft.com/office/drawing/2014/main" id="{1879051A-FD20-CE35-C38B-659C36478D4A}"/>
              </a:ext>
            </a:extLst>
          </p:cNvPr>
          <p:cNvSpPr txBox="1"/>
          <p:nvPr/>
        </p:nvSpPr>
        <p:spPr>
          <a:xfrm>
            <a:off x="1792281" y="19691629"/>
            <a:ext cx="19002374" cy="6043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327">
                <a:solidFill>
                  <a:prstClr val="black"/>
                </a:solidFill>
                <a:latin typeface="Arial"/>
                <a:cs typeface="+mn-cs"/>
              </a:rPr>
              <a:t>Jan 2026</a:t>
            </a:r>
            <a:endParaRPr kumimoji="0" lang="en-GB" sz="3327" b="0" i="0" u="none" strike="noStrike" kern="1200" cap="none" spc="0" normalizeH="0" baseline="0" noProof="0">
              <a:ln>
                <a:noFill/>
              </a:ln>
              <a:solidFill>
                <a:prstClr val="black"/>
              </a:solidFill>
              <a:effectLst/>
              <a:uLnTx/>
              <a:uFillTx/>
              <a:latin typeface="Arial"/>
              <a:ea typeface="+mn-ea"/>
              <a:cs typeface="+mn-cs"/>
            </a:endParaRPr>
          </a:p>
        </p:txBody>
      </p:sp>
      <p:sp>
        <p:nvSpPr>
          <p:cNvPr id="3" name="AutoShape 2">
            <a:extLst>
              <a:ext uri="{FF2B5EF4-FFF2-40B4-BE49-F238E27FC236}">
                <a16:creationId xmlns:a16="http://schemas.microsoft.com/office/drawing/2014/main" id="{8E7AB8CC-6B13-4964-7335-52D941C2FB7A}"/>
              </a:ext>
            </a:extLst>
          </p:cNvPr>
          <p:cNvSpPr>
            <a:spLocks noChangeAspect="1" noChangeArrowheads="1"/>
          </p:cNvSpPr>
          <p:nvPr/>
        </p:nvSpPr>
        <p:spPr bwMode="auto">
          <a:xfrm>
            <a:off x="18854738" y="105394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F04C00B0-DB42-4972-D05F-8EC270DF69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6924" y="8804510"/>
            <a:ext cx="5461646" cy="5277250"/>
          </a:xfrm>
          <a:prstGeom prst="rect">
            <a:avLst/>
          </a:prstGeom>
        </p:spPr>
      </p:pic>
    </p:spTree>
    <p:extLst>
      <p:ext uri="{BB962C8B-B14F-4D97-AF65-F5344CB8AC3E}">
        <p14:creationId xmlns:p14="http://schemas.microsoft.com/office/powerpoint/2010/main" val="2692004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12D762-BF7A-4FEA-FBCE-4B90B1367DDB}"/>
              </a:ext>
            </a:extLst>
          </p:cNvPr>
          <p:cNvSpPr/>
          <p:nvPr>
            <p:custDataLst>
              <p:tags r:id="rId2"/>
            </p:custDataLst>
          </p:nvPr>
        </p:nvSpPr>
        <p:spPr>
          <a:xfrm>
            <a:off x="1386597" y="5433795"/>
            <a:ext cx="7395182" cy="7395182"/>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6F708CE6-0831-0ADF-1701-0DB04CB44B9B}"/>
              </a:ext>
            </a:extLst>
          </p:cNvPr>
          <p:cNvSpPr/>
          <p:nvPr>
            <p:custDataLst>
              <p:tags r:id="rId3"/>
            </p:custDataLst>
          </p:nvPr>
        </p:nvSpPr>
        <p:spPr>
          <a:xfrm>
            <a:off x="9706177" y="3120853"/>
            <a:ext cx="26460887" cy="12021066"/>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Audience Q&amp;A</a:t>
            </a:r>
          </a:p>
        </p:txBody>
      </p:sp>
      <p:sp>
        <p:nvSpPr>
          <p:cNvPr id="4" name="Rectangle 3">
            <a:extLst>
              <a:ext uri="{FF2B5EF4-FFF2-40B4-BE49-F238E27FC236}">
                <a16:creationId xmlns:a16="http://schemas.microsoft.com/office/drawing/2014/main" id="{6F639BFA-6221-4C2F-055E-809E57C8C9DD}"/>
              </a:ext>
            </a:extLst>
          </p:cNvPr>
          <p:cNvSpPr/>
          <p:nvPr/>
        </p:nvSpPr>
        <p:spPr>
          <a:xfrm>
            <a:off x="0" y="18147185"/>
            <a:ext cx="38015863" cy="3236442"/>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310995" tIns="808848" rIns="5777486" bIns="635524" rtlCol="0" anchor="ctr">
            <a:normAutofit/>
          </a:bodyPr>
          <a:lstStyle/>
          <a:p>
            <a:r>
              <a:rPr lang="en-GB" sz="2600">
                <a:solidFill>
                  <a:srgbClr val="FFFFFF"/>
                </a:solidFill>
              </a:rPr>
              <a:t>The </a:t>
            </a:r>
            <a:r>
              <a:rPr lang="en-GB" sz="2600">
                <a:solidFill>
                  <a:srgbClr val="FFFFFF"/>
                </a:solidFill>
                <a:hlinkClick r:id="rId7">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B4823DFC-FABF-83BB-2E60-B8B863C1106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24398" y="19303206"/>
            <a:ext cx="924398" cy="924398"/>
          </a:xfrm>
          <a:prstGeom prst="rect">
            <a:avLst/>
          </a:prstGeom>
        </p:spPr>
      </p:pic>
      <p:sp>
        <p:nvSpPr>
          <p:cNvPr id="7" name="Trapezoid 6">
            <a:extLst>
              <a:ext uri="{FF2B5EF4-FFF2-40B4-BE49-F238E27FC236}">
                <a16:creationId xmlns:a16="http://schemas.microsoft.com/office/drawing/2014/main" id="{20809BFB-06CF-4F42-53F8-86F58D70205D}"/>
              </a:ext>
            </a:extLst>
          </p:cNvPr>
          <p:cNvSpPr/>
          <p:nvPr/>
        </p:nvSpPr>
        <p:spPr>
          <a:xfrm rot="2700000">
            <a:off x="29997267" y="1605585"/>
            <a:ext cx="10399473" cy="2426544"/>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54573BC9-6E6B-10A0-7306-5F9CA431F78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3509421" y="19187657"/>
            <a:ext cx="3466492" cy="1155497"/>
          </a:xfrm>
          <a:prstGeom prst="rect">
            <a:avLst/>
          </a:prstGeom>
        </p:spPr>
      </p:pic>
    </p:spTree>
    <p:custDataLst>
      <p:tags r:id="rId1"/>
    </p:custDataLst>
    <p:extLst>
      <p:ext uri="{BB962C8B-B14F-4D97-AF65-F5344CB8AC3E}">
        <p14:creationId xmlns:p14="http://schemas.microsoft.com/office/powerpoint/2010/main" val="3949069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0.0.7308"/>
  <p:tag name="SLIDO_PRESENTATION_ID" val="0178dd25-501b-4c06-84f3-961b1a1b509a"/>
  <p:tag name="SLIDO_EVENT_UUID" val="571c27c1-dd0f-45fe-9e43-17c1ec8b8a1a"/>
  <p:tag name="SLIDO_EVENT_SECTION_UUID" val="2ca55aff-545f-4903-ae7b-fe39102111f3"/>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Njk5NzIxNjV9"/>
  <p:tag name="SLIDO_TYPE" val="SlidoPoll"/>
  <p:tag name="SLIDO_POLL_UUID" val="4474746b-b853-4b1a-9185-a5f464dd6426"/>
  <p:tag name="SLIDO_TIMELINE" val="W3sicG9sbFF1ZXN0aW9uVXVpZCI6Ijc3ZThlOTFkLWMzOTAtNDViZS04ZjBiLTJjNmI5ODZmZTk2MS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METADATA" val="eyJUaW1lc3RhbXAiOjE3Njk5NzIxNzR9"/>
  <p:tag name="SLIDO_TYPE" val="SlidoPoll"/>
  <p:tag name="SLIDO_POLL_UUID" val="615871a2-afa9-4267-982e-d23c65232be2"/>
  <p:tag name="SLIDO_TIMELINE" val="W3sicG9sbFF1ZXN0aW9uVXVpZCI6IjMxMzRjNTNkLWM1MTMtNGQ4NS1hYTZmLTVhMjQ1ODZhYzUzZiIsInNob3dSZXN1bHRzIjp0cnVlLCJzaG93Q29ycmVjdEFuc3dlcnMiOmZhbHNlLCJ2b3RpbmdMb2NrZWQiOmZhbHNlfV0="/>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METADATA" val="eyJUaW1lc3RhbXAiOjE3Njk5NzIxOTN9"/>
  <p:tag name="SLIDO_TYPE" val="SlidoPoll"/>
  <p:tag name="SLIDO_POLL_UUID" val="32449a14-3091-49c3-9f33-6f1e766b2b84"/>
  <p:tag name="SLIDO_TIMELINE" val="W3sicG9sbFF1ZXN0aW9uVXVpZCI6IjE2NjI3ODVhLWZhNDAtNDUwYi1hYTAxLTQ0OWRhNGY2NTU1YiIsInNob3dSZXN1bHRzIjp0cnVlLCJzaG93Q29ycmVjdEFuc3dlcnMiOmZhbHNlLCJ2b3RpbmdMb2NrZWQiOmZhbHNlfV0="/>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METADATA" val="eyJUaW1lc3RhbXAiOjE3Njk5NzIyNjR9"/>
  <p:tag name="SLIDO_TYPE" val="SlidoPoll"/>
  <p:tag name="SLIDO_POLL_UUID" val="58caac33-468b-48e9-b7e9-b46b479fb689"/>
  <p:tag name="SLIDO_TIMELINE" val="W3sicG9sbFF1ZXN0aW9uVXVpZCI6ImMxMmNiMmNhLTBkMzgtNDIyMy1iMzIyLTEwZmRjYTFmZDBjNSIsInNob3dSZXN1bHRzIjp0cnVlLCJzaG93Q29ycmVjdEFuc3dlcnMiOmZhbHNlLCJ2b3RpbmdMb2NrZWQiOmZhbHNlfV0="/>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METADATA" val="eyJUaW1lc3RhbXAiOjE3Njk5NzIzMDR9"/>
  <p:tag name="SLIDO_TYPE" val="SlidoPoll"/>
  <p:tag name="SLIDO_POLL_UUID" val="ec879051-cc5a-4ea8-ac49-ca1e9bd14bb4"/>
  <p:tag name="SLIDO_TIMELINE" val="W3sicG9sbFF1ZXN0aW9uVXVpZCI6IjAzMDc2NTg2LTcyNDktNDljMy04NTNhLTQ3MDA0MmFmYmJiZSIsInNob3dSZXN1bHRzIjp0cnVlLCJzaG93Q29ycmVjdEFuc3dlcnMiOmZhbHNlLCJ2b3RpbmdMb2NrZWQiOmZhbHNlfV0="/>
</p:tagLst>
</file>

<file path=ppt/tags/tag1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16.xml><?xml version="1.0" encoding="utf-8"?>
<p:tagLst xmlns:a="http://schemas.openxmlformats.org/drawingml/2006/main" xmlns:r="http://schemas.openxmlformats.org/officeDocument/2006/relationships" xmlns:p="http://schemas.openxmlformats.org/presentationml/2006/main">
  <p:tag name="SLIDO_ELEMENT" val="title"/>
</p:tagLst>
</file>

<file path=ppt/tags/tag17.xml><?xml version="1.0" encoding="utf-8"?>
<p:tagLst xmlns:a="http://schemas.openxmlformats.org/drawingml/2006/main" xmlns:r="http://schemas.openxmlformats.org/officeDocument/2006/relationships" xmlns:p="http://schemas.openxmlformats.org/presentationml/2006/main">
  <p:tag name="SLIDO_METADATA" val="eyJUaW1lc3RhbXAiOjE3NzAxMTI4NDV9"/>
  <p:tag name="SLIDO_TYPE" val="SlidoQA"/>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A"/>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Red&amp;White - Alan Turing">
      <a:dk1>
        <a:sysClr val="windowText" lastClr="000000"/>
      </a:dk1>
      <a:lt1>
        <a:sysClr val="window" lastClr="FFFFFF"/>
      </a:lt1>
      <a:dk2>
        <a:srgbClr val="00FF00"/>
      </a:dk2>
      <a:lt2>
        <a:srgbClr val="00FFFF"/>
      </a:lt2>
      <a:accent1>
        <a:srgbClr val="0000FF"/>
      </a:accent1>
      <a:accent2>
        <a:srgbClr val="7D00FF"/>
      </a:accent2>
      <a:accent3>
        <a:srgbClr val="FF00FF"/>
      </a:accent3>
      <a:accent4>
        <a:srgbClr val="FF0000"/>
      </a:accent4>
      <a:accent5>
        <a:srgbClr val="FF7D00"/>
      </a:accent5>
      <a:accent6>
        <a:srgbClr val="FFFF00"/>
      </a:accent6>
      <a:hlink>
        <a:srgbClr val="FF7D00"/>
      </a:hlink>
      <a:folHlink>
        <a:srgbClr val="0000F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extLst>
    <a:ext uri="{05A4C25C-085E-4340-85A3-A5531E510DB2}">
      <thm15:themeFamily xmlns:thm15="http://schemas.microsoft.com/office/thememl/2012/main" name="The Alan Turing Master PPT with intro slides_widescreen_v3" id="{5DFD5C9A-0A2C-4E03-B4D8-1CB4749D4479}" vid="{9C62355F-E4EE-46CD-BECD-0FFB3DDDDA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043c6ba-f0be-452b-b480-06ec1c702591">
      <UserInfo>
        <DisplayName>Amy Gallimore</DisplayName>
        <AccountId>61</AccountId>
        <AccountType/>
      </UserInfo>
      <UserInfo>
        <DisplayName>Ayesha Magill</DisplayName>
        <AccountId>84</AccountId>
        <AccountType/>
      </UserInfo>
      <UserInfo>
        <DisplayName>Juliette Sexton</DisplayName>
        <AccountId>1083</AccountId>
        <AccountType/>
      </UserInfo>
    </SharedWithUsers>
    <TaxCatchAll xmlns="b043c6ba-f0be-452b-b480-06ec1c702591" xsi:nil="true"/>
    <lcf76f155ced4ddcb4097134ff3c332f xmlns="00bd35a7-20f7-448b-9156-fac37ad1b20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988BE5D99B344B944426AE327D6E1A" ma:contentTypeVersion="14" ma:contentTypeDescription="Create a new document." ma:contentTypeScope="" ma:versionID="32fb7447dc644ba466b64e125ff18751">
  <xsd:schema xmlns:xsd="http://www.w3.org/2001/XMLSchema" xmlns:xs="http://www.w3.org/2001/XMLSchema" xmlns:p="http://schemas.microsoft.com/office/2006/metadata/properties" xmlns:ns2="00bd35a7-20f7-448b-9156-fac37ad1b202" xmlns:ns3="b043c6ba-f0be-452b-b480-06ec1c702591" targetNamespace="http://schemas.microsoft.com/office/2006/metadata/properties" ma:root="true" ma:fieldsID="4453ca6b256d2a11e279a280df724849" ns2:_="" ns3:_="">
    <xsd:import namespace="00bd35a7-20f7-448b-9156-fac37ad1b202"/>
    <xsd:import namespace="b043c6ba-f0be-452b-b480-06ec1c70259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bd35a7-20f7-448b-9156-fac37ad1b2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5eb1a5-37e6-488e-b8f0-ddc5ba4663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43c6ba-f0be-452b-b480-06ec1c7025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e1eb64ad-24ea-4f85-b88c-2681e8418afb}" ma:internalName="TaxCatchAll" ma:showField="CatchAllData" ma:web="b043c6ba-f0be-452b-b480-06ec1c7025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D3EDB7-0ABD-4BC6-9C2A-32E4FC10473A}">
  <ds:schemaRefs>
    <ds:schemaRef ds:uri="00bd35a7-20f7-448b-9156-fac37ad1b202"/>
    <ds:schemaRef ds:uri="b043c6ba-f0be-452b-b480-06ec1c70259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64CD6DA-8304-4A4D-8306-73EF63B662CF}">
  <ds:schemaRefs>
    <ds:schemaRef ds:uri="http://schemas.microsoft.com/sharepoint/v3/contenttype/forms"/>
  </ds:schemaRefs>
</ds:datastoreItem>
</file>

<file path=customXml/itemProps3.xml><?xml version="1.0" encoding="utf-8"?>
<ds:datastoreItem xmlns:ds="http://schemas.openxmlformats.org/officeDocument/2006/customXml" ds:itemID="{6DAF8350-9E58-481D-9888-E1C6D5195818}">
  <ds:schemaRefs>
    <ds:schemaRef ds:uri="00bd35a7-20f7-448b-9156-fac37ad1b202"/>
    <ds:schemaRef ds:uri="b043c6ba-f0be-452b-b480-06ec1c7025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114</TotalTime>
  <Words>10832</Words>
  <Application>Microsoft Office PowerPoint</Application>
  <PresentationFormat>Custom</PresentationFormat>
  <Paragraphs>822</Paragraphs>
  <Slides>34</Slides>
  <Notes>28</Notes>
  <HiddenSlides>2</HiddenSlides>
  <MMClips>1</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34</vt:i4>
      </vt:variant>
    </vt:vector>
  </HeadingPairs>
  <TitlesOfParts>
    <vt:vector size="50" baseType="lpstr">
      <vt:lpstr>Aptos</vt:lpstr>
      <vt:lpstr>Aptos Display</vt:lpstr>
      <vt:lpstr>Arial</vt:lpstr>
      <vt:lpstr>Arial,Sans-Serif</vt:lpstr>
      <vt:lpstr>Calibri</vt:lpstr>
      <vt:lpstr>Calibri Light</vt:lpstr>
      <vt:lpstr>Calibri,Sans-Serif</vt:lpstr>
      <vt:lpstr>Courier New</vt:lpstr>
      <vt:lpstr>GDS Transport</vt:lpstr>
      <vt:lpstr>Merriweather</vt:lpstr>
      <vt:lpstr>open sans</vt:lpstr>
      <vt:lpstr>Segoe UI</vt:lpstr>
      <vt:lpstr>System Font Regular</vt:lpstr>
      <vt:lpstr>Times New Roman</vt:lpstr>
      <vt:lpstr>1_Office Theme</vt:lpstr>
      <vt:lpstr>2_Office Theme</vt:lpstr>
      <vt:lpstr>Data Science and AI Careers in Government and Academia    Timipado Imomotebegha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Researcher Spotlight</vt:lpstr>
      <vt:lpstr>PowerPoint Presentation</vt:lpstr>
      <vt:lpstr>Thank you To find out more…</vt:lpstr>
      <vt:lpstr>PowerPoint Presentation</vt:lpstr>
    </vt:vector>
  </TitlesOfParts>
  <Company>Yellow Balloon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Alan Turing Institute</dc:title>
  <dc:creator>Sophie Mclvor</dc:creator>
  <cp:lastModifiedBy>Rachel Martin</cp:lastModifiedBy>
  <cp:revision>9</cp:revision>
  <cp:lastPrinted>2017-11-14T13:34:51Z</cp:lastPrinted>
  <dcterms:created xsi:type="dcterms:W3CDTF">2017-03-06T16:45:41Z</dcterms:created>
  <dcterms:modified xsi:type="dcterms:W3CDTF">2026-03-03T16:38:03Z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Keywords">
    <vt:lpwstr/>
  </property>
  <property fmtid="{D5CDD505-2E9C-101B-9397-08002B2CF9AE}" pid="3" name="ContentTypeId">
    <vt:lpwstr>0x0101005C988BE5D99B344B944426AE327D6E1A</vt:lpwstr>
  </property>
  <property fmtid="{D5CDD505-2E9C-101B-9397-08002B2CF9AE}" pid="4" name="MediaServiceImageTags">
    <vt:lpwstr/>
  </property>
</Properties>
</file>